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3.svg" ContentType="image/svg+xml"/>
  <Override PartName="/ppt/media/image1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65" r:id="rId3"/>
    <p:sldId id="399" r:id="rId5"/>
    <p:sldId id="404" r:id="rId6"/>
    <p:sldId id="405" r:id="rId7"/>
    <p:sldId id="400" r:id="rId8"/>
    <p:sldId id="402" r:id="rId9"/>
    <p:sldId id="406" r:id="rId10"/>
    <p:sldId id="398"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无标题节" id="{EBF5417D-0DEC-4D95-8F9D-CE2E11923804}">
          <p14:sldIdLst>
            <p14:sldId id="265"/>
          </p14:sldIdLst>
        </p14:section>
        <p14:section name="无标题节" id="{045E5E36-3F43-49AE-8D03-D82B685C4BA9}">
          <p14:sldIdLst>
            <p14:sldId id="399"/>
            <p14:sldId id="404"/>
            <p14:sldId id="405"/>
            <p14:sldId id="400"/>
            <p14:sldId id="402"/>
            <p14:sldId id="406"/>
            <p14:sldId id="398"/>
          </p14:sldIdLst>
        </p14:section>
      </p14:sectionLst>
    </p:ext>
    <p:ext uri="{EFAFB233-063F-42B5-8137-9DF3F51BA10A}">
      <p15:sldGuideLst xmlns:p15="http://schemas.microsoft.com/office/powerpoint/2012/main">
        <p15:guide id="1" orient="horz" pos="2211" userDrawn="1">
          <p15:clr>
            <a:srgbClr val="A4A3A4"/>
          </p15:clr>
        </p15:guide>
        <p15:guide id="2" pos="386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63C90"/>
    <a:srgbClr val="023489"/>
    <a:srgbClr val="FFFF99"/>
    <a:srgbClr val="024BDC"/>
    <a:srgbClr val="FFFFCC"/>
    <a:srgbClr val="02065E"/>
    <a:srgbClr val="023AAA"/>
    <a:srgbClr val="030A93"/>
    <a:srgbClr val="01308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383" autoAdjust="0"/>
    <p:restoredTop sz="94656"/>
  </p:normalViewPr>
  <p:slideViewPr>
    <p:cSldViewPr snapToGrid="0" showGuides="1">
      <p:cViewPr varScale="1">
        <p:scale>
          <a:sx n="71" d="100"/>
          <a:sy n="71" d="100"/>
        </p:scale>
        <p:origin x="1046" y="58"/>
      </p:cViewPr>
      <p:guideLst>
        <p:guide orient="horz" pos="2211"/>
        <p:guide pos="386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AE0704E1-AF1E-433A-9F02-83ADB0DE4BC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5482276-43B1-418E-8EAC-DE3E1FA864BF}" type="slidenum">
              <a:rPr lang="zh-CN" altLang="en-US" smtClean="0"/>
            </a:fld>
            <a:endParaRPr lang="zh-CN" altLang="en-US"/>
          </a:p>
        </p:txBody>
      </p:sp>
      <p:pic>
        <p:nvPicPr>
          <p:cNvPr id="7" name="图片 6"/>
          <p:cNvPicPr>
            <a:picLocks noChangeAspect="1"/>
          </p:cNvPicPr>
          <p:nvPr userDrawn="1"/>
        </p:nvPicPr>
        <p:blipFill>
          <a:blip r:embed="rId2"/>
          <a:stretch>
            <a:fillRect/>
          </a:stretch>
        </p:blipFill>
        <p:spPr>
          <a:xfrm>
            <a:off x="0" y="0"/>
            <a:ext cx="12192000" cy="68580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AE0704E1-AF1E-433A-9F02-83ADB0DE4BC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5482276-43B1-418E-8EAC-DE3E1FA864BF}"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AE0704E1-AF1E-433A-9F02-83ADB0DE4BC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5482276-43B1-418E-8EAC-DE3E1FA864BF}"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AE0704E1-AF1E-433A-9F02-83ADB0DE4BC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5482276-43B1-418E-8EAC-DE3E1FA864BF}"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AE0704E1-AF1E-433A-9F02-83ADB0DE4BCB}"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5482276-43B1-418E-8EAC-DE3E1FA864BF}"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AE0704E1-AF1E-433A-9F02-83ADB0DE4BCB}"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5482276-43B1-418E-8EAC-DE3E1FA864BF}"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E0704E1-AF1E-433A-9F02-83ADB0DE4BCB}"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5482276-43B1-418E-8EAC-DE3E1FA864BF}"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AE0704E1-AF1E-433A-9F02-83ADB0DE4BC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5482276-43B1-418E-8EAC-DE3E1FA864B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AE0704E1-AF1E-433A-9F02-83ADB0DE4BCB}"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5482276-43B1-418E-8EAC-DE3E1FA864BF}"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AE0704E1-AF1E-433A-9F02-83ADB0DE4BC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5482276-43B1-418E-8EAC-DE3E1FA864BF}"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AE0704E1-AF1E-433A-9F02-83ADB0DE4BCB}"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5482276-43B1-418E-8EAC-DE3E1FA864BF}"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0704E1-AF1E-433A-9F02-83ADB0DE4BCB}"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5482276-43B1-418E-8EAC-DE3E1FA864BF}"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tags" Target="../tags/tag2.xml"/><Relationship Id="rId4" Type="http://schemas.openxmlformats.org/officeDocument/2006/relationships/tags" Target="../tags/tag1.xml"/><Relationship Id="rId30" Type="http://schemas.openxmlformats.org/officeDocument/2006/relationships/notesSlide" Target="../notesSlides/notesSlide1.xml"/><Relationship Id="rId3" Type="http://schemas.openxmlformats.org/officeDocument/2006/relationships/image" Target="../media/image4.png"/><Relationship Id="rId29" Type="http://schemas.openxmlformats.org/officeDocument/2006/relationships/slideLayout" Target="../slideLayouts/slideLayout1.xml"/><Relationship Id="rId28" Type="http://schemas.microsoft.com/office/2007/relationships/hdphoto" Target="../media/image10.wdp"/><Relationship Id="rId27" Type="http://schemas.openxmlformats.org/officeDocument/2006/relationships/image" Target="../media/image9.png"/><Relationship Id="rId26" Type="http://schemas.openxmlformats.org/officeDocument/2006/relationships/image" Target="../media/image8.png"/><Relationship Id="rId25" Type="http://schemas.microsoft.com/office/2007/relationships/hdphoto" Target="../media/image7.wdp"/><Relationship Id="rId24" Type="http://schemas.openxmlformats.org/officeDocument/2006/relationships/image" Target="../media/image6.png"/><Relationship Id="rId23" Type="http://schemas.openxmlformats.org/officeDocument/2006/relationships/tags" Target="../tags/tag19.xml"/><Relationship Id="rId22" Type="http://schemas.openxmlformats.org/officeDocument/2006/relationships/tags" Target="../tags/tag18.xml"/><Relationship Id="rId21" Type="http://schemas.openxmlformats.org/officeDocument/2006/relationships/tags" Target="../tags/tag17.xml"/><Relationship Id="rId20" Type="http://schemas.openxmlformats.org/officeDocument/2006/relationships/tags" Target="../tags/tag16.xml"/><Relationship Id="rId2" Type="http://schemas.openxmlformats.org/officeDocument/2006/relationships/image" Target="../media/image3.png"/><Relationship Id="rId19" Type="http://schemas.openxmlformats.org/officeDocument/2006/relationships/tags" Target="../tags/tag15.xml"/><Relationship Id="rId18" Type="http://schemas.openxmlformats.org/officeDocument/2006/relationships/tags" Target="../tags/tag14.xml"/><Relationship Id="rId17" Type="http://schemas.openxmlformats.org/officeDocument/2006/relationships/tags" Target="../tags/tag13.xml"/><Relationship Id="rId16" Type="http://schemas.openxmlformats.org/officeDocument/2006/relationships/tags" Target="../tags/tag12.xml"/><Relationship Id="rId15" Type="http://schemas.openxmlformats.org/officeDocument/2006/relationships/tags" Target="../tags/tag11.xml"/><Relationship Id="rId14" Type="http://schemas.openxmlformats.org/officeDocument/2006/relationships/tags" Target="../tags/tag10.xml"/><Relationship Id="rId13" Type="http://schemas.openxmlformats.org/officeDocument/2006/relationships/tags" Target="../tags/tag9.xml"/><Relationship Id="rId12" Type="http://schemas.openxmlformats.org/officeDocument/2006/relationships/tags" Target="../tags/tag8.xml"/><Relationship Id="rId11" Type="http://schemas.openxmlformats.org/officeDocument/2006/relationships/tags" Target="../tags/tag7.xml"/><Relationship Id="rId10" Type="http://schemas.openxmlformats.org/officeDocument/2006/relationships/tags" Target="../tags/tag6.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9" Type="http://schemas.openxmlformats.org/officeDocument/2006/relationships/tags" Target="../tags/tag27.xml"/><Relationship Id="rId8" Type="http://schemas.openxmlformats.org/officeDocument/2006/relationships/tags" Target="../tags/tag26.xml"/><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6" Type="http://schemas.openxmlformats.org/officeDocument/2006/relationships/slideLayout" Target="../slideLayouts/slideLayout1.xml"/><Relationship Id="rId25" Type="http://schemas.openxmlformats.org/officeDocument/2006/relationships/tags" Target="../tags/tag42.xml"/><Relationship Id="rId24" Type="http://schemas.openxmlformats.org/officeDocument/2006/relationships/tags" Target="../tags/tag41.xml"/><Relationship Id="rId23" Type="http://schemas.openxmlformats.org/officeDocument/2006/relationships/tags" Target="../tags/tag40.xml"/><Relationship Id="rId22" Type="http://schemas.openxmlformats.org/officeDocument/2006/relationships/tags" Target="../tags/tag39.xml"/><Relationship Id="rId21" Type="http://schemas.openxmlformats.org/officeDocument/2006/relationships/tags" Target="../tags/tag38.xml"/><Relationship Id="rId20" Type="http://schemas.openxmlformats.org/officeDocument/2006/relationships/tags" Target="../tags/tag37.xml"/><Relationship Id="rId2" Type="http://schemas.openxmlformats.org/officeDocument/2006/relationships/tags" Target="../tags/tag20.xml"/><Relationship Id="rId19" Type="http://schemas.openxmlformats.org/officeDocument/2006/relationships/tags" Target="../tags/tag36.xml"/><Relationship Id="rId18" Type="http://schemas.openxmlformats.org/officeDocument/2006/relationships/tags" Target="../tags/tag35.xml"/><Relationship Id="rId17" Type="http://schemas.openxmlformats.org/officeDocument/2006/relationships/image" Target="../media/image11.png"/><Relationship Id="rId16" Type="http://schemas.openxmlformats.org/officeDocument/2006/relationships/tags" Target="../tags/tag34.xml"/><Relationship Id="rId15" Type="http://schemas.openxmlformats.org/officeDocument/2006/relationships/tags" Target="../tags/tag33.xml"/><Relationship Id="rId14" Type="http://schemas.openxmlformats.org/officeDocument/2006/relationships/tags" Target="../tags/tag32.xml"/><Relationship Id="rId13" Type="http://schemas.openxmlformats.org/officeDocument/2006/relationships/tags" Target="../tags/tag31.xml"/><Relationship Id="rId12" Type="http://schemas.openxmlformats.org/officeDocument/2006/relationships/tags" Target="../tags/tag30.xml"/><Relationship Id="rId11" Type="http://schemas.openxmlformats.org/officeDocument/2006/relationships/tags" Target="../tags/tag29.xml"/><Relationship Id="rId10" Type="http://schemas.openxmlformats.org/officeDocument/2006/relationships/tags" Target="../tags/tag28.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9" Type="http://schemas.openxmlformats.org/officeDocument/2006/relationships/image" Target="../media/image17.png"/><Relationship Id="rId8" Type="http://schemas.openxmlformats.org/officeDocument/2006/relationships/tags" Target="../tags/tag49.xml"/><Relationship Id="rId7" Type="http://schemas.openxmlformats.org/officeDocument/2006/relationships/tags" Target="../tags/tag48.xml"/><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0" Type="http://schemas.openxmlformats.org/officeDocument/2006/relationships/slideLayout" Target="../slideLayouts/slideLayout1.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1.xml"/><Relationship Id="rId7" Type="http://schemas.openxmlformats.org/officeDocument/2006/relationships/image" Target="../media/image22.png"/><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tags" Target="../tags/tag50.xml"/><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51.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9" Type="http://schemas.openxmlformats.org/officeDocument/2006/relationships/image" Target="../media/image27.png"/><Relationship Id="rId8" Type="http://schemas.openxmlformats.org/officeDocument/2006/relationships/image" Target="../media/image26.png"/><Relationship Id="rId7" Type="http://schemas.openxmlformats.org/officeDocument/2006/relationships/image" Target="../media/image25.png"/><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8.png"/><Relationship Id="rId3" Type="http://schemas.microsoft.com/office/2007/relationships/hdphoto" Target="../media/image7.wdp"/><Relationship Id="rId2" Type="http://schemas.openxmlformats.org/officeDocument/2006/relationships/image" Target="../media/image6.png"/><Relationship Id="rId10" Type="http://schemas.openxmlformats.org/officeDocument/2006/relationships/slideLayout" Target="../slideLayouts/slideLayout1.xml"/><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26" name="图片 25"/>
          <p:cNvPicPr>
            <a:picLocks noChangeAspect="1"/>
          </p:cNvPicPr>
          <p:nvPr/>
        </p:nvPicPr>
        <p:blipFill>
          <a:blip r:embed="rId2"/>
          <a:srcRect t="1288"/>
          <a:stretch>
            <a:fillRect/>
          </a:stretch>
        </p:blipFill>
        <p:spPr>
          <a:xfrm flipH="1">
            <a:off x="0" y="0"/>
            <a:ext cx="12192000" cy="6858000"/>
          </a:xfrm>
          <a:custGeom>
            <a:avLst/>
            <a:gdLst>
              <a:gd name="connsiteX0" fmla="*/ 8756888 w 8756888"/>
              <a:gd name="connsiteY0" fmla="*/ 0 h 6857999"/>
              <a:gd name="connsiteX1" fmla="*/ 0 w 8756888"/>
              <a:gd name="connsiteY1" fmla="*/ 0 h 6857999"/>
              <a:gd name="connsiteX2" fmla="*/ 0 w 8756888"/>
              <a:gd name="connsiteY2" fmla="*/ 6857999 h 6857999"/>
              <a:gd name="connsiteX3" fmla="*/ 8756888 w 8756888"/>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8756888" h="6857999">
                <a:moveTo>
                  <a:pt x="8756888" y="0"/>
                </a:moveTo>
                <a:lnTo>
                  <a:pt x="0" y="0"/>
                </a:lnTo>
                <a:lnTo>
                  <a:pt x="0" y="6857999"/>
                </a:lnTo>
                <a:lnTo>
                  <a:pt x="8756888" y="6857999"/>
                </a:lnTo>
                <a:close/>
              </a:path>
            </a:pathLst>
          </a:custGeom>
        </p:spPr>
      </p:pic>
      <p:pic>
        <p:nvPicPr>
          <p:cNvPr id="23" name="Picture 13"/>
          <p:cNvPicPr>
            <a:picLocks noChangeAspect="1"/>
          </p:cNvPicPr>
          <p:nvPr/>
        </p:nvPicPr>
        <p:blipFill>
          <a:blip r:embed="rId3"/>
          <a:stretch>
            <a:fillRect/>
          </a:stretch>
        </p:blipFill>
        <p:spPr>
          <a:xfrm>
            <a:off x="5779144" y="0"/>
            <a:ext cx="6413065" cy="6858000"/>
          </a:xfrm>
          <a:prstGeom prst="rect">
            <a:avLst/>
          </a:prstGeom>
        </p:spPr>
      </p:pic>
      <p:grpSp>
        <p:nvGrpSpPr>
          <p:cNvPr id="37" name="组合 36"/>
          <p:cNvGrpSpPr/>
          <p:nvPr>
            <p:custDataLst>
              <p:tags r:id="rId4"/>
            </p:custDataLst>
          </p:nvPr>
        </p:nvGrpSpPr>
        <p:grpSpPr>
          <a:xfrm>
            <a:off x="-641928" y="4483322"/>
            <a:ext cx="5971500" cy="1543160"/>
            <a:chOff x="-579564" y="4359048"/>
            <a:chExt cx="5971500" cy="1543160"/>
          </a:xfrm>
        </p:grpSpPr>
        <p:sp>
          <p:nvSpPr>
            <p:cNvPr id="38" name="矩形 37"/>
            <p:cNvSpPr/>
            <p:nvPr>
              <p:custDataLst>
                <p:tags r:id="rId5"/>
              </p:custDataLst>
            </p:nvPr>
          </p:nvSpPr>
          <p:spPr>
            <a:xfrm>
              <a:off x="594598" y="4401887"/>
              <a:ext cx="4120051" cy="359449"/>
            </a:xfrm>
            <a:prstGeom prst="rect">
              <a:avLst/>
            </a:prstGeom>
            <a:gradFill>
              <a:gsLst>
                <a:gs pos="91743">
                  <a:srgbClr val="77B7FD">
                    <a:alpha val="0"/>
                  </a:srgbClr>
                </a:gs>
                <a:gs pos="0">
                  <a:srgbClr val="77B7FD">
                    <a:alpha val="0"/>
                  </a:srgbClr>
                </a:gs>
                <a:gs pos="25000">
                  <a:srgbClr val="71D0FB">
                    <a:alpha val="40000"/>
                  </a:srgbClr>
                </a:gs>
                <a:gs pos="52000">
                  <a:srgbClr val="71D0FB"/>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39" name="矩形 38"/>
            <p:cNvSpPr/>
            <p:nvPr>
              <p:custDataLst>
                <p:tags r:id="rId6"/>
              </p:custDataLst>
            </p:nvPr>
          </p:nvSpPr>
          <p:spPr>
            <a:xfrm>
              <a:off x="594598" y="4946562"/>
              <a:ext cx="4120051" cy="359449"/>
            </a:xfrm>
            <a:prstGeom prst="rect">
              <a:avLst/>
            </a:prstGeom>
            <a:gradFill>
              <a:gsLst>
                <a:gs pos="91743">
                  <a:srgbClr val="77B7FD">
                    <a:alpha val="0"/>
                  </a:srgbClr>
                </a:gs>
                <a:gs pos="0">
                  <a:srgbClr val="77B7FD">
                    <a:alpha val="0"/>
                  </a:srgbClr>
                </a:gs>
                <a:gs pos="25000">
                  <a:srgbClr val="71D0FB">
                    <a:alpha val="40000"/>
                  </a:srgbClr>
                </a:gs>
                <a:gs pos="52000">
                  <a:srgbClr val="71D0FB"/>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0" name="矩形 39"/>
            <p:cNvSpPr/>
            <p:nvPr>
              <p:custDataLst>
                <p:tags r:id="rId7"/>
              </p:custDataLst>
            </p:nvPr>
          </p:nvSpPr>
          <p:spPr>
            <a:xfrm>
              <a:off x="594598" y="5491237"/>
              <a:ext cx="4120051" cy="359449"/>
            </a:xfrm>
            <a:prstGeom prst="rect">
              <a:avLst/>
            </a:prstGeom>
            <a:gradFill>
              <a:gsLst>
                <a:gs pos="91743">
                  <a:srgbClr val="77B7FD">
                    <a:alpha val="0"/>
                  </a:srgbClr>
                </a:gs>
                <a:gs pos="0">
                  <a:srgbClr val="77B7FD">
                    <a:alpha val="0"/>
                  </a:srgbClr>
                </a:gs>
                <a:gs pos="25000">
                  <a:srgbClr val="71D0FB">
                    <a:alpha val="40000"/>
                  </a:srgbClr>
                </a:gs>
                <a:gs pos="52000">
                  <a:srgbClr val="71D0FB"/>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pic>
          <p:nvPicPr>
            <p:cNvPr id="41" name="图片 40"/>
            <p:cNvPicPr>
              <a:picLocks noChangeAspect="1"/>
            </p:cNvPicPr>
            <p:nvPr>
              <p:custDataLst>
                <p:tags r:id="rId8"/>
              </p:custDataLst>
            </p:nvPr>
          </p:nvPicPr>
          <p:blipFill rotWithShape="1">
            <a:blip r:embed="rId9"/>
            <a:srcRect l="41039" r="40762"/>
            <a:stretch>
              <a:fillRect/>
            </a:stretch>
          </p:blipFill>
          <p:spPr>
            <a:xfrm rot="16200000">
              <a:off x="2359376" y="1420108"/>
              <a:ext cx="93621" cy="5971500"/>
            </a:xfrm>
            <a:prstGeom prst="rect">
              <a:avLst/>
            </a:prstGeom>
          </p:spPr>
        </p:pic>
        <p:pic>
          <p:nvPicPr>
            <p:cNvPr id="42" name="图片 41"/>
            <p:cNvPicPr>
              <a:picLocks noChangeAspect="1"/>
            </p:cNvPicPr>
            <p:nvPr>
              <p:custDataLst>
                <p:tags r:id="rId10"/>
              </p:custDataLst>
            </p:nvPr>
          </p:nvPicPr>
          <p:blipFill rotWithShape="1">
            <a:blip r:embed="rId9"/>
            <a:srcRect l="41039" r="40762"/>
            <a:stretch>
              <a:fillRect/>
            </a:stretch>
          </p:blipFill>
          <p:spPr>
            <a:xfrm rot="16200000">
              <a:off x="2359376" y="1793900"/>
              <a:ext cx="93621" cy="5971500"/>
            </a:xfrm>
            <a:prstGeom prst="rect">
              <a:avLst/>
            </a:prstGeom>
          </p:spPr>
        </p:pic>
        <p:pic>
          <p:nvPicPr>
            <p:cNvPr id="43" name="图片 42"/>
            <p:cNvPicPr>
              <a:picLocks noChangeAspect="1"/>
            </p:cNvPicPr>
            <p:nvPr>
              <p:custDataLst>
                <p:tags r:id="rId11"/>
              </p:custDataLst>
            </p:nvPr>
          </p:nvPicPr>
          <p:blipFill rotWithShape="1">
            <a:blip r:embed="rId9"/>
            <a:srcRect l="41039" r="40762"/>
            <a:stretch>
              <a:fillRect/>
            </a:stretch>
          </p:blipFill>
          <p:spPr>
            <a:xfrm rot="16200000">
              <a:off x="2359376" y="1977091"/>
              <a:ext cx="93621" cy="5971500"/>
            </a:xfrm>
            <a:prstGeom prst="rect">
              <a:avLst/>
            </a:prstGeom>
          </p:spPr>
        </p:pic>
        <p:pic>
          <p:nvPicPr>
            <p:cNvPr id="44" name="图片 43"/>
            <p:cNvPicPr>
              <a:picLocks noChangeAspect="1"/>
            </p:cNvPicPr>
            <p:nvPr>
              <p:custDataLst>
                <p:tags r:id="rId12"/>
              </p:custDataLst>
            </p:nvPr>
          </p:nvPicPr>
          <p:blipFill rotWithShape="1">
            <a:blip r:embed="rId9"/>
            <a:srcRect l="41039" r="40762"/>
            <a:stretch>
              <a:fillRect/>
            </a:stretch>
          </p:blipFill>
          <p:spPr>
            <a:xfrm rot="16200000">
              <a:off x="2359376" y="2321591"/>
              <a:ext cx="93621" cy="5971500"/>
            </a:xfrm>
            <a:prstGeom prst="rect">
              <a:avLst/>
            </a:prstGeom>
          </p:spPr>
        </p:pic>
        <p:pic>
          <p:nvPicPr>
            <p:cNvPr id="45" name="图片 44"/>
            <p:cNvPicPr>
              <a:picLocks noChangeAspect="1"/>
            </p:cNvPicPr>
            <p:nvPr>
              <p:custDataLst>
                <p:tags r:id="rId13"/>
              </p:custDataLst>
            </p:nvPr>
          </p:nvPicPr>
          <p:blipFill rotWithShape="1">
            <a:blip r:embed="rId9"/>
            <a:srcRect l="41039" r="40762"/>
            <a:stretch>
              <a:fillRect/>
            </a:stretch>
          </p:blipFill>
          <p:spPr>
            <a:xfrm rot="16200000">
              <a:off x="2359376" y="2511481"/>
              <a:ext cx="93621" cy="5971500"/>
            </a:xfrm>
            <a:prstGeom prst="rect">
              <a:avLst/>
            </a:prstGeom>
          </p:spPr>
        </p:pic>
        <p:pic>
          <p:nvPicPr>
            <p:cNvPr id="46" name="图片 45"/>
            <p:cNvPicPr>
              <a:picLocks noChangeAspect="1"/>
            </p:cNvPicPr>
            <p:nvPr>
              <p:custDataLst>
                <p:tags r:id="rId14"/>
              </p:custDataLst>
            </p:nvPr>
          </p:nvPicPr>
          <p:blipFill rotWithShape="1">
            <a:blip r:embed="rId9"/>
            <a:srcRect l="41039" r="40762"/>
            <a:stretch>
              <a:fillRect/>
            </a:stretch>
          </p:blipFill>
          <p:spPr>
            <a:xfrm rot="16200000">
              <a:off x="2359376" y="2869647"/>
              <a:ext cx="93621" cy="5971500"/>
            </a:xfrm>
            <a:prstGeom prst="rect">
              <a:avLst/>
            </a:prstGeom>
          </p:spPr>
        </p:pic>
        <p:sp>
          <p:nvSpPr>
            <p:cNvPr id="47" name="文本框 46"/>
            <p:cNvSpPr txBox="1"/>
            <p:nvPr>
              <p:custDataLst>
                <p:tags r:id="rId15"/>
              </p:custDataLst>
            </p:nvPr>
          </p:nvSpPr>
          <p:spPr>
            <a:xfrm>
              <a:off x="899671" y="4371699"/>
              <a:ext cx="3013030" cy="423545"/>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zh-CN" sz="1800" b="0" i="0" u="none" strike="noStrike" kern="100" cap="none" spc="0" normalizeH="0" baseline="0" noProof="0" dirty="0">
                  <a:ln>
                    <a:noFill/>
                  </a:ln>
                  <a:solidFill>
                    <a:prstClr val="white"/>
                  </a:solidFill>
                  <a:effectLst/>
                  <a:uLnTx/>
                  <a:uFillTx/>
                  <a:latin typeface="阿里巴巴普惠体 B" panose="00020600040101010101" pitchFamily="18" charset="-122"/>
                  <a:ea typeface="阿里巴巴普惠体 B" panose="00020600040101010101" pitchFamily="18" charset="-122"/>
                  <a:cs typeface="阿里巴巴普惠体 B" panose="00020600040101010101" pitchFamily="18" charset="-122"/>
                </a:rPr>
                <a:t>青智未来</a:t>
              </a:r>
              <a:endParaRPr kumimoji="0" lang="zh-CN" altLang="zh-CN" sz="1800" b="0" i="0" u="none" strike="noStrike" kern="100" cap="none" spc="0" normalizeH="0" baseline="0" noProof="0" dirty="0">
                <a:ln>
                  <a:noFill/>
                </a:ln>
                <a:solidFill>
                  <a:prstClr val="white"/>
                </a:solidFill>
                <a:effectLst/>
                <a:uLnTx/>
                <a:uFillTx/>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sp>
          <p:nvSpPr>
            <p:cNvPr id="48" name="文本框 47"/>
            <p:cNvSpPr txBox="1"/>
            <p:nvPr>
              <p:custDataLst>
                <p:tags r:id="rId16"/>
              </p:custDataLst>
            </p:nvPr>
          </p:nvSpPr>
          <p:spPr>
            <a:xfrm>
              <a:off x="899671" y="5458122"/>
              <a:ext cx="2926558" cy="423545"/>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00" cap="none" spc="0" normalizeH="0" baseline="0" noProof="0" dirty="0">
                  <a:ln>
                    <a:noFill/>
                  </a:ln>
                  <a:solidFill>
                    <a:prstClr val="white"/>
                  </a:solidFill>
                  <a:effectLst/>
                  <a:uLnTx/>
                  <a:uFillTx/>
                  <a:latin typeface="阿里巴巴普惠体 B" panose="00020600040101010101" pitchFamily="18" charset="-122"/>
                  <a:ea typeface="阿里巴巴普惠体 B" panose="00020600040101010101" pitchFamily="18" charset="-122"/>
                  <a:cs typeface="阿里巴巴普惠体 B" panose="00020600040101010101" pitchFamily="18" charset="-122"/>
                </a:rPr>
                <a:t>汇报时间：</a:t>
              </a:r>
              <a:endParaRPr kumimoji="0" lang="zh-CN" altLang="zh-CN" sz="1800" b="0" i="0" u="none" strike="noStrike" kern="100" cap="none" spc="0" normalizeH="0" baseline="0" noProof="0" dirty="0">
                <a:ln>
                  <a:noFill/>
                </a:ln>
                <a:solidFill>
                  <a:prstClr val="white"/>
                </a:solidFill>
                <a:effectLst/>
                <a:uLnTx/>
                <a:uFillTx/>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sp>
          <p:nvSpPr>
            <p:cNvPr id="49" name="文本框 48"/>
            <p:cNvSpPr txBox="1"/>
            <p:nvPr>
              <p:custDataLst>
                <p:tags r:id="rId17"/>
              </p:custDataLst>
            </p:nvPr>
          </p:nvSpPr>
          <p:spPr>
            <a:xfrm>
              <a:off x="899671" y="4905261"/>
              <a:ext cx="2926558" cy="40665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00" cap="none" spc="0" normalizeH="0" baseline="0" noProof="0" dirty="0">
                  <a:ln>
                    <a:noFill/>
                  </a:ln>
                  <a:solidFill>
                    <a:prstClr val="white"/>
                  </a:solidFill>
                  <a:effectLst/>
                  <a:uLnTx/>
                  <a:uFillTx/>
                  <a:latin typeface="阿里巴巴普惠体 B" panose="00020600040101010101" pitchFamily="18" charset="-122"/>
                  <a:ea typeface="阿里巴巴普惠体 B" panose="00020600040101010101" pitchFamily="18" charset="-122"/>
                  <a:cs typeface="阿里巴巴普惠体 B" panose="00020600040101010101" pitchFamily="18" charset="-122"/>
                </a:rPr>
                <a:t>汇报人：</a:t>
              </a:r>
              <a:r>
                <a:rPr kumimoji="0" lang="en-US" altLang="zh-CN" sz="1800" b="0" i="0" u="none" strike="noStrike" kern="100" cap="none" spc="0" normalizeH="0" baseline="0" noProof="0" dirty="0">
                  <a:ln>
                    <a:noFill/>
                  </a:ln>
                  <a:solidFill>
                    <a:prstClr val="white"/>
                  </a:solidFill>
                  <a:effectLst/>
                  <a:uLnTx/>
                  <a:uFillTx/>
                  <a:latin typeface="阿里巴巴普惠体 B" panose="00020600040101010101" pitchFamily="18" charset="-122"/>
                  <a:ea typeface="阿里巴巴普惠体 B" panose="00020600040101010101" pitchFamily="18" charset="-122"/>
                  <a:cs typeface="阿里巴巴普惠体 B" panose="00020600040101010101" pitchFamily="18" charset="-122"/>
                </a:rPr>
                <a:t>XXX</a:t>
              </a:r>
              <a:endParaRPr kumimoji="0" lang="zh-CN" altLang="zh-CN" sz="1800" b="0" i="0" u="none" strike="noStrike" kern="100" cap="none" spc="0" normalizeH="0" baseline="0" noProof="0" dirty="0">
                <a:ln>
                  <a:noFill/>
                </a:ln>
                <a:solidFill>
                  <a:prstClr val="white"/>
                </a:solidFill>
                <a:effectLst/>
                <a:uLnTx/>
                <a:uFillTx/>
                <a:latin typeface="阿里巴巴普惠体 B" panose="00020600040101010101" pitchFamily="18" charset="-122"/>
                <a:ea typeface="阿里巴巴普惠体 B" panose="00020600040101010101" pitchFamily="18" charset="-122"/>
                <a:cs typeface="阿里巴巴普惠体 B" panose="00020600040101010101" pitchFamily="18" charset="-122"/>
              </a:endParaRPr>
            </a:p>
          </p:txBody>
        </p:sp>
        <p:sp>
          <p:nvSpPr>
            <p:cNvPr id="50" name="椭圆 49"/>
            <p:cNvSpPr/>
            <p:nvPr>
              <p:custDataLst>
                <p:tags r:id="rId18"/>
              </p:custDataLst>
            </p:nvPr>
          </p:nvSpPr>
          <p:spPr>
            <a:xfrm>
              <a:off x="711850" y="4485413"/>
              <a:ext cx="187821" cy="187821"/>
            </a:xfrm>
            <a:prstGeom prst="ellipse">
              <a:avLst/>
            </a:prstGeom>
            <a:solidFill>
              <a:schemeClr val="bg1">
                <a:alpha val="4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1" name="椭圆 50"/>
            <p:cNvSpPr/>
            <p:nvPr>
              <p:custDataLst>
                <p:tags r:id="rId19"/>
              </p:custDataLst>
            </p:nvPr>
          </p:nvSpPr>
          <p:spPr>
            <a:xfrm>
              <a:off x="750210" y="4523775"/>
              <a:ext cx="111104" cy="11109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2" name="椭圆 51"/>
            <p:cNvSpPr/>
            <p:nvPr>
              <p:custDataLst>
                <p:tags r:id="rId20"/>
              </p:custDataLst>
            </p:nvPr>
          </p:nvSpPr>
          <p:spPr>
            <a:xfrm>
              <a:off x="711850" y="5031231"/>
              <a:ext cx="187821" cy="187821"/>
            </a:xfrm>
            <a:prstGeom prst="ellipse">
              <a:avLst/>
            </a:prstGeom>
            <a:solidFill>
              <a:schemeClr val="bg1">
                <a:alpha val="4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3" name="椭圆 52"/>
            <p:cNvSpPr/>
            <p:nvPr>
              <p:custDataLst>
                <p:tags r:id="rId21"/>
              </p:custDataLst>
            </p:nvPr>
          </p:nvSpPr>
          <p:spPr>
            <a:xfrm>
              <a:off x="750210" y="5069593"/>
              <a:ext cx="111104" cy="11109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4" name="椭圆 53"/>
            <p:cNvSpPr/>
            <p:nvPr>
              <p:custDataLst>
                <p:tags r:id="rId22"/>
              </p:custDataLst>
            </p:nvPr>
          </p:nvSpPr>
          <p:spPr>
            <a:xfrm>
              <a:off x="711850" y="5577050"/>
              <a:ext cx="187821" cy="187821"/>
            </a:xfrm>
            <a:prstGeom prst="ellipse">
              <a:avLst/>
            </a:prstGeom>
            <a:solidFill>
              <a:schemeClr val="bg1">
                <a:alpha val="4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5" name="椭圆 54"/>
            <p:cNvSpPr/>
            <p:nvPr>
              <p:custDataLst>
                <p:tags r:id="rId23"/>
              </p:custDataLst>
            </p:nvPr>
          </p:nvSpPr>
          <p:spPr>
            <a:xfrm>
              <a:off x="750210" y="5615412"/>
              <a:ext cx="111104" cy="11109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grpSp>
        <p:nvGrpSpPr>
          <p:cNvPr id="14" name="组合 13"/>
          <p:cNvGrpSpPr/>
          <p:nvPr/>
        </p:nvGrpSpPr>
        <p:grpSpPr>
          <a:xfrm>
            <a:off x="-1619461" y="3188342"/>
            <a:ext cx="10407316" cy="1402372"/>
            <a:chOff x="-1461188" y="4551312"/>
            <a:chExt cx="10407316" cy="1402372"/>
          </a:xfrm>
        </p:grpSpPr>
        <p:pic>
          <p:nvPicPr>
            <p:cNvPr id="12" name="图片 11" descr="夜空下的树&#10;&#10;低可信度描述已自动生成"/>
            <p:cNvPicPr>
              <a:picLocks noChangeAspect="1"/>
            </p:cNvPicPr>
            <p:nvPr/>
          </p:nvPicPr>
          <p:blipFill rotWithShape="1">
            <a:blip r:embed="rId24">
              <a:extLst>
                <a:ext uri="{BEBA8EAE-BF5A-486C-A8C5-ECC9F3942E4B}">
                  <a14:imgProps xmlns:a14="http://schemas.microsoft.com/office/drawing/2010/main">
                    <a14:imgLayer r:embed="rId25">
                      <a14:imgEffect>
                        <a14:brightnessContrast bright="40000" contrast="-40000"/>
                      </a14:imgEffect>
                    </a14:imgLayer>
                  </a14:imgProps>
                </a:ext>
                <a:ext uri="{28A0092B-C50C-407E-A947-70E740481C1C}">
                  <a14:useLocalDpi xmlns:a14="http://schemas.microsoft.com/office/drawing/2010/main" val="0"/>
                </a:ext>
              </a:extLst>
            </a:blip>
            <a:srcRect t="22831" b="49565"/>
            <a:stretch>
              <a:fillRect/>
            </a:stretch>
          </p:blipFill>
          <p:spPr>
            <a:xfrm>
              <a:off x="-1461188" y="4551312"/>
              <a:ext cx="10407316" cy="439461"/>
            </a:xfrm>
            <a:prstGeom prst="rect">
              <a:avLst/>
            </a:prstGeom>
          </p:spPr>
        </p:pic>
        <p:pic>
          <p:nvPicPr>
            <p:cNvPr id="13" name="图片 12" descr="夜空下的树&#10;&#10;低可信度描述已自动生成"/>
            <p:cNvPicPr>
              <a:picLocks noChangeAspect="1"/>
            </p:cNvPicPr>
            <p:nvPr/>
          </p:nvPicPr>
          <p:blipFill rotWithShape="1">
            <a:blip r:embed="rId26">
              <a:extLst>
                <a:ext uri="{BEBA8EAE-BF5A-486C-A8C5-ECC9F3942E4B}">
                  <a14:imgProps xmlns:a14="http://schemas.microsoft.com/office/drawing/2010/main">
                    <a14:imgLayer r:embed="rId25">
                      <a14:imgEffect>
                        <a14:brightnessContrast bright="20000" contrast="20000"/>
                      </a14:imgEffect>
                    </a14:imgLayer>
                  </a14:imgProps>
                </a:ext>
                <a:ext uri="{28A0092B-C50C-407E-A947-70E740481C1C}">
                  <a14:useLocalDpi xmlns:a14="http://schemas.microsoft.com/office/drawing/2010/main" val="0"/>
                </a:ext>
              </a:extLst>
            </a:blip>
            <a:srcRect t="49565" b="22831"/>
            <a:stretch>
              <a:fillRect/>
            </a:stretch>
          </p:blipFill>
          <p:spPr>
            <a:xfrm>
              <a:off x="-1461188" y="5416380"/>
              <a:ext cx="10407316" cy="537304"/>
            </a:xfrm>
            <a:prstGeom prst="rect">
              <a:avLst/>
            </a:prstGeom>
          </p:spPr>
        </p:pic>
      </p:grpSp>
      <p:sp>
        <p:nvSpPr>
          <p:cNvPr id="4" name="文本框 3"/>
          <p:cNvSpPr txBox="1"/>
          <p:nvPr/>
        </p:nvSpPr>
        <p:spPr>
          <a:xfrm>
            <a:off x="215571" y="3567765"/>
            <a:ext cx="6887446" cy="583565"/>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gradFill flip="none" rotWithShape="1">
                  <a:gsLst>
                    <a:gs pos="0">
                      <a:srgbClr val="71D0FB"/>
                    </a:gs>
                    <a:gs pos="66000">
                      <a:srgbClr val="71D0FB"/>
                    </a:gs>
                  </a:gsLst>
                  <a:lin ang="5400000" scaled="1"/>
                  <a:tileRect/>
                </a:gradFill>
                <a:effectLst/>
                <a:uLnTx/>
                <a:uFillTx/>
                <a:latin typeface="字体传奇特战体-免费商用" panose="02000500000000000000" pitchFamily="2" charset="-122"/>
                <a:ea typeface="字体传奇特战体-免费商用" panose="02000500000000000000" pitchFamily="2" charset="-122"/>
                <a:cs typeface="+mn-cs"/>
              </a:rPr>
              <a:t>—— </a:t>
            </a:r>
            <a:r>
              <a:rPr kumimoji="0" lang="zh-CN" altLang="en-US" sz="3200" b="0" i="0" u="none" strike="noStrike" kern="1200" cap="none" spc="0" normalizeH="0" baseline="0" noProof="0" dirty="0">
                <a:ln>
                  <a:noFill/>
                </a:ln>
                <a:gradFill flip="none" rotWithShape="1">
                  <a:gsLst>
                    <a:gs pos="0">
                      <a:srgbClr val="71D0FB"/>
                    </a:gs>
                    <a:gs pos="66000">
                      <a:srgbClr val="71D0FB"/>
                    </a:gs>
                  </a:gsLst>
                  <a:lin ang="5400000" scaled="1"/>
                  <a:tileRect/>
                </a:gradFill>
                <a:effectLst/>
                <a:uLnTx/>
                <a:uFillTx/>
                <a:latin typeface="字体传奇特战体-免费商用" panose="02000500000000000000" pitchFamily="2" charset="-122"/>
                <a:ea typeface="字体传奇特战体-免费商用" panose="02000500000000000000" pitchFamily="2" charset="-122"/>
                <a:cs typeface="+mn-cs"/>
              </a:rPr>
              <a:t>多任务自适应遥感解译系统</a:t>
            </a:r>
            <a:endParaRPr kumimoji="0" lang="zh-CN" altLang="en-US" sz="3200" b="0" i="0" u="none" strike="noStrike" kern="1200" cap="none" spc="0" normalizeH="0" baseline="0" noProof="0" dirty="0">
              <a:ln>
                <a:noFill/>
              </a:ln>
              <a:gradFill flip="none" rotWithShape="1">
                <a:gsLst>
                  <a:gs pos="0">
                    <a:srgbClr val="71D0FB"/>
                  </a:gs>
                  <a:gs pos="66000">
                    <a:srgbClr val="71D0FB"/>
                  </a:gs>
                </a:gsLst>
                <a:lin ang="5400000" scaled="1"/>
                <a:tileRect/>
              </a:gradFill>
              <a:effectLst/>
              <a:uLnTx/>
              <a:uFillTx/>
              <a:latin typeface="字体传奇特战体-免费商用" panose="02000500000000000000" pitchFamily="2" charset="-122"/>
              <a:ea typeface="字体传奇特战体-免费商用" panose="02000500000000000000" pitchFamily="2" charset="-122"/>
              <a:cs typeface="+mn-cs"/>
            </a:endParaRPr>
          </a:p>
        </p:txBody>
      </p:sp>
      <p:grpSp>
        <p:nvGrpSpPr>
          <p:cNvPr id="16" name="组合 15"/>
          <p:cNvGrpSpPr/>
          <p:nvPr/>
        </p:nvGrpSpPr>
        <p:grpSpPr>
          <a:xfrm>
            <a:off x="106900" y="708605"/>
            <a:ext cx="7214870" cy="3000375"/>
            <a:chOff x="243" y="1120"/>
            <a:chExt cx="11362" cy="4725"/>
          </a:xfrm>
        </p:grpSpPr>
        <p:sp>
          <p:nvSpPr>
            <p:cNvPr id="7" name="文本框 6"/>
            <p:cNvSpPr txBox="1"/>
            <p:nvPr/>
          </p:nvSpPr>
          <p:spPr>
            <a:xfrm>
              <a:off x="4964" y="1120"/>
              <a:ext cx="3206" cy="416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600" b="0" i="0" u="none" strike="noStrike" kern="1200" cap="none" spc="0" normalizeH="0" baseline="0" dirty="0">
                  <a:solidFill>
                    <a:schemeClr val="bg1"/>
                  </a:solidFill>
                  <a:latin typeface="华文行楷" panose="02010800040101010101" pitchFamily="2" charset="-122"/>
                  <a:ea typeface="华文行楷" panose="02010800040101010101" pitchFamily="2" charset="-122"/>
                </a:rPr>
                <a:t>边</a:t>
              </a:r>
              <a:endParaRPr kumimoji="0" lang="zh-CN" altLang="en-US" sz="16600" b="0" i="0" u="none" strike="noStrike" kern="1200" cap="none" spc="0" normalizeH="0" baseline="0" dirty="0">
                <a:solidFill>
                  <a:schemeClr val="bg1"/>
                </a:solidFill>
                <a:latin typeface="华文行楷" panose="02010800040101010101" pitchFamily="2" charset="-122"/>
                <a:ea typeface="华文行楷" panose="02010800040101010101" pitchFamily="2" charset="-122"/>
              </a:endParaRPr>
            </a:p>
          </p:txBody>
        </p:sp>
        <p:sp>
          <p:nvSpPr>
            <p:cNvPr id="10" name="文本框 9"/>
            <p:cNvSpPr txBox="1"/>
            <p:nvPr/>
          </p:nvSpPr>
          <p:spPr>
            <a:xfrm>
              <a:off x="243" y="1266"/>
              <a:ext cx="2947" cy="4167"/>
            </a:xfrm>
            <a:prstGeom prst="rect">
              <a:avLst/>
            </a:prstGeom>
            <a:noFill/>
          </p:spPr>
          <p:txBody>
            <a:bodyPr wrap="square" rtlCol="0">
              <a:spAutoFit/>
            </a:bodyPr>
            <a:lstStyle/>
            <a:p>
              <a:r>
                <a:rPr lang="zh-CN" altLang="en-US" sz="16600" dirty="0">
                  <a:solidFill>
                    <a:schemeClr val="bg1"/>
                  </a:solidFill>
                  <a:latin typeface="华文行楷" panose="02010800040101010101" pitchFamily="2" charset="-122"/>
                  <a:ea typeface="华文行楷" panose="02010800040101010101" pitchFamily="2" charset="-122"/>
                </a:rPr>
                <a:t>遥</a:t>
              </a:r>
              <a:endParaRPr lang="zh-CN" altLang="en-US" sz="16600" dirty="0">
                <a:solidFill>
                  <a:schemeClr val="bg1"/>
                </a:solidFill>
                <a:latin typeface="华文行楷" panose="02010800040101010101" pitchFamily="2" charset="-122"/>
                <a:ea typeface="华文行楷" panose="02010800040101010101" pitchFamily="2" charset="-122"/>
              </a:endParaRPr>
            </a:p>
          </p:txBody>
        </p:sp>
        <p:sp>
          <p:nvSpPr>
            <p:cNvPr id="15" name="文本框 14"/>
            <p:cNvSpPr txBox="1"/>
            <p:nvPr/>
          </p:nvSpPr>
          <p:spPr>
            <a:xfrm>
              <a:off x="2356" y="1678"/>
              <a:ext cx="2730" cy="4167"/>
            </a:xfrm>
            <a:prstGeom prst="rect">
              <a:avLst/>
            </a:prstGeom>
            <a:noFill/>
          </p:spPr>
          <p:txBody>
            <a:bodyPr wrap="square" rtlCol="0">
              <a:spAutoFit/>
            </a:bodyPr>
            <a:lstStyle/>
            <a:p>
              <a:r>
                <a:rPr lang="zh-CN" altLang="en-US" sz="16600" dirty="0">
                  <a:solidFill>
                    <a:schemeClr val="bg1"/>
                  </a:solidFill>
                  <a:latin typeface="华文行楷" panose="02010800040101010101" pitchFamily="2" charset="-122"/>
                  <a:ea typeface="华文行楷" panose="02010800040101010101" pitchFamily="2" charset="-122"/>
                </a:rPr>
                <a:t>智</a:t>
              </a:r>
              <a:endParaRPr lang="zh-CN" altLang="en-US" sz="16600" dirty="0">
                <a:solidFill>
                  <a:schemeClr val="bg1"/>
                </a:solidFill>
                <a:latin typeface="华文行楷" panose="02010800040101010101" pitchFamily="2" charset="-122"/>
                <a:ea typeface="华文行楷" panose="02010800040101010101" pitchFamily="2" charset="-122"/>
              </a:endParaRPr>
            </a:p>
          </p:txBody>
        </p:sp>
        <p:sp>
          <p:nvSpPr>
            <p:cNvPr id="8" name="文本框 7"/>
            <p:cNvSpPr txBox="1"/>
            <p:nvPr/>
          </p:nvSpPr>
          <p:spPr>
            <a:xfrm>
              <a:off x="7744" y="1412"/>
              <a:ext cx="3861" cy="416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600" b="0" i="0" u="none" strike="noStrike" kern="1200" cap="none" spc="0" normalizeH="0" baseline="0" noProof="0" dirty="0">
                  <a:ln>
                    <a:noFill/>
                  </a:ln>
                  <a:solidFill>
                    <a:schemeClr val="bg1"/>
                  </a:solidFill>
                  <a:effectLst/>
                  <a:uLnTx/>
                  <a:uFillTx/>
                  <a:latin typeface="华文行楷" panose="02010800040101010101" pitchFamily="2" charset="-122"/>
                  <a:ea typeface="华文行楷" panose="02010800040101010101" pitchFamily="2" charset="-122"/>
                  <a:cs typeface="演示流云楷" panose="02000600000000000000" pitchFamily="2" charset="-122"/>
                </a:rPr>
                <a:t>疆</a:t>
              </a:r>
              <a:endParaRPr kumimoji="0" lang="zh-CN" altLang="en-US" sz="16600" b="0" i="0" u="none" strike="noStrike" kern="1200" cap="none" spc="0" normalizeH="0" baseline="0" noProof="0" dirty="0">
                <a:ln>
                  <a:noFill/>
                </a:ln>
                <a:solidFill>
                  <a:schemeClr val="bg1"/>
                </a:solidFill>
                <a:effectLst/>
                <a:uLnTx/>
                <a:uFillTx/>
                <a:latin typeface="华文行楷" panose="02010800040101010101" pitchFamily="2" charset="-122"/>
                <a:ea typeface="华文行楷" panose="02010800040101010101" pitchFamily="2" charset="-122"/>
                <a:cs typeface="演示流云楷" panose="02000600000000000000" pitchFamily="2" charset="-122"/>
              </a:endParaRPr>
            </a:p>
          </p:txBody>
        </p:sp>
      </p:grpSp>
      <p:sp>
        <p:nvSpPr>
          <p:cNvPr id="17" name="文本框 16"/>
          <p:cNvSpPr txBox="1"/>
          <p:nvPr/>
        </p:nvSpPr>
        <p:spPr>
          <a:xfrm>
            <a:off x="721360" y="256540"/>
            <a:ext cx="10857865" cy="398145"/>
          </a:xfrm>
          <a:prstGeom prst="rect">
            <a:avLst/>
          </a:prstGeom>
          <a:noFill/>
        </p:spPr>
        <p:txBody>
          <a:bodyPr wrap="square" rtlCol="0">
            <a:noAutofit/>
          </a:bodyPr>
          <a:lstStyle/>
          <a:p>
            <a:r>
              <a:rPr lang="zh-CN" altLang="en-US" sz="2800" b="1" dirty="0">
                <a:solidFill>
                  <a:schemeClr val="tx1"/>
                </a:solidFill>
                <a:latin typeface="汉仪君黑-75简" panose="00020600040101010101" charset="-122"/>
                <a:ea typeface="汉仪君黑-75简" panose="00020600040101010101" charset="-122"/>
                <a:sym typeface="+mn-ea"/>
              </a:rPr>
              <a:t>“青创北京”</a:t>
            </a:r>
            <a:r>
              <a:rPr lang="en-US" altLang="zh-CN" sz="2800" b="1" dirty="0">
                <a:solidFill>
                  <a:schemeClr val="tx1"/>
                </a:solidFill>
                <a:latin typeface="汉仪君黑-75简" panose="00020600040101010101" charset="-122"/>
                <a:ea typeface="汉仪君黑-75简" panose="00020600040101010101" charset="-122"/>
                <a:sym typeface="+mn-ea"/>
              </a:rPr>
              <a:t>2026</a:t>
            </a:r>
            <a:r>
              <a:rPr lang="zh-CN" altLang="en-US" sz="2800" b="1" dirty="0">
                <a:solidFill>
                  <a:schemeClr val="tx1"/>
                </a:solidFill>
                <a:latin typeface="汉仪君黑-75简" panose="00020600040101010101" charset="-122"/>
                <a:ea typeface="汉仪君黑-75简" panose="00020600040101010101" charset="-122"/>
                <a:sym typeface="+mn-ea"/>
              </a:rPr>
              <a:t>年“挑战杯”首都大学生课外学术科技作品竞赛</a:t>
            </a:r>
            <a:endParaRPr lang="en-US" altLang="zh-CN" sz="2800" b="1" dirty="0">
              <a:solidFill>
                <a:schemeClr val="tx1"/>
              </a:solidFill>
              <a:latin typeface="汉仪君黑-75简" panose="00020600040101010101" charset="-122"/>
              <a:ea typeface="汉仪君黑-75简" panose="00020600040101010101" charset="-122"/>
            </a:endParaRPr>
          </a:p>
          <a:p>
            <a:endParaRPr lang="en-US" altLang="zh-CN" sz="2800" b="1" dirty="0">
              <a:solidFill>
                <a:schemeClr val="tx1"/>
              </a:solidFill>
              <a:latin typeface="汉仪君黑-75简" panose="00020600040101010101" charset="-122"/>
              <a:ea typeface="汉仪君黑-75简" panose="00020600040101010101" charset="-122"/>
            </a:endParaRPr>
          </a:p>
        </p:txBody>
      </p:sp>
      <p:pic>
        <p:nvPicPr>
          <p:cNvPr id="18" name="图片 17"/>
          <p:cNvPicPr>
            <a:picLocks noChangeAspect="1"/>
          </p:cNvPicPr>
          <p:nvPr/>
        </p:nvPicPr>
        <p:blipFill>
          <a:blip r:embed="rId27">
            <a:extLst>
              <a:ext uri="{BEBA8EAE-BF5A-486C-A8C5-ECC9F3942E4B}">
                <a14:imgProps xmlns:a14="http://schemas.microsoft.com/office/drawing/2010/main">
                  <a14:imgLayer r:embed="rId28">
                    <a14:imgEffect>
                      <a14:backgroundRemoval t="9009" b="89910" l="7423" r="96289">
                        <a14:foregroundMark x1="8969" y1="19820" x2="7423" y2="19820"/>
                        <a14:foregroundMark x1="13814" y1="9369" x2="14227" y2="9369"/>
                        <a14:foregroundMark x1="91031" y1="63784" x2="92062" y2="72613"/>
                        <a14:foregroundMark x1="95464" y1="67027" x2="96289" y2="67027"/>
                      </a14:backgroundRemoval>
                    </a14:imgEffect>
                  </a14:imgLayer>
                </a14:imgProps>
              </a:ext>
            </a:extLst>
          </a:blip>
          <a:stretch>
            <a:fillRect/>
          </a:stretch>
        </p:blipFill>
        <p:spPr>
          <a:xfrm>
            <a:off x="6356350" y="1312545"/>
            <a:ext cx="8237855" cy="47142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1308B"/>
        </a:solidFill>
        <a:effectLst/>
      </p:bgPr>
    </p:bg>
    <p:spTree>
      <p:nvGrpSpPr>
        <p:cNvPr id="1" name=""/>
        <p:cNvGrpSpPr/>
        <p:nvPr/>
      </p:nvGrpSpPr>
      <p:grpSpPr>
        <a:xfrm>
          <a:off x="0" y="0"/>
          <a:ext cx="0" cy="0"/>
          <a:chOff x="0" y="0"/>
          <a:chExt cx="0" cy="0"/>
        </a:xfrm>
      </p:grpSpPr>
      <p:pic>
        <p:nvPicPr>
          <p:cNvPr id="20" name="图片 19"/>
          <p:cNvPicPr>
            <a:picLocks noChangeAspect="1"/>
          </p:cNvPicPr>
          <p:nvPr/>
        </p:nvPicPr>
        <p:blipFill rotWithShape="1">
          <a:blip r:embed="rId1"/>
          <a:srcRect l="22337" t="1288"/>
          <a:stretch>
            <a:fillRect/>
          </a:stretch>
        </p:blipFill>
        <p:spPr>
          <a:xfrm flipH="1">
            <a:off x="-1" y="-1"/>
            <a:ext cx="12191999" cy="733425"/>
          </a:xfrm>
          <a:custGeom>
            <a:avLst/>
            <a:gdLst>
              <a:gd name="connsiteX0" fmla="*/ 8756888 w 8756888"/>
              <a:gd name="connsiteY0" fmla="*/ 0 h 6857999"/>
              <a:gd name="connsiteX1" fmla="*/ 0 w 8756888"/>
              <a:gd name="connsiteY1" fmla="*/ 0 h 6857999"/>
              <a:gd name="connsiteX2" fmla="*/ 0 w 8756888"/>
              <a:gd name="connsiteY2" fmla="*/ 6857999 h 6857999"/>
              <a:gd name="connsiteX3" fmla="*/ 8756888 w 8756888"/>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8756888" h="6857999">
                <a:moveTo>
                  <a:pt x="8756888" y="0"/>
                </a:moveTo>
                <a:lnTo>
                  <a:pt x="0" y="0"/>
                </a:lnTo>
                <a:lnTo>
                  <a:pt x="0" y="6857999"/>
                </a:lnTo>
                <a:lnTo>
                  <a:pt x="8756888" y="6857999"/>
                </a:lnTo>
                <a:close/>
              </a:path>
            </a:pathLst>
          </a:custGeom>
        </p:spPr>
      </p:pic>
      <p:sp>
        <p:nvSpPr>
          <p:cNvPr id="3" name="平行四边形 2"/>
          <p:cNvSpPr/>
          <p:nvPr/>
        </p:nvSpPr>
        <p:spPr>
          <a:xfrm flipH="1">
            <a:off x="4043389" y="117986"/>
            <a:ext cx="1319982" cy="501446"/>
          </a:xfrm>
          <a:prstGeom prst="parallelogram">
            <a:avLst/>
          </a:prstGeom>
          <a:no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5" name="平行四边形 4"/>
          <p:cNvSpPr/>
          <p:nvPr/>
        </p:nvSpPr>
        <p:spPr>
          <a:xfrm flipH="1">
            <a:off x="6737019" y="108154"/>
            <a:ext cx="1319982" cy="501446"/>
          </a:xfrm>
          <a:prstGeom prst="parallelogram">
            <a:avLst/>
          </a:prstGeom>
          <a:no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6" name="平行四边形 5"/>
          <p:cNvSpPr/>
          <p:nvPr/>
        </p:nvSpPr>
        <p:spPr>
          <a:xfrm flipH="1">
            <a:off x="8089952" y="108154"/>
            <a:ext cx="1319982" cy="501446"/>
          </a:xfrm>
          <a:prstGeom prst="parallelogram">
            <a:avLst/>
          </a:prstGeom>
          <a:no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7" name="平行四边形 6"/>
          <p:cNvSpPr/>
          <p:nvPr/>
        </p:nvSpPr>
        <p:spPr>
          <a:xfrm flipH="1">
            <a:off x="9442885" y="117986"/>
            <a:ext cx="1319982" cy="501446"/>
          </a:xfrm>
          <a:prstGeom prst="parallelogram">
            <a:avLst/>
          </a:prstGeom>
          <a:no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9" name="文本框 8"/>
          <p:cNvSpPr txBox="1"/>
          <p:nvPr/>
        </p:nvSpPr>
        <p:spPr>
          <a:xfrm>
            <a:off x="4184520" y="186216"/>
            <a:ext cx="1037720"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方案设计</a:t>
            </a:r>
            <a:endParaRPr lang="zh-CN" altLang="en-US" sz="1600" dirty="0">
              <a:solidFill>
                <a:schemeClr val="bg1"/>
              </a:solidFill>
              <a:latin typeface="思源黑体" panose="020B0800000000000000" pitchFamily="34" charset="-122"/>
              <a:ea typeface="思源黑体" panose="020B0800000000000000" pitchFamily="34" charset="-122"/>
            </a:endParaRPr>
          </a:p>
        </p:txBody>
      </p:sp>
      <p:sp>
        <p:nvSpPr>
          <p:cNvPr id="15" name="文本框 14"/>
          <p:cNvSpPr txBox="1"/>
          <p:nvPr/>
        </p:nvSpPr>
        <p:spPr>
          <a:xfrm>
            <a:off x="6873782" y="181932"/>
            <a:ext cx="1070927"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项目应用</a:t>
            </a:r>
            <a:endParaRPr lang="zh-CN" altLang="en-US" sz="1600" dirty="0">
              <a:solidFill>
                <a:schemeClr val="bg1"/>
              </a:solidFill>
              <a:latin typeface="思源黑体" panose="020B0800000000000000" pitchFamily="34" charset="-122"/>
              <a:ea typeface="思源黑体" panose="020B0800000000000000" pitchFamily="34" charset="-122"/>
            </a:endParaRPr>
          </a:p>
        </p:txBody>
      </p:sp>
      <p:sp>
        <p:nvSpPr>
          <p:cNvPr id="16" name="文本框 15"/>
          <p:cNvSpPr txBox="1"/>
          <p:nvPr/>
        </p:nvSpPr>
        <p:spPr>
          <a:xfrm>
            <a:off x="8230827" y="189600"/>
            <a:ext cx="1070927"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社会价值</a:t>
            </a:r>
            <a:endParaRPr lang="zh-CN" altLang="en-US" sz="1600" dirty="0">
              <a:solidFill>
                <a:schemeClr val="bg1"/>
              </a:solidFill>
              <a:latin typeface="思源黑体" panose="020B0800000000000000" pitchFamily="34" charset="-122"/>
              <a:ea typeface="思源黑体" panose="020B0800000000000000" pitchFamily="34" charset="-122"/>
            </a:endParaRPr>
          </a:p>
        </p:txBody>
      </p:sp>
      <p:sp>
        <p:nvSpPr>
          <p:cNvPr id="17" name="文本框 16"/>
          <p:cNvSpPr txBox="1"/>
          <p:nvPr/>
        </p:nvSpPr>
        <p:spPr>
          <a:xfrm>
            <a:off x="9605816" y="186216"/>
            <a:ext cx="1079229"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团队介绍</a:t>
            </a:r>
            <a:endParaRPr lang="zh-CN" altLang="en-US" sz="1600" dirty="0">
              <a:solidFill>
                <a:schemeClr val="bg1"/>
              </a:solidFill>
              <a:latin typeface="思源黑体" panose="020B0800000000000000" pitchFamily="34" charset="-122"/>
              <a:ea typeface="思源黑体" panose="020B0800000000000000" pitchFamily="34" charset="-122"/>
            </a:endParaRPr>
          </a:p>
        </p:txBody>
      </p:sp>
      <p:sp>
        <p:nvSpPr>
          <p:cNvPr id="18" name="平行四边形 17"/>
          <p:cNvSpPr/>
          <p:nvPr/>
        </p:nvSpPr>
        <p:spPr>
          <a:xfrm flipH="1">
            <a:off x="10795818" y="117986"/>
            <a:ext cx="1319982" cy="501446"/>
          </a:xfrm>
          <a:prstGeom prst="parallelogram">
            <a:avLst/>
          </a:prstGeom>
          <a:no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19" name="文本框 18"/>
          <p:cNvSpPr txBox="1"/>
          <p:nvPr/>
        </p:nvSpPr>
        <p:spPr>
          <a:xfrm>
            <a:off x="10953551" y="189600"/>
            <a:ext cx="1004516"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未来展望</a:t>
            </a:r>
            <a:endParaRPr lang="zh-CN" altLang="en-US" sz="1600" dirty="0">
              <a:solidFill>
                <a:schemeClr val="bg1"/>
              </a:solidFill>
              <a:latin typeface="思源黑体" panose="020B0800000000000000" pitchFamily="34" charset="-122"/>
              <a:ea typeface="思源黑体" panose="020B0800000000000000" pitchFamily="34" charset="-122"/>
            </a:endParaRPr>
          </a:p>
        </p:txBody>
      </p:sp>
      <p:grpSp>
        <p:nvGrpSpPr>
          <p:cNvPr id="23" name="组合 22"/>
          <p:cNvGrpSpPr/>
          <p:nvPr/>
        </p:nvGrpSpPr>
        <p:grpSpPr>
          <a:xfrm>
            <a:off x="198553" y="-113494"/>
            <a:ext cx="2214880" cy="732926"/>
            <a:chOff x="565150" y="86699"/>
            <a:chExt cx="2214880" cy="732926"/>
          </a:xfrm>
        </p:grpSpPr>
        <p:sp>
          <p:nvSpPr>
            <p:cNvPr id="24" name="文本框 23"/>
            <p:cNvSpPr txBox="1"/>
            <p:nvPr/>
          </p:nvSpPr>
          <p:spPr>
            <a:xfrm>
              <a:off x="565150" y="86699"/>
              <a:ext cx="2214880" cy="7067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0" normalizeH="0" baseline="0" noProof="0" dirty="0">
                  <a:ln>
                    <a:noFill/>
                  </a:ln>
                  <a:solidFill>
                    <a:schemeClr val="bg1"/>
                  </a:solidFill>
                  <a:effectLst/>
                  <a:uLnTx/>
                  <a:uFillTx/>
                  <a:latin typeface="隶书" panose="02010509060101010101" pitchFamily="49" charset="-122"/>
                  <a:ea typeface="隶书" panose="02010509060101010101" pitchFamily="49" charset="-122"/>
                  <a:cs typeface="+mn-cs"/>
                </a:rPr>
                <a:t>核心技术</a:t>
              </a:r>
              <a:endParaRPr kumimoji="0" lang="zh-CN" altLang="en-US" sz="4000" b="0" i="0" u="none" strike="noStrike" kern="1200" cap="none" spc="0" normalizeH="0" baseline="0" noProof="0" dirty="0">
                <a:ln>
                  <a:noFill/>
                </a:ln>
                <a:solidFill>
                  <a:schemeClr val="bg1"/>
                </a:solidFill>
                <a:effectLst/>
                <a:uLnTx/>
                <a:uFillTx/>
                <a:latin typeface="隶书" panose="02010509060101010101" pitchFamily="49" charset="-122"/>
                <a:ea typeface="隶书" panose="02010509060101010101" pitchFamily="49" charset="-122"/>
                <a:cs typeface="+mn-cs"/>
              </a:endParaRPr>
            </a:p>
          </p:txBody>
        </p:sp>
        <p:cxnSp>
          <p:nvCxnSpPr>
            <p:cNvPr id="25" name="直接连接符 24"/>
            <p:cNvCxnSpPr/>
            <p:nvPr/>
          </p:nvCxnSpPr>
          <p:spPr>
            <a:xfrm>
              <a:off x="678180" y="728663"/>
              <a:ext cx="202692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6" name="任意多边形: 形状 25"/>
            <p:cNvSpPr/>
            <p:nvPr/>
          </p:nvSpPr>
          <p:spPr>
            <a:xfrm>
              <a:off x="678179" y="773906"/>
              <a:ext cx="2026920" cy="45719"/>
            </a:xfrm>
            <a:custGeom>
              <a:avLst/>
              <a:gdLst>
                <a:gd name="connsiteX0" fmla="*/ 1978819 w 2026920"/>
                <a:gd name="connsiteY0" fmla="*/ 0 h 45719"/>
                <a:gd name="connsiteX1" fmla="*/ 2026920 w 2026920"/>
                <a:gd name="connsiteY1" fmla="*/ 0 h 45719"/>
                <a:gd name="connsiteX2" fmla="*/ 2026920 w 2026920"/>
                <a:gd name="connsiteY2" fmla="*/ 45719 h 45719"/>
                <a:gd name="connsiteX3" fmla="*/ 1978819 w 2026920"/>
                <a:gd name="connsiteY3" fmla="*/ 45719 h 45719"/>
                <a:gd name="connsiteX4" fmla="*/ 1887560 w 2026920"/>
                <a:gd name="connsiteY4" fmla="*/ 0 h 45719"/>
                <a:gd name="connsiteX5" fmla="*/ 1935661 w 2026920"/>
                <a:gd name="connsiteY5" fmla="*/ 0 h 45719"/>
                <a:gd name="connsiteX6" fmla="*/ 1935661 w 2026920"/>
                <a:gd name="connsiteY6" fmla="*/ 45719 h 45719"/>
                <a:gd name="connsiteX7" fmla="*/ 1887560 w 2026920"/>
                <a:gd name="connsiteY7" fmla="*/ 45719 h 45719"/>
                <a:gd name="connsiteX8" fmla="*/ 1796302 w 2026920"/>
                <a:gd name="connsiteY8" fmla="*/ 0 h 45719"/>
                <a:gd name="connsiteX9" fmla="*/ 1844403 w 2026920"/>
                <a:gd name="connsiteY9" fmla="*/ 0 h 45719"/>
                <a:gd name="connsiteX10" fmla="*/ 1844403 w 2026920"/>
                <a:gd name="connsiteY10" fmla="*/ 45719 h 45719"/>
                <a:gd name="connsiteX11" fmla="*/ 1796302 w 2026920"/>
                <a:gd name="connsiteY11" fmla="*/ 45719 h 45719"/>
                <a:gd name="connsiteX12" fmla="*/ 1705043 w 2026920"/>
                <a:gd name="connsiteY12" fmla="*/ 0 h 45719"/>
                <a:gd name="connsiteX13" fmla="*/ 1753144 w 2026920"/>
                <a:gd name="connsiteY13" fmla="*/ 0 h 45719"/>
                <a:gd name="connsiteX14" fmla="*/ 1753144 w 2026920"/>
                <a:gd name="connsiteY14" fmla="*/ 45719 h 45719"/>
                <a:gd name="connsiteX15" fmla="*/ 1705043 w 2026920"/>
                <a:gd name="connsiteY15" fmla="*/ 45719 h 45719"/>
                <a:gd name="connsiteX16" fmla="*/ 1613785 w 2026920"/>
                <a:gd name="connsiteY16" fmla="*/ 0 h 45719"/>
                <a:gd name="connsiteX17" fmla="*/ 1661886 w 2026920"/>
                <a:gd name="connsiteY17" fmla="*/ 0 h 45719"/>
                <a:gd name="connsiteX18" fmla="*/ 1661886 w 2026920"/>
                <a:gd name="connsiteY18" fmla="*/ 45719 h 45719"/>
                <a:gd name="connsiteX19" fmla="*/ 1613785 w 2026920"/>
                <a:gd name="connsiteY19" fmla="*/ 45719 h 45719"/>
                <a:gd name="connsiteX20" fmla="*/ 1522526 w 2026920"/>
                <a:gd name="connsiteY20" fmla="*/ 0 h 45719"/>
                <a:gd name="connsiteX21" fmla="*/ 1570627 w 2026920"/>
                <a:gd name="connsiteY21" fmla="*/ 0 h 45719"/>
                <a:gd name="connsiteX22" fmla="*/ 1570627 w 2026920"/>
                <a:gd name="connsiteY22" fmla="*/ 45719 h 45719"/>
                <a:gd name="connsiteX23" fmla="*/ 1522526 w 2026920"/>
                <a:gd name="connsiteY23" fmla="*/ 45719 h 45719"/>
                <a:gd name="connsiteX24" fmla="*/ 1431267 w 2026920"/>
                <a:gd name="connsiteY24" fmla="*/ 0 h 45719"/>
                <a:gd name="connsiteX25" fmla="*/ 1479368 w 2026920"/>
                <a:gd name="connsiteY25" fmla="*/ 0 h 45719"/>
                <a:gd name="connsiteX26" fmla="*/ 1479368 w 2026920"/>
                <a:gd name="connsiteY26" fmla="*/ 45719 h 45719"/>
                <a:gd name="connsiteX27" fmla="*/ 1431267 w 2026920"/>
                <a:gd name="connsiteY27" fmla="*/ 45719 h 45719"/>
                <a:gd name="connsiteX28" fmla="*/ 1340009 w 2026920"/>
                <a:gd name="connsiteY28" fmla="*/ 0 h 45719"/>
                <a:gd name="connsiteX29" fmla="*/ 1388110 w 2026920"/>
                <a:gd name="connsiteY29" fmla="*/ 0 h 45719"/>
                <a:gd name="connsiteX30" fmla="*/ 1388110 w 2026920"/>
                <a:gd name="connsiteY30" fmla="*/ 45719 h 45719"/>
                <a:gd name="connsiteX31" fmla="*/ 1340009 w 2026920"/>
                <a:gd name="connsiteY31" fmla="*/ 45719 h 45719"/>
                <a:gd name="connsiteX32" fmla="*/ 1248750 w 2026920"/>
                <a:gd name="connsiteY32" fmla="*/ 0 h 45719"/>
                <a:gd name="connsiteX33" fmla="*/ 1296851 w 2026920"/>
                <a:gd name="connsiteY33" fmla="*/ 0 h 45719"/>
                <a:gd name="connsiteX34" fmla="*/ 1296851 w 2026920"/>
                <a:gd name="connsiteY34" fmla="*/ 45719 h 45719"/>
                <a:gd name="connsiteX35" fmla="*/ 1248750 w 2026920"/>
                <a:gd name="connsiteY35" fmla="*/ 45719 h 45719"/>
                <a:gd name="connsiteX36" fmla="*/ 1157491 w 2026920"/>
                <a:gd name="connsiteY36" fmla="*/ 0 h 45719"/>
                <a:gd name="connsiteX37" fmla="*/ 1205592 w 2026920"/>
                <a:gd name="connsiteY37" fmla="*/ 0 h 45719"/>
                <a:gd name="connsiteX38" fmla="*/ 1205592 w 2026920"/>
                <a:gd name="connsiteY38" fmla="*/ 45719 h 45719"/>
                <a:gd name="connsiteX39" fmla="*/ 1157491 w 2026920"/>
                <a:gd name="connsiteY39" fmla="*/ 45719 h 45719"/>
                <a:gd name="connsiteX40" fmla="*/ 1066233 w 2026920"/>
                <a:gd name="connsiteY40" fmla="*/ 0 h 45719"/>
                <a:gd name="connsiteX41" fmla="*/ 1114334 w 2026920"/>
                <a:gd name="connsiteY41" fmla="*/ 0 h 45719"/>
                <a:gd name="connsiteX42" fmla="*/ 1114334 w 2026920"/>
                <a:gd name="connsiteY42" fmla="*/ 45719 h 45719"/>
                <a:gd name="connsiteX43" fmla="*/ 1066233 w 2026920"/>
                <a:gd name="connsiteY43" fmla="*/ 45719 h 45719"/>
                <a:gd name="connsiteX44" fmla="*/ 974974 w 2026920"/>
                <a:gd name="connsiteY44" fmla="*/ 0 h 45719"/>
                <a:gd name="connsiteX45" fmla="*/ 1023075 w 2026920"/>
                <a:gd name="connsiteY45" fmla="*/ 0 h 45719"/>
                <a:gd name="connsiteX46" fmla="*/ 1023075 w 2026920"/>
                <a:gd name="connsiteY46" fmla="*/ 45719 h 45719"/>
                <a:gd name="connsiteX47" fmla="*/ 974974 w 2026920"/>
                <a:gd name="connsiteY47" fmla="*/ 45719 h 45719"/>
                <a:gd name="connsiteX48" fmla="*/ 883716 w 2026920"/>
                <a:gd name="connsiteY48" fmla="*/ 0 h 45719"/>
                <a:gd name="connsiteX49" fmla="*/ 931817 w 2026920"/>
                <a:gd name="connsiteY49" fmla="*/ 0 h 45719"/>
                <a:gd name="connsiteX50" fmla="*/ 931817 w 2026920"/>
                <a:gd name="connsiteY50" fmla="*/ 45719 h 45719"/>
                <a:gd name="connsiteX51" fmla="*/ 883716 w 2026920"/>
                <a:gd name="connsiteY51" fmla="*/ 45719 h 45719"/>
                <a:gd name="connsiteX52" fmla="*/ 792457 w 2026920"/>
                <a:gd name="connsiteY52" fmla="*/ 0 h 45719"/>
                <a:gd name="connsiteX53" fmla="*/ 840558 w 2026920"/>
                <a:gd name="connsiteY53" fmla="*/ 0 h 45719"/>
                <a:gd name="connsiteX54" fmla="*/ 840558 w 2026920"/>
                <a:gd name="connsiteY54" fmla="*/ 45719 h 45719"/>
                <a:gd name="connsiteX55" fmla="*/ 792457 w 2026920"/>
                <a:gd name="connsiteY55" fmla="*/ 45719 h 45719"/>
                <a:gd name="connsiteX56" fmla="*/ 701198 w 2026920"/>
                <a:gd name="connsiteY56" fmla="*/ 0 h 45719"/>
                <a:gd name="connsiteX57" fmla="*/ 749299 w 2026920"/>
                <a:gd name="connsiteY57" fmla="*/ 0 h 45719"/>
                <a:gd name="connsiteX58" fmla="*/ 749299 w 2026920"/>
                <a:gd name="connsiteY58" fmla="*/ 45719 h 45719"/>
                <a:gd name="connsiteX59" fmla="*/ 701198 w 2026920"/>
                <a:gd name="connsiteY59" fmla="*/ 45719 h 45719"/>
                <a:gd name="connsiteX60" fmla="*/ 609940 w 2026920"/>
                <a:gd name="connsiteY60" fmla="*/ 0 h 45719"/>
                <a:gd name="connsiteX61" fmla="*/ 658041 w 2026920"/>
                <a:gd name="connsiteY61" fmla="*/ 0 h 45719"/>
                <a:gd name="connsiteX62" fmla="*/ 658041 w 2026920"/>
                <a:gd name="connsiteY62" fmla="*/ 45719 h 45719"/>
                <a:gd name="connsiteX63" fmla="*/ 609940 w 2026920"/>
                <a:gd name="connsiteY63" fmla="*/ 45719 h 45719"/>
                <a:gd name="connsiteX64" fmla="*/ 518681 w 2026920"/>
                <a:gd name="connsiteY64" fmla="*/ 0 h 45719"/>
                <a:gd name="connsiteX65" fmla="*/ 566782 w 2026920"/>
                <a:gd name="connsiteY65" fmla="*/ 0 h 45719"/>
                <a:gd name="connsiteX66" fmla="*/ 566782 w 2026920"/>
                <a:gd name="connsiteY66" fmla="*/ 45719 h 45719"/>
                <a:gd name="connsiteX67" fmla="*/ 518681 w 2026920"/>
                <a:gd name="connsiteY67" fmla="*/ 45719 h 45719"/>
                <a:gd name="connsiteX68" fmla="*/ 427422 w 2026920"/>
                <a:gd name="connsiteY68" fmla="*/ 0 h 45719"/>
                <a:gd name="connsiteX69" fmla="*/ 475523 w 2026920"/>
                <a:gd name="connsiteY69" fmla="*/ 0 h 45719"/>
                <a:gd name="connsiteX70" fmla="*/ 475523 w 2026920"/>
                <a:gd name="connsiteY70" fmla="*/ 45719 h 45719"/>
                <a:gd name="connsiteX71" fmla="*/ 427422 w 2026920"/>
                <a:gd name="connsiteY71" fmla="*/ 45719 h 45719"/>
                <a:gd name="connsiteX72" fmla="*/ 336164 w 2026920"/>
                <a:gd name="connsiteY72" fmla="*/ 0 h 45719"/>
                <a:gd name="connsiteX73" fmla="*/ 384265 w 2026920"/>
                <a:gd name="connsiteY73" fmla="*/ 0 h 45719"/>
                <a:gd name="connsiteX74" fmla="*/ 384265 w 2026920"/>
                <a:gd name="connsiteY74" fmla="*/ 45719 h 45719"/>
                <a:gd name="connsiteX75" fmla="*/ 336164 w 2026920"/>
                <a:gd name="connsiteY75" fmla="*/ 45719 h 45719"/>
                <a:gd name="connsiteX76" fmla="*/ 244905 w 2026920"/>
                <a:gd name="connsiteY76" fmla="*/ 0 h 45719"/>
                <a:gd name="connsiteX77" fmla="*/ 293006 w 2026920"/>
                <a:gd name="connsiteY77" fmla="*/ 0 h 45719"/>
                <a:gd name="connsiteX78" fmla="*/ 293006 w 2026920"/>
                <a:gd name="connsiteY78" fmla="*/ 45719 h 45719"/>
                <a:gd name="connsiteX79" fmla="*/ 244905 w 2026920"/>
                <a:gd name="connsiteY79" fmla="*/ 45719 h 45719"/>
                <a:gd name="connsiteX80" fmla="*/ 153647 w 2026920"/>
                <a:gd name="connsiteY80" fmla="*/ 0 h 45719"/>
                <a:gd name="connsiteX81" fmla="*/ 201748 w 2026920"/>
                <a:gd name="connsiteY81" fmla="*/ 0 h 45719"/>
                <a:gd name="connsiteX82" fmla="*/ 201748 w 2026920"/>
                <a:gd name="connsiteY82" fmla="*/ 45719 h 45719"/>
                <a:gd name="connsiteX83" fmla="*/ 153647 w 2026920"/>
                <a:gd name="connsiteY83" fmla="*/ 45719 h 45719"/>
                <a:gd name="connsiteX84" fmla="*/ 62388 w 2026920"/>
                <a:gd name="connsiteY84" fmla="*/ 0 h 45719"/>
                <a:gd name="connsiteX85" fmla="*/ 110489 w 2026920"/>
                <a:gd name="connsiteY85" fmla="*/ 0 h 45719"/>
                <a:gd name="connsiteX86" fmla="*/ 110489 w 2026920"/>
                <a:gd name="connsiteY86" fmla="*/ 45719 h 45719"/>
                <a:gd name="connsiteX87" fmla="*/ 62388 w 2026920"/>
                <a:gd name="connsiteY87" fmla="*/ 45719 h 45719"/>
                <a:gd name="connsiteX88" fmla="*/ 0 w 2026920"/>
                <a:gd name="connsiteY88" fmla="*/ 0 h 45719"/>
                <a:gd name="connsiteX89" fmla="*/ 48101 w 2026920"/>
                <a:gd name="connsiteY89" fmla="*/ 0 h 45719"/>
                <a:gd name="connsiteX90" fmla="*/ 48101 w 2026920"/>
                <a:gd name="connsiteY90" fmla="*/ 45719 h 45719"/>
                <a:gd name="connsiteX91" fmla="*/ 0 w 2026920"/>
                <a:gd name="connsiteY91"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2026920" h="45719">
                  <a:moveTo>
                    <a:pt x="1978819" y="0"/>
                  </a:moveTo>
                  <a:lnTo>
                    <a:pt x="2026920" y="0"/>
                  </a:lnTo>
                  <a:lnTo>
                    <a:pt x="2026920" y="45719"/>
                  </a:lnTo>
                  <a:lnTo>
                    <a:pt x="1978819" y="45719"/>
                  </a:lnTo>
                  <a:close/>
                  <a:moveTo>
                    <a:pt x="1887560" y="0"/>
                  </a:moveTo>
                  <a:lnTo>
                    <a:pt x="1935661" y="0"/>
                  </a:lnTo>
                  <a:lnTo>
                    <a:pt x="1935661" y="45719"/>
                  </a:lnTo>
                  <a:lnTo>
                    <a:pt x="1887560" y="45719"/>
                  </a:lnTo>
                  <a:close/>
                  <a:moveTo>
                    <a:pt x="1796302" y="0"/>
                  </a:moveTo>
                  <a:lnTo>
                    <a:pt x="1844403" y="0"/>
                  </a:lnTo>
                  <a:lnTo>
                    <a:pt x="1844403" y="45719"/>
                  </a:lnTo>
                  <a:lnTo>
                    <a:pt x="1796302" y="45719"/>
                  </a:lnTo>
                  <a:close/>
                  <a:moveTo>
                    <a:pt x="1705043" y="0"/>
                  </a:moveTo>
                  <a:lnTo>
                    <a:pt x="1753144" y="0"/>
                  </a:lnTo>
                  <a:lnTo>
                    <a:pt x="1753144" y="45719"/>
                  </a:lnTo>
                  <a:lnTo>
                    <a:pt x="1705043" y="45719"/>
                  </a:lnTo>
                  <a:close/>
                  <a:moveTo>
                    <a:pt x="1613785" y="0"/>
                  </a:moveTo>
                  <a:lnTo>
                    <a:pt x="1661886" y="0"/>
                  </a:lnTo>
                  <a:lnTo>
                    <a:pt x="1661886" y="45719"/>
                  </a:lnTo>
                  <a:lnTo>
                    <a:pt x="1613785" y="45719"/>
                  </a:lnTo>
                  <a:close/>
                  <a:moveTo>
                    <a:pt x="1522526" y="0"/>
                  </a:moveTo>
                  <a:lnTo>
                    <a:pt x="1570627" y="0"/>
                  </a:lnTo>
                  <a:lnTo>
                    <a:pt x="1570627" y="45719"/>
                  </a:lnTo>
                  <a:lnTo>
                    <a:pt x="1522526" y="45719"/>
                  </a:lnTo>
                  <a:close/>
                  <a:moveTo>
                    <a:pt x="1431267" y="0"/>
                  </a:moveTo>
                  <a:lnTo>
                    <a:pt x="1479368" y="0"/>
                  </a:lnTo>
                  <a:lnTo>
                    <a:pt x="1479368" y="45719"/>
                  </a:lnTo>
                  <a:lnTo>
                    <a:pt x="1431267" y="45719"/>
                  </a:lnTo>
                  <a:close/>
                  <a:moveTo>
                    <a:pt x="1340009" y="0"/>
                  </a:moveTo>
                  <a:lnTo>
                    <a:pt x="1388110" y="0"/>
                  </a:lnTo>
                  <a:lnTo>
                    <a:pt x="1388110" y="45719"/>
                  </a:lnTo>
                  <a:lnTo>
                    <a:pt x="1340009" y="45719"/>
                  </a:lnTo>
                  <a:close/>
                  <a:moveTo>
                    <a:pt x="1248750" y="0"/>
                  </a:moveTo>
                  <a:lnTo>
                    <a:pt x="1296851" y="0"/>
                  </a:lnTo>
                  <a:lnTo>
                    <a:pt x="1296851" y="45719"/>
                  </a:lnTo>
                  <a:lnTo>
                    <a:pt x="1248750" y="45719"/>
                  </a:lnTo>
                  <a:close/>
                  <a:moveTo>
                    <a:pt x="1157491" y="0"/>
                  </a:moveTo>
                  <a:lnTo>
                    <a:pt x="1205592" y="0"/>
                  </a:lnTo>
                  <a:lnTo>
                    <a:pt x="1205592" y="45719"/>
                  </a:lnTo>
                  <a:lnTo>
                    <a:pt x="1157491" y="45719"/>
                  </a:lnTo>
                  <a:close/>
                  <a:moveTo>
                    <a:pt x="1066233" y="0"/>
                  </a:moveTo>
                  <a:lnTo>
                    <a:pt x="1114334" y="0"/>
                  </a:lnTo>
                  <a:lnTo>
                    <a:pt x="1114334" y="45719"/>
                  </a:lnTo>
                  <a:lnTo>
                    <a:pt x="1066233" y="45719"/>
                  </a:lnTo>
                  <a:close/>
                  <a:moveTo>
                    <a:pt x="974974" y="0"/>
                  </a:moveTo>
                  <a:lnTo>
                    <a:pt x="1023075" y="0"/>
                  </a:lnTo>
                  <a:lnTo>
                    <a:pt x="1023075" y="45719"/>
                  </a:lnTo>
                  <a:lnTo>
                    <a:pt x="974974" y="45719"/>
                  </a:lnTo>
                  <a:close/>
                  <a:moveTo>
                    <a:pt x="883716" y="0"/>
                  </a:moveTo>
                  <a:lnTo>
                    <a:pt x="931817" y="0"/>
                  </a:lnTo>
                  <a:lnTo>
                    <a:pt x="931817" y="45719"/>
                  </a:lnTo>
                  <a:lnTo>
                    <a:pt x="883716" y="45719"/>
                  </a:lnTo>
                  <a:close/>
                  <a:moveTo>
                    <a:pt x="792457" y="0"/>
                  </a:moveTo>
                  <a:lnTo>
                    <a:pt x="840558" y="0"/>
                  </a:lnTo>
                  <a:lnTo>
                    <a:pt x="840558" y="45719"/>
                  </a:lnTo>
                  <a:lnTo>
                    <a:pt x="792457" y="45719"/>
                  </a:lnTo>
                  <a:close/>
                  <a:moveTo>
                    <a:pt x="701198" y="0"/>
                  </a:moveTo>
                  <a:lnTo>
                    <a:pt x="749299" y="0"/>
                  </a:lnTo>
                  <a:lnTo>
                    <a:pt x="749299" y="45719"/>
                  </a:lnTo>
                  <a:lnTo>
                    <a:pt x="701198" y="45719"/>
                  </a:lnTo>
                  <a:close/>
                  <a:moveTo>
                    <a:pt x="609940" y="0"/>
                  </a:moveTo>
                  <a:lnTo>
                    <a:pt x="658041" y="0"/>
                  </a:lnTo>
                  <a:lnTo>
                    <a:pt x="658041" y="45719"/>
                  </a:lnTo>
                  <a:lnTo>
                    <a:pt x="609940" y="45719"/>
                  </a:lnTo>
                  <a:close/>
                  <a:moveTo>
                    <a:pt x="518681" y="0"/>
                  </a:moveTo>
                  <a:lnTo>
                    <a:pt x="566782" y="0"/>
                  </a:lnTo>
                  <a:lnTo>
                    <a:pt x="566782" y="45719"/>
                  </a:lnTo>
                  <a:lnTo>
                    <a:pt x="518681" y="45719"/>
                  </a:lnTo>
                  <a:close/>
                  <a:moveTo>
                    <a:pt x="427422" y="0"/>
                  </a:moveTo>
                  <a:lnTo>
                    <a:pt x="475523" y="0"/>
                  </a:lnTo>
                  <a:lnTo>
                    <a:pt x="475523" y="45719"/>
                  </a:lnTo>
                  <a:lnTo>
                    <a:pt x="427422" y="45719"/>
                  </a:lnTo>
                  <a:close/>
                  <a:moveTo>
                    <a:pt x="336164" y="0"/>
                  </a:moveTo>
                  <a:lnTo>
                    <a:pt x="384265" y="0"/>
                  </a:lnTo>
                  <a:lnTo>
                    <a:pt x="384265" y="45719"/>
                  </a:lnTo>
                  <a:lnTo>
                    <a:pt x="336164" y="45719"/>
                  </a:lnTo>
                  <a:close/>
                  <a:moveTo>
                    <a:pt x="244905" y="0"/>
                  </a:moveTo>
                  <a:lnTo>
                    <a:pt x="293006" y="0"/>
                  </a:lnTo>
                  <a:lnTo>
                    <a:pt x="293006" y="45719"/>
                  </a:lnTo>
                  <a:lnTo>
                    <a:pt x="244905" y="45719"/>
                  </a:lnTo>
                  <a:close/>
                  <a:moveTo>
                    <a:pt x="153647" y="0"/>
                  </a:moveTo>
                  <a:lnTo>
                    <a:pt x="201748" y="0"/>
                  </a:lnTo>
                  <a:lnTo>
                    <a:pt x="201748" y="45719"/>
                  </a:lnTo>
                  <a:lnTo>
                    <a:pt x="153647" y="45719"/>
                  </a:lnTo>
                  <a:close/>
                  <a:moveTo>
                    <a:pt x="62388" y="0"/>
                  </a:moveTo>
                  <a:lnTo>
                    <a:pt x="110489" y="0"/>
                  </a:lnTo>
                  <a:lnTo>
                    <a:pt x="110489" y="45719"/>
                  </a:lnTo>
                  <a:lnTo>
                    <a:pt x="62388" y="45719"/>
                  </a:lnTo>
                  <a:close/>
                  <a:moveTo>
                    <a:pt x="0" y="0"/>
                  </a:moveTo>
                  <a:lnTo>
                    <a:pt x="48101" y="0"/>
                  </a:lnTo>
                  <a:lnTo>
                    <a:pt x="48101" y="45719"/>
                  </a:lnTo>
                  <a:lnTo>
                    <a:pt x="0" y="45719"/>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11" name="平行四边形 10"/>
          <p:cNvSpPr/>
          <p:nvPr/>
        </p:nvSpPr>
        <p:spPr>
          <a:xfrm flipH="1">
            <a:off x="5386031" y="104979"/>
            <a:ext cx="1319982" cy="501446"/>
          </a:xfrm>
          <a:prstGeom prst="parallelogram">
            <a:avLst/>
          </a:prstGeom>
          <a:solidFill>
            <a:schemeClr val="accent4"/>
          </a:solid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12" name="平行四边形 11"/>
          <p:cNvSpPr/>
          <p:nvPr/>
        </p:nvSpPr>
        <p:spPr>
          <a:xfrm flipH="1">
            <a:off x="2693127" y="115139"/>
            <a:ext cx="1319982" cy="501446"/>
          </a:xfrm>
          <a:prstGeom prst="parallelogram">
            <a:avLst/>
          </a:prstGeom>
          <a:no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10" name="文本框 9"/>
          <p:cNvSpPr txBox="1"/>
          <p:nvPr/>
        </p:nvSpPr>
        <p:spPr>
          <a:xfrm>
            <a:off x="5533553" y="196641"/>
            <a:ext cx="1070927"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核心技术</a:t>
            </a:r>
            <a:endParaRPr lang="zh-CN" altLang="en-US" sz="1600" dirty="0">
              <a:solidFill>
                <a:schemeClr val="bg1"/>
              </a:solidFill>
              <a:latin typeface="思源黑体" panose="020B0800000000000000" pitchFamily="34" charset="-122"/>
              <a:ea typeface="思源黑体" panose="020B0800000000000000" pitchFamily="34" charset="-122"/>
            </a:endParaRPr>
          </a:p>
        </p:txBody>
      </p:sp>
      <p:sp>
        <p:nvSpPr>
          <p:cNvPr id="8" name="文本框 7"/>
          <p:cNvSpPr txBox="1"/>
          <p:nvPr/>
        </p:nvSpPr>
        <p:spPr>
          <a:xfrm>
            <a:off x="2852084" y="196641"/>
            <a:ext cx="1120740"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项目背景</a:t>
            </a:r>
            <a:endParaRPr lang="zh-CN" altLang="en-US" sz="1600" dirty="0">
              <a:solidFill>
                <a:schemeClr val="bg1"/>
              </a:solidFill>
              <a:latin typeface="思源黑体" panose="020B0800000000000000" pitchFamily="34" charset="-122"/>
              <a:ea typeface="思源黑体" panose="020B0800000000000000" pitchFamily="34" charset="-122"/>
            </a:endParaRPr>
          </a:p>
        </p:txBody>
      </p:sp>
      <p:sp>
        <p:nvSpPr>
          <p:cNvPr id="13" name="AutoShape 2"/>
          <p:cNvSpPr/>
          <p:nvPr/>
        </p:nvSpPr>
        <p:spPr>
          <a:xfrm>
            <a:off x="650240" y="1143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endParaRPr lang="en-US" sz="3200" b="1" i="0" u="none" strike="noStrike">
              <a:solidFill>
                <a:srgbClr val="02348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68" name="直接连接符 67"/>
          <p:cNvCxnSpPr/>
          <p:nvPr>
            <p:custDataLst>
              <p:tags r:id="rId2"/>
            </p:custDataLst>
          </p:nvPr>
        </p:nvCxnSpPr>
        <p:spPr>
          <a:xfrm flipH="1">
            <a:off x="1137285" y="2345055"/>
            <a:ext cx="3363595" cy="1905"/>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85" name="椭圆 84"/>
          <p:cNvSpPr/>
          <p:nvPr>
            <p:custDataLst>
              <p:tags r:id="rId3"/>
            </p:custDataLst>
          </p:nvPr>
        </p:nvSpPr>
        <p:spPr>
          <a:xfrm>
            <a:off x="1108075" y="2296160"/>
            <a:ext cx="87630" cy="8763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87" name="弧形 86"/>
          <p:cNvSpPr/>
          <p:nvPr>
            <p:custDataLst>
              <p:tags r:id="rId4"/>
            </p:custDataLst>
          </p:nvPr>
        </p:nvSpPr>
        <p:spPr>
          <a:xfrm>
            <a:off x="4767580" y="1492885"/>
            <a:ext cx="2065020" cy="2008505"/>
          </a:xfrm>
          <a:prstGeom prst="arc">
            <a:avLst>
              <a:gd name="adj1" fmla="val 10531014"/>
              <a:gd name="adj2" fmla="val 12654201"/>
            </a:avLst>
          </a:prstGeom>
          <a:noFill/>
          <a:ln w="25400" cap="flat" cmpd="sng" algn="ctr">
            <a:solidFill>
              <a:schemeClr val="accent1"/>
            </a:solidFill>
            <a:prstDash val="solid"/>
            <a:miter lim="800000"/>
            <a:headEnd type="oval"/>
            <a:tailEnd type="none"/>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88" name="弧形 87"/>
          <p:cNvSpPr/>
          <p:nvPr>
            <p:custDataLst>
              <p:tags r:id="rId5"/>
            </p:custDataLst>
          </p:nvPr>
        </p:nvSpPr>
        <p:spPr>
          <a:xfrm>
            <a:off x="4767580" y="1492885"/>
            <a:ext cx="2065020" cy="2008505"/>
          </a:xfrm>
          <a:prstGeom prst="arc">
            <a:avLst>
              <a:gd name="adj1" fmla="val 9194216"/>
              <a:gd name="adj2" fmla="val 10224935"/>
            </a:avLst>
          </a:prstGeom>
          <a:noFill/>
          <a:ln w="25400" cap="flat" cmpd="sng" algn="ctr">
            <a:solidFill>
              <a:schemeClr val="accent1"/>
            </a:solidFill>
            <a:prstDash val="solid"/>
            <a:miter lim="800000"/>
            <a:headEnd type="none"/>
            <a:tailEnd type="none"/>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89" name="弧形 88"/>
          <p:cNvSpPr/>
          <p:nvPr>
            <p:custDataLst>
              <p:tags r:id="rId6"/>
            </p:custDataLst>
          </p:nvPr>
        </p:nvSpPr>
        <p:spPr>
          <a:xfrm>
            <a:off x="4767580" y="1492885"/>
            <a:ext cx="2065020" cy="2008505"/>
          </a:xfrm>
          <a:prstGeom prst="arc">
            <a:avLst>
              <a:gd name="adj1" fmla="val 5241815"/>
              <a:gd name="adj2" fmla="val 9051982"/>
            </a:avLst>
          </a:prstGeom>
          <a:noFill/>
          <a:ln w="25400" cap="flat" cmpd="sng" algn="ctr">
            <a:solidFill>
              <a:schemeClr val="accent1"/>
            </a:solidFill>
            <a:prstDash val="solid"/>
            <a:miter lim="800000"/>
            <a:headEnd type="oval"/>
            <a:tailEnd type="none"/>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90" name="弧形 89"/>
          <p:cNvSpPr/>
          <p:nvPr>
            <p:custDataLst>
              <p:tags r:id="rId7"/>
            </p:custDataLst>
          </p:nvPr>
        </p:nvSpPr>
        <p:spPr>
          <a:xfrm>
            <a:off x="4767580" y="1492885"/>
            <a:ext cx="2065020" cy="2008505"/>
          </a:xfrm>
          <a:prstGeom prst="arc">
            <a:avLst>
              <a:gd name="adj1" fmla="val 1983261"/>
              <a:gd name="adj2" fmla="val 4886885"/>
            </a:avLst>
          </a:prstGeom>
          <a:noFill/>
          <a:ln w="25400" cap="flat" cmpd="sng" algn="ctr">
            <a:solidFill>
              <a:schemeClr val="accent1"/>
            </a:solidFill>
            <a:prstDash val="solid"/>
            <a:miter lim="800000"/>
            <a:headEnd type="none"/>
            <a:tailEnd type="none"/>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91" name="弧形 90"/>
          <p:cNvSpPr/>
          <p:nvPr>
            <p:custDataLst>
              <p:tags r:id="rId8"/>
            </p:custDataLst>
          </p:nvPr>
        </p:nvSpPr>
        <p:spPr>
          <a:xfrm>
            <a:off x="4767580" y="1492885"/>
            <a:ext cx="2064385" cy="2008505"/>
          </a:xfrm>
          <a:prstGeom prst="arc">
            <a:avLst>
              <a:gd name="adj1" fmla="val 138107"/>
              <a:gd name="adj2" fmla="val 1817282"/>
            </a:avLst>
          </a:prstGeom>
          <a:noFill/>
          <a:ln w="25400" cap="flat" cmpd="sng" algn="ctr">
            <a:solidFill>
              <a:schemeClr val="accent1"/>
            </a:solidFill>
            <a:prstDash val="solid"/>
            <a:miter lim="800000"/>
            <a:headEnd type="oval"/>
            <a:tailEnd type="none"/>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92" name="弧形 91"/>
          <p:cNvSpPr/>
          <p:nvPr>
            <p:custDataLst>
              <p:tags r:id="rId9"/>
            </p:custDataLst>
          </p:nvPr>
        </p:nvSpPr>
        <p:spPr>
          <a:xfrm>
            <a:off x="4767580" y="1492885"/>
            <a:ext cx="2065020" cy="2008505"/>
          </a:xfrm>
          <a:prstGeom prst="arc">
            <a:avLst>
              <a:gd name="adj1" fmla="val 19913688"/>
              <a:gd name="adj2" fmla="val 21506966"/>
            </a:avLst>
          </a:prstGeom>
          <a:noFill/>
          <a:ln w="25400" cap="flat" cmpd="sng" algn="ctr">
            <a:solidFill>
              <a:schemeClr val="accent1"/>
            </a:solidFill>
            <a:prstDash val="solid"/>
            <a:miter lim="800000"/>
            <a:headEnd type="none"/>
            <a:tailEnd type="none"/>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69" name="椭圆 68"/>
          <p:cNvSpPr/>
          <p:nvPr>
            <p:custDataLst>
              <p:tags r:id="rId10"/>
            </p:custDataLst>
          </p:nvPr>
        </p:nvSpPr>
        <p:spPr>
          <a:xfrm>
            <a:off x="4957445" y="1684020"/>
            <a:ext cx="1722120" cy="1588770"/>
          </a:xfrm>
          <a:prstGeom prst="ellipse">
            <a:avLst/>
          </a:prstGeom>
          <a:gradFill flip="none" rotWithShape="1">
            <a:gsLst>
              <a:gs pos="85000">
                <a:schemeClr val="accent1">
                  <a:lumMod val="75000"/>
                </a:schemeClr>
              </a:gs>
              <a:gs pos="43000">
                <a:schemeClr val="accent1"/>
              </a:gs>
              <a:gs pos="2000">
                <a:schemeClr val="accent1">
                  <a:lumMod val="60000"/>
                  <a:lumOff val="40000"/>
                </a:schemeClr>
              </a:gs>
            </a:gsLst>
            <a:lin ang="2700000" scaled="1"/>
            <a:tileRect/>
          </a:gradFill>
          <a:ln>
            <a:noFill/>
          </a:ln>
          <a:effectLst>
            <a:outerShdw blurRad="177800" dist="88900" dir="5400000" sx="101000" sy="101000" algn="t"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pPr>
            <a:r>
              <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rPr>
              <a:t>多源异构数据治理与鲁棒样本构建</a:t>
            </a: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70" name="弧形 69"/>
          <p:cNvSpPr/>
          <p:nvPr>
            <p:custDataLst>
              <p:tags r:id="rId11"/>
            </p:custDataLst>
          </p:nvPr>
        </p:nvSpPr>
        <p:spPr>
          <a:xfrm>
            <a:off x="4767580" y="1492885"/>
            <a:ext cx="2065020" cy="2008505"/>
          </a:xfrm>
          <a:prstGeom prst="arc">
            <a:avLst>
              <a:gd name="adj1" fmla="val 12947235"/>
              <a:gd name="adj2" fmla="val 15334976"/>
            </a:avLst>
          </a:prstGeom>
          <a:noFill/>
          <a:ln w="25400" cap="flat" cmpd="sng" algn="ctr">
            <a:solidFill>
              <a:schemeClr val="accent1"/>
            </a:solidFill>
            <a:prstDash val="solid"/>
            <a:miter lim="800000"/>
            <a:headEnd type="none"/>
            <a:tailEnd type="none"/>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71" name="弧形 70"/>
          <p:cNvSpPr/>
          <p:nvPr>
            <p:custDataLst>
              <p:tags r:id="rId12"/>
            </p:custDataLst>
          </p:nvPr>
        </p:nvSpPr>
        <p:spPr>
          <a:xfrm>
            <a:off x="4767580" y="1492885"/>
            <a:ext cx="2065020" cy="2008505"/>
          </a:xfrm>
          <a:prstGeom prst="arc">
            <a:avLst>
              <a:gd name="adj1" fmla="val 15789769"/>
              <a:gd name="adj2" fmla="val 19801853"/>
            </a:avLst>
          </a:prstGeom>
          <a:noFill/>
          <a:ln w="25400" cap="flat" cmpd="sng" algn="ctr">
            <a:solidFill>
              <a:schemeClr val="accent1"/>
            </a:solidFill>
            <a:prstDash val="solid"/>
            <a:miter lim="800000"/>
            <a:headEnd type="oval"/>
            <a:tailEnd type="none"/>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cxnSp>
        <p:nvCxnSpPr>
          <p:cNvPr id="74" name="直接连接符 73"/>
          <p:cNvCxnSpPr/>
          <p:nvPr>
            <p:custDataLst>
              <p:tags r:id="rId13"/>
            </p:custDataLst>
          </p:nvPr>
        </p:nvCxnSpPr>
        <p:spPr>
          <a:xfrm flipH="1" flipV="1">
            <a:off x="6976745" y="2345055"/>
            <a:ext cx="1409700" cy="1016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18" name="椭圆 117"/>
          <p:cNvSpPr/>
          <p:nvPr>
            <p:custDataLst>
              <p:tags r:id="rId14"/>
            </p:custDataLst>
          </p:nvPr>
        </p:nvSpPr>
        <p:spPr>
          <a:xfrm>
            <a:off x="8372475" y="2326005"/>
            <a:ext cx="87630" cy="8763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cxnSp>
        <p:nvCxnSpPr>
          <p:cNvPr id="75" name="直接连接符 74"/>
          <p:cNvCxnSpPr/>
          <p:nvPr>
            <p:custDataLst>
              <p:tags r:id="rId15"/>
            </p:custDataLst>
          </p:nvPr>
        </p:nvCxnSpPr>
        <p:spPr>
          <a:xfrm flipV="1">
            <a:off x="5782945" y="3625215"/>
            <a:ext cx="9525" cy="129667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76" name="椭圆 75"/>
          <p:cNvSpPr/>
          <p:nvPr>
            <p:custDataLst>
              <p:tags r:id="rId16"/>
            </p:custDataLst>
          </p:nvPr>
        </p:nvSpPr>
        <p:spPr>
          <a:xfrm>
            <a:off x="5735320" y="4864735"/>
            <a:ext cx="87630" cy="8763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marL="0" marR="0" lvl="0" indent="0" algn="l" defTabSz="914400" rtl="0" eaLnBrk="1" fontAlgn="auto" latinLnBrk="0" hangingPunct="1">
              <a:lnSpc>
                <a:spcPct val="100000"/>
              </a:lnSpc>
              <a:spcBef>
                <a:spcPts val="0"/>
              </a:spcBef>
              <a:spcAft>
                <a:spcPts val="0"/>
              </a:spcAft>
              <a:buClrTx/>
              <a:buSzTx/>
              <a:buFontTx/>
              <a:buNone/>
            </a:pPr>
            <a:endParaRPr kumimoji="0" lang="zh-CN" altLang="en-US" sz="16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78" name="文本框 77"/>
          <p:cNvSpPr txBox="1"/>
          <p:nvPr/>
        </p:nvSpPr>
        <p:spPr>
          <a:xfrm>
            <a:off x="1292860" y="1958975"/>
            <a:ext cx="2750820" cy="337185"/>
          </a:xfrm>
          <a:prstGeom prst="rect">
            <a:avLst/>
          </a:prstGeom>
        </p:spPr>
        <p:txBody>
          <a:bodyPr wrap="square">
            <a:spAutoFit/>
          </a:bodyPr>
          <a:p>
            <a:pPr marL="0" indent="0"/>
            <a:r>
              <a:rPr lang="zh-CN" altLang="en-US" sz="1600" b="1" i="0">
                <a:solidFill>
                  <a:srgbClr val="0F1115"/>
                </a:solidFill>
                <a:latin typeface="quote-cjk-patch"/>
                <a:ea typeface="quote-cjk-patch"/>
              </a:rPr>
              <a:t>国产卫星数据预处理链</a:t>
            </a:r>
            <a:endParaRPr lang="zh-CN" altLang="en-US" sz="1600" b="1" i="0">
              <a:solidFill>
                <a:srgbClr val="0F1115"/>
              </a:solidFill>
              <a:latin typeface="quote-cjk-patch"/>
              <a:ea typeface="quote-cjk-patch"/>
            </a:endParaRPr>
          </a:p>
        </p:txBody>
      </p:sp>
      <p:sp>
        <p:nvSpPr>
          <p:cNvPr id="79" name="文本框 78"/>
          <p:cNvSpPr txBox="1"/>
          <p:nvPr/>
        </p:nvSpPr>
        <p:spPr>
          <a:xfrm>
            <a:off x="7033260" y="1690370"/>
            <a:ext cx="1237615" cy="583565"/>
          </a:xfrm>
          <a:prstGeom prst="rect">
            <a:avLst/>
          </a:prstGeom>
        </p:spPr>
        <p:txBody>
          <a:bodyPr wrap="square">
            <a:spAutoFit/>
          </a:bodyPr>
          <a:p>
            <a:pPr marL="0" indent="0"/>
            <a:r>
              <a:rPr lang="zh-CN" altLang="en-US" sz="1600" b="1" i="0">
                <a:solidFill>
                  <a:srgbClr val="0F1115"/>
                </a:solidFill>
                <a:latin typeface="quote-cjk-patch"/>
                <a:ea typeface="quote-cjk-patch"/>
              </a:rPr>
              <a:t>空间隔离数据集构建</a:t>
            </a:r>
            <a:endParaRPr lang="zh-CN" altLang="en-US" sz="1600" b="1" i="0">
              <a:solidFill>
                <a:srgbClr val="0F1115"/>
              </a:solidFill>
              <a:latin typeface="quote-cjk-patch"/>
              <a:ea typeface="quote-cjk-patch"/>
            </a:endParaRPr>
          </a:p>
        </p:txBody>
      </p:sp>
      <p:sp>
        <p:nvSpPr>
          <p:cNvPr id="80" name="文本框 79"/>
          <p:cNvSpPr txBox="1"/>
          <p:nvPr/>
        </p:nvSpPr>
        <p:spPr>
          <a:xfrm>
            <a:off x="5908675" y="3738880"/>
            <a:ext cx="1237615" cy="583565"/>
          </a:xfrm>
          <a:prstGeom prst="rect">
            <a:avLst/>
          </a:prstGeom>
        </p:spPr>
        <p:txBody>
          <a:bodyPr wrap="square">
            <a:spAutoFit/>
          </a:bodyPr>
          <a:p>
            <a:pPr marL="0" indent="0"/>
            <a:r>
              <a:rPr lang="zh-CN" altLang="en-US" sz="1600" b="1" i="0">
                <a:solidFill>
                  <a:srgbClr val="0F1115"/>
                </a:solidFill>
                <a:latin typeface="quote-cjk-patch"/>
                <a:ea typeface="quote-cjk-patch"/>
              </a:rPr>
              <a:t>长尾分布与小样本扩展</a:t>
            </a:r>
            <a:endParaRPr lang="zh-CN" altLang="en-US" sz="1600" b="1" i="0">
              <a:solidFill>
                <a:srgbClr val="0F1115"/>
              </a:solidFill>
              <a:latin typeface="quote-cjk-patch"/>
              <a:ea typeface="quote-cjk-patch"/>
            </a:endParaRPr>
          </a:p>
        </p:txBody>
      </p:sp>
      <p:sp>
        <p:nvSpPr>
          <p:cNvPr id="129" name="圆角矩形 128"/>
          <p:cNvSpPr/>
          <p:nvPr/>
        </p:nvSpPr>
        <p:spPr>
          <a:xfrm>
            <a:off x="207645" y="2517775"/>
            <a:ext cx="4637405" cy="4059555"/>
          </a:xfrm>
          <a:prstGeom prst="roundRect">
            <a:avLst/>
          </a:prstGeom>
          <a:solidFill>
            <a:schemeClr val="bg1">
              <a:alpha val="52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nvGrpSpPr>
          <p:cNvPr id="152" name="组合 151"/>
          <p:cNvGrpSpPr/>
          <p:nvPr/>
        </p:nvGrpSpPr>
        <p:grpSpPr>
          <a:xfrm>
            <a:off x="207645" y="2731135"/>
            <a:ext cx="2286635" cy="762000"/>
            <a:chOff x="327" y="4320"/>
            <a:chExt cx="3601" cy="1200"/>
          </a:xfrm>
        </p:grpSpPr>
        <p:sp>
          <p:nvSpPr>
            <p:cNvPr id="134" name="AutoShape 9"/>
            <p:cNvSpPr/>
            <p:nvPr/>
          </p:nvSpPr>
          <p:spPr>
            <a:xfrm>
              <a:off x="327" y="4320"/>
              <a:ext cx="3500" cy="1200"/>
            </a:xfrm>
            <a:prstGeom prst="roundRect">
              <a:avLst>
                <a:gd name="adj" fmla="val 1000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135" name="AutoShape 10"/>
            <p:cNvSpPr/>
            <p:nvPr/>
          </p:nvSpPr>
          <p:spPr>
            <a:xfrm>
              <a:off x="527" y="4420"/>
              <a:ext cx="600" cy="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E5FF"/>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136" name="AutoShape 11"/>
            <p:cNvSpPr/>
            <p:nvPr/>
          </p:nvSpPr>
          <p:spPr>
            <a:xfrm>
              <a:off x="1228" y="4504"/>
              <a:ext cx="2700" cy="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辐射定标</a:t>
              </a:r>
              <a:endParaRPr lang="zh-CN" altLang="en-US" sz="10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25000"/>
                </a:lnSpc>
              </a:pPr>
              <a:r>
                <a:rPr lang="en-US" sz="12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转为物理辐射值</a:t>
              </a:r>
              <a:endParaRPr lang="en-US" sz="12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grpSp>
        <p:nvGrpSpPr>
          <p:cNvPr id="154" name="组合 153"/>
          <p:cNvGrpSpPr/>
          <p:nvPr/>
        </p:nvGrpSpPr>
        <p:grpSpPr>
          <a:xfrm>
            <a:off x="271780" y="4060825"/>
            <a:ext cx="2222500" cy="762000"/>
            <a:chOff x="327" y="5720"/>
            <a:chExt cx="3500" cy="1200"/>
          </a:xfrm>
        </p:grpSpPr>
        <p:sp>
          <p:nvSpPr>
            <p:cNvPr id="137" name="AutoShape 12"/>
            <p:cNvSpPr/>
            <p:nvPr/>
          </p:nvSpPr>
          <p:spPr>
            <a:xfrm>
              <a:off x="327" y="5720"/>
              <a:ext cx="3500" cy="1200"/>
            </a:xfrm>
            <a:prstGeom prst="roundRect">
              <a:avLst>
                <a:gd name="adj" fmla="val 1000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138" name="AutoShape 13"/>
            <p:cNvSpPr/>
            <p:nvPr/>
          </p:nvSpPr>
          <p:spPr>
            <a:xfrm>
              <a:off x="527" y="5820"/>
              <a:ext cx="600" cy="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E5FF"/>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39" name="AutoShape 14"/>
            <p:cNvSpPr/>
            <p:nvPr/>
          </p:nvSpPr>
          <p:spPr>
            <a:xfrm>
              <a:off x="1327" y="5860"/>
              <a:ext cx="2400" cy="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大气校正</a:t>
              </a:r>
              <a:endParaRPr lang="en-US" sz="1400">
                <a:solidFill>
                  <a:schemeClr val="tx1"/>
                </a:solidFill>
              </a:endParaRPr>
            </a:p>
            <a:p>
              <a:pPr indent="0" algn="l">
                <a:lnSpc>
                  <a:spcPct val="125000"/>
                </a:lnSpc>
              </a:pPr>
              <a:r>
                <a:rPr lang="en-US" sz="12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还原地表真实反射率</a:t>
              </a:r>
              <a:endParaRPr lang="en-US" sz="12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sp>
        <p:nvSpPr>
          <p:cNvPr id="140" name="AutoShape 15"/>
          <p:cNvSpPr/>
          <p:nvPr/>
        </p:nvSpPr>
        <p:spPr>
          <a:xfrm>
            <a:off x="716915" y="4822825"/>
            <a:ext cx="1714500" cy="294640"/>
          </a:xfrm>
          <a:prstGeom prst="roundRect">
            <a:avLst>
              <a:gd name="adj" fmla="val 1200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grpSp>
        <p:nvGrpSpPr>
          <p:cNvPr id="156" name="组合 155"/>
          <p:cNvGrpSpPr/>
          <p:nvPr/>
        </p:nvGrpSpPr>
        <p:grpSpPr>
          <a:xfrm>
            <a:off x="335915" y="5441315"/>
            <a:ext cx="2032000" cy="533400"/>
            <a:chOff x="527" y="7220"/>
            <a:chExt cx="3200" cy="840"/>
          </a:xfrm>
        </p:grpSpPr>
        <p:sp>
          <p:nvSpPr>
            <p:cNvPr id="141" name="AutoShape 16"/>
            <p:cNvSpPr/>
            <p:nvPr/>
          </p:nvSpPr>
          <p:spPr>
            <a:xfrm>
              <a:off x="527" y="7220"/>
              <a:ext cx="600" cy="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E5FF"/>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42" name="AutoShape 17"/>
            <p:cNvSpPr/>
            <p:nvPr/>
          </p:nvSpPr>
          <p:spPr>
            <a:xfrm>
              <a:off x="1327" y="7260"/>
              <a:ext cx="2400" cy="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正射校正</a:t>
              </a:r>
              <a:endParaRPr lang="en-US" sz="1400">
                <a:solidFill>
                  <a:schemeClr val="tx1"/>
                </a:solidFill>
              </a:endParaRPr>
            </a:p>
            <a:p>
              <a:pPr indent="0" algn="l">
                <a:lnSpc>
                  <a:spcPct val="125000"/>
                </a:lnSpc>
              </a:pPr>
              <a:r>
                <a:rPr lang="en-US" sz="12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消除几何畸变</a:t>
              </a:r>
              <a:endParaRPr lang="en-US" sz="12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grpSp>
        <p:nvGrpSpPr>
          <p:cNvPr id="153" name="组合 152"/>
          <p:cNvGrpSpPr/>
          <p:nvPr/>
        </p:nvGrpSpPr>
        <p:grpSpPr>
          <a:xfrm>
            <a:off x="2689225" y="2731135"/>
            <a:ext cx="2222500" cy="762000"/>
            <a:chOff x="4227" y="4320"/>
            <a:chExt cx="3500" cy="1200"/>
          </a:xfrm>
        </p:grpSpPr>
        <p:sp>
          <p:nvSpPr>
            <p:cNvPr id="143" name="AutoShape 18"/>
            <p:cNvSpPr/>
            <p:nvPr/>
          </p:nvSpPr>
          <p:spPr>
            <a:xfrm>
              <a:off x="4227" y="4320"/>
              <a:ext cx="3500" cy="1200"/>
            </a:xfrm>
            <a:prstGeom prst="roundRect">
              <a:avLst>
                <a:gd name="adj" fmla="val 1000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sp>
          <p:nvSpPr>
            <p:cNvPr id="144" name="AutoShape 19"/>
            <p:cNvSpPr/>
            <p:nvPr/>
          </p:nvSpPr>
          <p:spPr>
            <a:xfrm>
              <a:off x="4427" y="4420"/>
              <a:ext cx="600" cy="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E5FF"/>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145" name="AutoShape 20"/>
            <p:cNvSpPr/>
            <p:nvPr/>
          </p:nvSpPr>
          <p:spPr>
            <a:xfrm>
              <a:off x="5227" y="4460"/>
              <a:ext cx="2400" cy="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图像融合</a:t>
              </a:r>
              <a:endParaRPr lang="en-US" sz="1400">
                <a:solidFill>
                  <a:schemeClr val="tx1"/>
                </a:solidFill>
              </a:endParaRPr>
            </a:p>
            <a:p>
              <a:pPr indent="0" algn="l">
                <a:lnSpc>
                  <a:spcPct val="125000"/>
                </a:lnSpc>
              </a:pPr>
              <a:r>
                <a:rPr lang="en-US" sz="12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提升影像分辨率</a:t>
              </a:r>
              <a:endParaRPr lang="en-US" sz="12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sp>
        <p:nvSpPr>
          <p:cNvPr id="146" name="AutoShape 21"/>
          <p:cNvSpPr/>
          <p:nvPr/>
        </p:nvSpPr>
        <p:spPr>
          <a:xfrm>
            <a:off x="2684145" y="3865880"/>
            <a:ext cx="2222500" cy="762000"/>
          </a:xfrm>
          <a:prstGeom prst="roundRect">
            <a:avLst>
              <a:gd name="adj" fmla="val 10000"/>
            </a:avLst>
          </a:prstGeom>
          <a:solidFill>
            <a:srgbClr val="FFFFFF">
              <a:alpha val="5000"/>
            </a:srgbClr>
          </a:solidFill>
          <a:ln w="25400" cap="flat" cmpd="sng">
            <a:noFill/>
            <a:prstDash val="solid"/>
            <a:round/>
          </a:ln>
        </p:spPr>
        <p:txBody>
          <a:bodyPr vert="horz" wrap="square" lIns="63500" tIns="63500" rIns="63500" bIns="63500" rtlCol="0" anchor="ctr"/>
          <a:lstStyle/>
          <a:p>
            <a:pPr algn="ctr">
              <a:defRPr/>
            </a:pPr>
          </a:p>
        </p:txBody>
      </p:sp>
      <p:grpSp>
        <p:nvGrpSpPr>
          <p:cNvPr id="155" name="组合 154"/>
          <p:cNvGrpSpPr/>
          <p:nvPr/>
        </p:nvGrpSpPr>
        <p:grpSpPr>
          <a:xfrm>
            <a:off x="2812415" y="4121785"/>
            <a:ext cx="2032000" cy="660400"/>
            <a:chOff x="4427" y="5820"/>
            <a:chExt cx="3200" cy="1040"/>
          </a:xfrm>
        </p:grpSpPr>
        <p:sp>
          <p:nvSpPr>
            <p:cNvPr id="147" name="AutoShape 22"/>
            <p:cNvSpPr/>
            <p:nvPr/>
          </p:nvSpPr>
          <p:spPr>
            <a:xfrm>
              <a:off x="4427" y="5820"/>
              <a:ext cx="600" cy="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E5FF"/>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148" name="AutoShape 23"/>
            <p:cNvSpPr/>
            <p:nvPr/>
          </p:nvSpPr>
          <p:spPr>
            <a:xfrm>
              <a:off x="5227" y="5860"/>
              <a:ext cx="2400" cy="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标准分块</a:t>
              </a:r>
              <a:endParaRPr lang="en-US" sz="1400">
                <a:solidFill>
                  <a:schemeClr val="tx1"/>
                </a:solidFill>
              </a:endParaRPr>
            </a:p>
            <a:p>
              <a:pPr indent="0" algn="l">
                <a:lnSpc>
                  <a:spcPct val="125000"/>
                </a:lnSpc>
              </a:pPr>
              <a:r>
                <a:rPr lang="en-US" sz="12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归一化固定尺寸</a:t>
              </a:r>
              <a:endParaRPr lang="en-US" sz="1200" b="0"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grpSp>
        <p:nvGrpSpPr>
          <p:cNvPr id="157" name="组合 156"/>
          <p:cNvGrpSpPr/>
          <p:nvPr/>
        </p:nvGrpSpPr>
        <p:grpSpPr>
          <a:xfrm>
            <a:off x="2566035" y="5553075"/>
            <a:ext cx="2222500" cy="635000"/>
            <a:chOff x="4227" y="7120"/>
            <a:chExt cx="3500" cy="1000"/>
          </a:xfrm>
        </p:grpSpPr>
        <p:sp>
          <p:nvSpPr>
            <p:cNvPr id="149" name="AutoShape 24"/>
            <p:cNvSpPr/>
            <p:nvPr/>
          </p:nvSpPr>
          <p:spPr>
            <a:xfrm>
              <a:off x="4227" y="7120"/>
              <a:ext cx="3500" cy="1000"/>
            </a:xfrm>
            <a:prstGeom prst="roundRect">
              <a:avLst>
                <a:gd name="adj" fmla="val 12000"/>
              </a:avLst>
            </a:prstGeom>
            <a:solidFill>
              <a:srgbClr val="00E5FF">
                <a:alpha val="15000"/>
              </a:srgbClr>
            </a:solidFill>
            <a:ln w="25400" cap="flat" cmpd="sng">
              <a:noFill/>
              <a:prstDash val="solid"/>
              <a:round/>
            </a:ln>
          </p:spPr>
          <p:txBody>
            <a:bodyPr vert="horz" wrap="square" lIns="63500" tIns="63500" rIns="63500" bIns="63500" rtlCol="0" anchor="ctr"/>
            <a:lstStyle/>
            <a:p>
              <a:pPr algn="ctr">
                <a:defRPr/>
              </a:pPr>
            </a:p>
          </p:txBody>
        </p:sp>
        <p:sp>
          <p:nvSpPr>
            <p:cNvPr id="150" name="AutoShape 25"/>
            <p:cNvSpPr/>
            <p:nvPr/>
          </p:nvSpPr>
          <p:spPr>
            <a:xfrm>
              <a:off x="4427" y="7280"/>
              <a:ext cx="3100" cy="68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数据标准化 · 统一基准</a:t>
              </a:r>
              <a:endParaRPr lang="en-US" sz="14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pic>
        <p:nvPicPr>
          <p:cNvPr id="158" name="图片 157"/>
          <p:cNvPicPr>
            <a:picLocks noChangeAspect="1"/>
          </p:cNvPicPr>
          <p:nvPr/>
        </p:nvPicPr>
        <p:blipFill>
          <a:blip r:embed="rId17"/>
          <a:stretch>
            <a:fillRect/>
          </a:stretch>
        </p:blipFill>
        <p:spPr>
          <a:xfrm>
            <a:off x="478155" y="3603625"/>
            <a:ext cx="2087880" cy="304800"/>
          </a:xfrm>
          <a:prstGeom prst="rect">
            <a:avLst/>
          </a:prstGeom>
        </p:spPr>
      </p:pic>
      <p:grpSp>
        <p:nvGrpSpPr>
          <p:cNvPr id="162" name="组合 161"/>
          <p:cNvGrpSpPr/>
          <p:nvPr/>
        </p:nvGrpSpPr>
        <p:grpSpPr>
          <a:xfrm>
            <a:off x="2987040" y="4966970"/>
            <a:ext cx="1564640" cy="309245"/>
            <a:chOff x="1041" y="7280"/>
            <a:chExt cx="2464" cy="487"/>
          </a:xfrm>
        </p:grpSpPr>
        <p:sp>
          <p:nvSpPr>
            <p:cNvPr id="160" name="矩形 159"/>
            <p:cNvSpPr/>
            <p:nvPr/>
          </p:nvSpPr>
          <p:spPr>
            <a:xfrm>
              <a:off x="1041" y="7280"/>
              <a:ext cx="2464" cy="487"/>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9" name="文本框 158"/>
            <p:cNvSpPr txBox="1"/>
            <p:nvPr/>
          </p:nvSpPr>
          <p:spPr>
            <a:xfrm>
              <a:off x="1187" y="7301"/>
              <a:ext cx="2318" cy="434"/>
            </a:xfrm>
            <a:prstGeom prst="rect">
              <a:avLst/>
            </a:prstGeom>
            <a:noFill/>
          </p:spPr>
          <p:txBody>
            <a:bodyPr wrap="square" rtlCol="0">
              <a:spAutoFit/>
            </a:bodyPr>
            <a:p>
              <a:pPr algn="ctr"/>
              <a:r>
                <a:rPr lang="zh-CN" altLang="en-US" sz="1200" b="1">
                  <a:solidFill>
                    <a:schemeClr val="tx1"/>
                  </a:solidFill>
                </a:rPr>
                <a:t>样本标注体系</a:t>
              </a:r>
              <a:endParaRPr lang="zh-CN" altLang="en-US" sz="1200" b="1">
                <a:solidFill>
                  <a:schemeClr val="tx1"/>
                </a:solidFill>
              </a:endParaRPr>
            </a:p>
          </p:txBody>
        </p:sp>
      </p:grpSp>
      <p:grpSp>
        <p:nvGrpSpPr>
          <p:cNvPr id="163" name="组合 162"/>
          <p:cNvGrpSpPr/>
          <p:nvPr/>
        </p:nvGrpSpPr>
        <p:grpSpPr>
          <a:xfrm>
            <a:off x="716915" y="6110605"/>
            <a:ext cx="1621790" cy="309245"/>
            <a:chOff x="1041" y="7280"/>
            <a:chExt cx="2554" cy="487"/>
          </a:xfrm>
        </p:grpSpPr>
        <p:sp>
          <p:nvSpPr>
            <p:cNvPr id="164" name="矩形 163"/>
            <p:cNvSpPr/>
            <p:nvPr/>
          </p:nvSpPr>
          <p:spPr>
            <a:xfrm>
              <a:off x="1041" y="7280"/>
              <a:ext cx="2464" cy="487"/>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5" name="文本框 164"/>
            <p:cNvSpPr txBox="1"/>
            <p:nvPr/>
          </p:nvSpPr>
          <p:spPr>
            <a:xfrm>
              <a:off x="1141" y="7301"/>
              <a:ext cx="2454" cy="434"/>
            </a:xfrm>
            <a:prstGeom prst="rect">
              <a:avLst/>
            </a:prstGeom>
            <a:noFill/>
          </p:spPr>
          <p:txBody>
            <a:bodyPr wrap="square" rtlCol="0">
              <a:spAutoFit/>
            </a:bodyPr>
            <a:p>
              <a:r>
                <a:rPr lang="zh-CN" altLang="en-US" sz="1200" b="1">
                  <a:solidFill>
                    <a:schemeClr val="tx1"/>
                  </a:solidFill>
                </a:rPr>
                <a:t>合理多项式系数模型</a:t>
              </a:r>
              <a:endParaRPr lang="zh-CN" altLang="en-US" sz="1200" b="1">
                <a:solidFill>
                  <a:schemeClr val="tx1"/>
                </a:solidFill>
              </a:endParaRPr>
            </a:p>
          </p:txBody>
        </p:sp>
      </p:grpSp>
      <p:sp>
        <p:nvSpPr>
          <p:cNvPr id="167" name="矩形 166"/>
          <p:cNvSpPr/>
          <p:nvPr/>
        </p:nvSpPr>
        <p:spPr>
          <a:xfrm>
            <a:off x="2987040" y="3462020"/>
            <a:ext cx="1564640" cy="62865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8" name="文本框 167"/>
          <p:cNvSpPr txBox="1"/>
          <p:nvPr/>
        </p:nvSpPr>
        <p:spPr>
          <a:xfrm>
            <a:off x="3039110" y="3462655"/>
            <a:ext cx="1471930" cy="645160"/>
          </a:xfrm>
          <a:prstGeom prst="rect">
            <a:avLst/>
          </a:prstGeom>
          <a:noFill/>
        </p:spPr>
        <p:txBody>
          <a:bodyPr wrap="square" rtlCol="0">
            <a:spAutoFit/>
          </a:bodyPr>
          <a:p>
            <a:r>
              <a:rPr lang="zh-CN" altLang="en-US" sz="1200" b="1">
                <a:solidFill>
                  <a:schemeClr val="tx1"/>
                </a:solidFill>
              </a:rPr>
              <a:t>最小二乘法拟合仿射变换或多项式变换模型</a:t>
            </a:r>
            <a:endParaRPr lang="zh-CN" altLang="en-US" sz="1200" b="1">
              <a:solidFill>
                <a:schemeClr val="tx1"/>
              </a:solidFill>
            </a:endParaRPr>
          </a:p>
        </p:txBody>
      </p:sp>
      <p:grpSp>
        <p:nvGrpSpPr>
          <p:cNvPr id="169" name="组合 168"/>
          <p:cNvGrpSpPr/>
          <p:nvPr/>
        </p:nvGrpSpPr>
        <p:grpSpPr>
          <a:xfrm>
            <a:off x="686435" y="4973320"/>
            <a:ext cx="1564640" cy="308610"/>
            <a:chOff x="1041" y="7280"/>
            <a:chExt cx="2464" cy="486"/>
          </a:xfrm>
        </p:grpSpPr>
        <p:sp>
          <p:nvSpPr>
            <p:cNvPr id="170" name="矩形 169"/>
            <p:cNvSpPr/>
            <p:nvPr/>
          </p:nvSpPr>
          <p:spPr>
            <a:xfrm>
              <a:off x="1041" y="7280"/>
              <a:ext cx="2464" cy="487"/>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1" name="文本框 170"/>
            <p:cNvSpPr txBox="1"/>
            <p:nvPr/>
          </p:nvSpPr>
          <p:spPr>
            <a:xfrm>
              <a:off x="1187" y="7301"/>
              <a:ext cx="2318" cy="434"/>
            </a:xfrm>
            <a:prstGeom prst="rect">
              <a:avLst/>
            </a:prstGeom>
            <a:noFill/>
          </p:spPr>
          <p:txBody>
            <a:bodyPr wrap="square" rtlCol="0">
              <a:spAutoFit/>
            </a:bodyPr>
            <a:p>
              <a:r>
                <a:rPr lang="zh-CN" altLang="en-US" sz="1200" b="1">
                  <a:solidFill>
                    <a:schemeClr val="tx1"/>
                  </a:solidFill>
                </a:rPr>
                <a:t>大气辐射传输模型</a:t>
              </a:r>
              <a:endParaRPr lang="zh-CN" altLang="en-US" sz="1200" b="1">
                <a:solidFill>
                  <a:schemeClr val="tx1"/>
                </a:solidFill>
              </a:endParaRPr>
            </a:p>
          </p:txBody>
        </p:sp>
      </p:grpSp>
      <p:sp>
        <p:nvSpPr>
          <p:cNvPr id="172" name="文本框 171"/>
          <p:cNvSpPr txBox="1"/>
          <p:nvPr/>
        </p:nvSpPr>
        <p:spPr>
          <a:xfrm>
            <a:off x="8646795" y="1690370"/>
            <a:ext cx="3311525" cy="901700"/>
          </a:xfrm>
          <a:prstGeom prst="rect">
            <a:avLst/>
          </a:prstGeom>
          <a:noFill/>
        </p:spPr>
        <p:txBody>
          <a:bodyPr wrap="square" rtlCol="0">
            <a:noAutofit/>
          </a:bodyPr>
          <a:p>
            <a:pPr marL="285750" indent="-285750">
              <a:lnSpc>
                <a:spcPct val="125000"/>
              </a:lnSpc>
              <a:spcBef>
                <a:spcPts val="0"/>
              </a:spcBef>
              <a:spcAft>
                <a:spcPts val="0"/>
              </a:spcAft>
              <a:buFont typeface="Wingdings" panose="05000000000000000000" charset="0"/>
              <a:buChar char="Ø"/>
            </a:pPr>
            <a:r>
              <a:rPr lang="zh-CN" altLang="en-US" sz="2000" b="1">
                <a:solidFill>
                  <a:schemeClr val="tx2">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空间分块交叉验证</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indent="0">
              <a:lnSpc>
                <a:spcPct val="125000"/>
              </a:lnSpc>
              <a:spcBef>
                <a:spcPts val="0"/>
              </a:spcBef>
              <a:spcAft>
                <a:spcPts val="0"/>
              </a:spcAft>
              <a:buFont typeface="Arial" panose="020B0604020202020204" pitchFamily="34" charset="0"/>
              <a:buNone/>
            </a:pPr>
            <a:r>
              <a:rPr lang="zh-CN" altLang="en-US" sz="14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系统首先根据边疆地区的经纬度格网，将整个研究区域划分为若干个</a:t>
            </a:r>
            <a:r>
              <a:rPr lang="zh-CN" altLang="en-US" sz="14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互不重叠</a:t>
            </a:r>
            <a:r>
              <a:rPr lang="zh-CN" altLang="en-US" sz="14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的独立地理区块</a:t>
            </a:r>
            <a:endParaRPr lang="zh-CN" altLang="en-US" sz="140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73" name="文本框 172"/>
          <p:cNvSpPr txBox="1"/>
          <p:nvPr/>
        </p:nvSpPr>
        <p:spPr>
          <a:xfrm>
            <a:off x="8646795" y="2987040"/>
            <a:ext cx="3318510" cy="944880"/>
          </a:xfrm>
          <a:prstGeom prst="rect">
            <a:avLst/>
          </a:prstGeom>
          <a:noFill/>
        </p:spPr>
        <p:txBody>
          <a:bodyPr wrap="square" rtlCol="0">
            <a:noAutofit/>
          </a:bodyPr>
          <a:p>
            <a:pPr marL="285750" indent="-285750">
              <a:lnSpc>
                <a:spcPct val="125000"/>
              </a:lnSpc>
              <a:spcBef>
                <a:spcPts val="0"/>
              </a:spcBef>
              <a:spcAft>
                <a:spcPts val="0"/>
              </a:spcAft>
              <a:buFont typeface="Wingdings" panose="05000000000000000000" charset="0"/>
              <a:buChar char="Ø"/>
            </a:pPr>
            <a:r>
              <a:rPr lang="zh-CN" altLang="en-US" sz="2000" b="1">
                <a:solidFill>
                  <a:schemeClr val="tx2">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rPr>
              <a:t>空间分层抽样机制</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indent="0">
              <a:lnSpc>
                <a:spcPct val="125000"/>
              </a:lnSpc>
              <a:spcBef>
                <a:spcPts val="0"/>
              </a:spcBef>
              <a:spcAft>
                <a:spcPts val="0"/>
              </a:spcAft>
              <a:buFont typeface="Arial" panose="020B0604020202020204" pitchFamily="34" charset="0"/>
              <a:buNone/>
            </a:pPr>
            <a:r>
              <a:rPr lang="zh-CN" altLang="en-US" sz="140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覆盖干旱区、高寒区、草原区，确保数据集在地理与气候维度上的</a:t>
            </a:r>
            <a:r>
              <a:rPr lang="zh-CN" altLang="en-US" sz="14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代表性均衡</a:t>
            </a:r>
            <a:endParaRPr lang="zh-CN" altLang="en-US" sz="14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nvGrpSpPr>
          <p:cNvPr id="174" name="周小周PPT设计"/>
          <p:cNvGrpSpPr/>
          <p:nvPr>
            <p:custDataLst>
              <p:tags r:id="rId18"/>
            </p:custDataLst>
          </p:nvPr>
        </p:nvGrpSpPr>
        <p:grpSpPr>
          <a:xfrm>
            <a:off x="5948045" y="4632640"/>
            <a:ext cx="5199380" cy="866140"/>
            <a:chOff x="949696" y="1892283"/>
            <a:chExt cx="5199433" cy="930489"/>
          </a:xfrm>
        </p:grpSpPr>
        <p:grpSp>
          <p:nvGrpSpPr>
            <p:cNvPr id="175" name="组合 174"/>
            <p:cNvGrpSpPr/>
            <p:nvPr/>
          </p:nvGrpSpPr>
          <p:grpSpPr>
            <a:xfrm>
              <a:off x="949696" y="1970314"/>
              <a:ext cx="5199433" cy="794657"/>
              <a:chOff x="949696" y="1976770"/>
              <a:chExt cx="5199433" cy="583287"/>
            </a:xfrm>
          </p:grpSpPr>
          <p:sp>
            <p:nvSpPr>
              <p:cNvPr id="176" name="周小周PPT设计-1"/>
              <p:cNvSpPr/>
              <p:nvPr>
                <p:custDataLst>
                  <p:tags r:id="rId19"/>
                </p:custDataLst>
              </p:nvPr>
            </p:nvSpPr>
            <p:spPr>
              <a:xfrm flipH="1">
                <a:off x="1088126" y="1976770"/>
                <a:ext cx="5061003" cy="583287"/>
              </a:xfrm>
              <a:prstGeom prst="roundRect">
                <a:avLst>
                  <a:gd name="adj" fmla="val 50000"/>
                </a:avLst>
              </a:prstGeom>
              <a:gradFill flip="none" rotWithShape="1">
                <a:gsLst>
                  <a:gs pos="0">
                    <a:schemeClr val="accent1">
                      <a:alpha val="14000"/>
                    </a:schemeClr>
                  </a:gs>
                  <a:gs pos="100000">
                    <a:schemeClr val="accent2">
                      <a:alpha val="4000"/>
                    </a:schemeClr>
                  </a:gs>
                </a:gsLst>
                <a:lin ang="0" scaled="1"/>
                <a:tileRect/>
              </a:gradFill>
              <a:ln w="9525">
                <a:gradFill flip="none" rotWithShape="1">
                  <a:gsLst>
                    <a:gs pos="0">
                      <a:schemeClr val="accent1"/>
                    </a:gs>
                    <a:gs pos="100000">
                      <a:schemeClr val="accent1">
                        <a:alpha val="10000"/>
                      </a:schemeClr>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200">
                  <a:solidFill>
                    <a:schemeClr val="accent1"/>
                  </a:solidFill>
                  <a:latin typeface="+mn-ea"/>
                </a:endParaRPr>
              </a:p>
            </p:txBody>
          </p:sp>
          <p:sp>
            <p:nvSpPr>
              <p:cNvPr id="177" name="周小周PPT设计-2"/>
              <p:cNvSpPr/>
              <p:nvPr>
                <p:custDataLst>
                  <p:tags r:id="rId20"/>
                </p:custDataLst>
              </p:nvPr>
            </p:nvSpPr>
            <p:spPr>
              <a:xfrm>
                <a:off x="949696" y="1987490"/>
                <a:ext cx="1377315" cy="570969"/>
              </a:xfrm>
              <a:prstGeom prst="roundRect">
                <a:avLst>
                  <a:gd name="adj" fmla="val 50000"/>
                </a:avLst>
              </a:prstGeom>
              <a:gradFill flip="none" rotWithShape="1">
                <a:gsLst>
                  <a:gs pos="59000">
                    <a:schemeClr val="tx2">
                      <a:lumMod val="75000"/>
                      <a:lumOff val="25000"/>
                    </a:schemeClr>
                  </a:gs>
                  <a:gs pos="0">
                    <a:schemeClr val="tx2">
                      <a:lumMod val="10000"/>
                      <a:lumOff val="90000"/>
                    </a:schemeClr>
                  </a:gs>
                </a:gsLst>
                <a:lin ang="5400000" scaled="1"/>
                <a:tileRect/>
              </a:gradFill>
              <a:ln>
                <a:noFill/>
              </a:ln>
              <a:effectLst>
                <a:outerShdw blurRad="139700" dist="88900" dir="5400000" algn="t"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a:solidFill>
                      <a:schemeClr val="bg1"/>
                    </a:solidFill>
                    <a:latin typeface="+mj-ea"/>
                    <a:ea typeface="+mj-ea"/>
                  </a:rPr>
                  <a:t>多层次基础数据增强</a:t>
                </a:r>
                <a:endParaRPr lang="zh-CN" altLang="en-US" sz="1400">
                  <a:solidFill>
                    <a:schemeClr val="bg1"/>
                  </a:solidFill>
                  <a:latin typeface="+mj-ea"/>
                  <a:ea typeface="+mj-ea"/>
                </a:endParaRPr>
              </a:p>
            </p:txBody>
          </p:sp>
        </p:grpSp>
        <p:sp>
          <p:nvSpPr>
            <p:cNvPr id="178" name="周小周PPT设计-3"/>
            <p:cNvSpPr txBox="1"/>
            <p:nvPr>
              <p:custDataLst>
                <p:tags r:id="rId21"/>
              </p:custDataLst>
            </p:nvPr>
          </p:nvSpPr>
          <p:spPr>
            <a:xfrm>
              <a:off x="2317263" y="1892283"/>
              <a:ext cx="3795136" cy="930489"/>
            </a:xfrm>
            <a:prstGeom prst="rect">
              <a:avLst/>
            </a:prstGeom>
            <a:noFill/>
          </p:spPr>
          <p:txBody>
            <a:bodyPr wrap="square">
              <a:spAutoFit/>
            </a:bodyPr>
            <a:lstStyle/>
            <a:p>
              <a:pPr>
                <a:lnSpc>
                  <a:spcPct val="120000"/>
                </a:lnSpc>
              </a:pPr>
              <a:r>
                <a:rPr lang="zh-CN" altLang="en-US" sz="1400" dirty="0">
                  <a:solidFill>
                    <a:srgbClr val="000000"/>
                  </a:solidFill>
                  <a:latin typeface="Arial" panose="020B0604020202020204"/>
                  <a:ea typeface="微软雅黑" panose="020B0503020204020204" pitchFamily="34" charset="-122"/>
                  <a:sym typeface="Assistant Light"/>
                </a:rPr>
                <a:t>采用</a:t>
              </a:r>
              <a:r>
                <a:rPr lang="zh-CN" altLang="en-US" sz="1400" b="1" dirty="0">
                  <a:solidFill>
                    <a:schemeClr val="accent2">
                      <a:lumMod val="75000"/>
                    </a:schemeClr>
                  </a:solidFill>
                  <a:latin typeface="+mn-ea"/>
                  <a:cs typeface="+mn-ea"/>
                  <a:sym typeface="Assistant Light"/>
                </a:rPr>
                <a:t>几何翻转</a:t>
              </a:r>
              <a:r>
                <a:rPr lang="zh-CN" altLang="en-US" sz="1400" dirty="0">
                  <a:solidFill>
                    <a:srgbClr val="000000"/>
                  </a:solidFill>
                  <a:latin typeface="Arial" panose="020B0604020202020204"/>
                  <a:ea typeface="微软雅黑" panose="020B0503020204020204" pitchFamily="34" charset="-122"/>
                  <a:sym typeface="Assistant Light"/>
                </a:rPr>
                <a:t>、</a:t>
              </a:r>
              <a:r>
                <a:rPr lang="zh-CN" altLang="en-US" sz="1400" b="1" dirty="0">
                  <a:solidFill>
                    <a:schemeClr val="accent2">
                      <a:lumMod val="75000"/>
                    </a:schemeClr>
                  </a:solidFill>
                  <a:latin typeface="+mn-ea"/>
                  <a:cs typeface="+mn-ea"/>
                  <a:sym typeface="Assistant Light"/>
                </a:rPr>
                <a:t>尺度缩放</a:t>
              </a:r>
              <a:r>
                <a:rPr lang="zh-CN" altLang="en-US" sz="1400" dirty="0">
                  <a:solidFill>
                    <a:srgbClr val="000000"/>
                  </a:solidFill>
                  <a:latin typeface="Arial" panose="020B0604020202020204"/>
                  <a:ea typeface="微软雅黑" panose="020B0503020204020204" pitchFamily="34" charset="-122"/>
                  <a:sym typeface="Assistant Light"/>
                </a:rPr>
                <a:t>、</a:t>
              </a:r>
              <a:r>
                <a:rPr lang="zh-CN" altLang="en-US" sz="1400" b="1" dirty="0">
                  <a:solidFill>
                    <a:schemeClr val="accent2">
                      <a:lumMod val="75000"/>
                    </a:schemeClr>
                  </a:solidFill>
                  <a:latin typeface="+mn-ea"/>
                  <a:cs typeface="+mn-ea"/>
                  <a:sym typeface="Assistant Light"/>
                </a:rPr>
                <a:t>光度扰动</a:t>
              </a:r>
              <a:r>
                <a:rPr lang="zh-CN" altLang="en-US" sz="1400" dirty="0">
                  <a:solidFill>
                    <a:srgbClr val="000000"/>
                  </a:solidFill>
                  <a:latin typeface="Arial" panose="020B0604020202020204"/>
                  <a:ea typeface="微软雅黑" panose="020B0503020204020204" pitchFamily="34" charset="-122"/>
                  <a:sym typeface="Assistant Light"/>
                </a:rPr>
                <a:t>及</a:t>
              </a:r>
              <a:r>
                <a:rPr lang="zh-CN" altLang="en-US" sz="1400" b="1" dirty="0">
                  <a:solidFill>
                    <a:schemeClr val="accent2">
                      <a:lumMod val="75000"/>
                    </a:schemeClr>
                  </a:solidFill>
                  <a:latin typeface="+mn-ea"/>
                  <a:cs typeface="+mn-ea"/>
                  <a:sym typeface="Assistant Light"/>
                </a:rPr>
                <a:t>特征混合插值</a:t>
              </a:r>
              <a:r>
                <a:rPr lang="zh-CN" altLang="en-US" sz="1400" dirty="0">
                  <a:solidFill>
                    <a:srgbClr val="000000"/>
                  </a:solidFill>
                  <a:latin typeface="Arial" panose="020B0604020202020204"/>
                  <a:ea typeface="微软雅黑" panose="020B0503020204020204" pitchFamily="34" charset="-122"/>
                  <a:sym typeface="Assistant Light"/>
                </a:rPr>
                <a:t>，增强数据多样性，赋予模型旋转、尺度与辐射不变性，缓解类别不平衡</a:t>
              </a:r>
              <a:endParaRPr lang="zh-CN" altLang="en-US" sz="1400" dirty="0">
                <a:solidFill>
                  <a:srgbClr val="000000"/>
                </a:solidFill>
                <a:latin typeface="Arial" panose="020B0604020202020204"/>
                <a:ea typeface="微软雅黑" panose="020B0503020204020204" pitchFamily="34" charset="-122"/>
                <a:sym typeface="Assistant Light"/>
              </a:endParaRPr>
            </a:p>
          </p:txBody>
        </p:sp>
      </p:grpSp>
      <p:grpSp>
        <p:nvGrpSpPr>
          <p:cNvPr id="179" name="周小周PPT设计"/>
          <p:cNvGrpSpPr/>
          <p:nvPr>
            <p:custDataLst>
              <p:tags r:id="rId22"/>
            </p:custDataLst>
          </p:nvPr>
        </p:nvGrpSpPr>
        <p:grpSpPr>
          <a:xfrm>
            <a:off x="5948045" y="5766115"/>
            <a:ext cx="5199380" cy="866140"/>
            <a:chOff x="949696" y="1892283"/>
            <a:chExt cx="5199433" cy="930489"/>
          </a:xfrm>
        </p:grpSpPr>
        <p:grpSp>
          <p:nvGrpSpPr>
            <p:cNvPr id="180" name="组合 179"/>
            <p:cNvGrpSpPr/>
            <p:nvPr/>
          </p:nvGrpSpPr>
          <p:grpSpPr>
            <a:xfrm>
              <a:off x="949696" y="1970314"/>
              <a:ext cx="5199433" cy="794657"/>
              <a:chOff x="949696" y="1976770"/>
              <a:chExt cx="5199433" cy="583287"/>
            </a:xfrm>
          </p:grpSpPr>
          <p:sp>
            <p:nvSpPr>
              <p:cNvPr id="181" name="周小周PPT设计-1"/>
              <p:cNvSpPr/>
              <p:nvPr>
                <p:custDataLst>
                  <p:tags r:id="rId23"/>
                </p:custDataLst>
              </p:nvPr>
            </p:nvSpPr>
            <p:spPr>
              <a:xfrm flipH="1">
                <a:off x="1088126" y="1976770"/>
                <a:ext cx="5061003" cy="583287"/>
              </a:xfrm>
              <a:prstGeom prst="roundRect">
                <a:avLst>
                  <a:gd name="adj" fmla="val 50000"/>
                </a:avLst>
              </a:prstGeom>
              <a:gradFill flip="none" rotWithShape="1">
                <a:gsLst>
                  <a:gs pos="0">
                    <a:schemeClr val="accent1">
                      <a:alpha val="14000"/>
                    </a:schemeClr>
                  </a:gs>
                  <a:gs pos="100000">
                    <a:schemeClr val="accent2">
                      <a:alpha val="4000"/>
                    </a:schemeClr>
                  </a:gs>
                </a:gsLst>
                <a:lin ang="0" scaled="1"/>
                <a:tileRect/>
              </a:gradFill>
              <a:ln w="9525">
                <a:gradFill flip="none" rotWithShape="1">
                  <a:gsLst>
                    <a:gs pos="0">
                      <a:schemeClr val="accent1"/>
                    </a:gs>
                    <a:gs pos="100000">
                      <a:schemeClr val="accent1">
                        <a:alpha val="10000"/>
                      </a:schemeClr>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200">
                  <a:solidFill>
                    <a:schemeClr val="accent1"/>
                  </a:solidFill>
                  <a:latin typeface="+mn-ea"/>
                </a:endParaRPr>
              </a:p>
            </p:txBody>
          </p:sp>
          <p:sp>
            <p:nvSpPr>
              <p:cNvPr id="182" name="周小周PPT设计-2"/>
              <p:cNvSpPr/>
              <p:nvPr>
                <p:custDataLst>
                  <p:tags r:id="rId24"/>
                </p:custDataLst>
              </p:nvPr>
            </p:nvSpPr>
            <p:spPr>
              <a:xfrm>
                <a:off x="949696" y="1987490"/>
                <a:ext cx="1377315" cy="570969"/>
              </a:xfrm>
              <a:prstGeom prst="roundRect">
                <a:avLst>
                  <a:gd name="adj" fmla="val 50000"/>
                </a:avLst>
              </a:prstGeom>
              <a:gradFill flip="none" rotWithShape="1">
                <a:gsLst>
                  <a:gs pos="59000">
                    <a:schemeClr val="tx2">
                      <a:lumMod val="75000"/>
                      <a:lumOff val="25000"/>
                    </a:schemeClr>
                  </a:gs>
                  <a:gs pos="0">
                    <a:schemeClr val="tx2">
                      <a:lumMod val="10000"/>
                      <a:lumOff val="90000"/>
                    </a:schemeClr>
                  </a:gs>
                </a:gsLst>
                <a:lin ang="5400000" scaled="1"/>
                <a:tileRect/>
              </a:gradFill>
              <a:ln>
                <a:noFill/>
              </a:ln>
              <a:effectLst>
                <a:outerShdw blurRad="139700" dist="88900" dir="5400000" algn="t"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buClrTx/>
                  <a:buSzTx/>
                  <a:buFontTx/>
                </a:pPr>
                <a:r>
                  <a:rPr lang="zh-CN" altLang="en-US" sz="1400">
                    <a:solidFill>
                      <a:schemeClr val="bg1"/>
                    </a:solidFill>
                    <a:latin typeface="+mj-ea"/>
                    <a:ea typeface="+mj-ea"/>
                  </a:rPr>
                  <a:t>生成对抗网络虚拟样本合成</a:t>
                </a:r>
                <a:endParaRPr lang="zh-CN" altLang="en-US" sz="1400">
                  <a:solidFill>
                    <a:schemeClr val="bg1"/>
                  </a:solidFill>
                  <a:latin typeface="+mj-ea"/>
                  <a:ea typeface="+mj-ea"/>
                </a:endParaRPr>
              </a:p>
            </p:txBody>
          </p:sp>
        </p:grpSp>
        <p:sp>
          <p:nvSpPr>
            <p:cNvPr id="183" name="周小周PPT设计-3"/>
            <p:cNvSpPr txBox="1"/>
            <p:nvPr>
              <p:custDataLst>
                <p:tags r:id="rId25"/>
              </p:custDataLst>
            </p:nvPr>
          </p:nvSpPr>
          <p:spPr>
            <a:xfrm>
              <a:off x="2317263" y="1892283"/>
              <a:ext cx="3795136" cy="930489"/>
            </a:xfrm>
            <a:prstGeom prst="rect">
              <a:avLst/>
            </a:prstGeom>
            <a:noFill/>
          </p:spPr>
          <p:txBody>
            <a:bodyPr wrap="square">
              <a:spAutoFit/>
            </a:bodyPr>
            <a:lstStyle/>
            <a:p>
              <a:pPr>
                <a:lnSpc>
                  <a:spcPct val="120000"/>
                </a:lnSpc>
              </a:pPr>
              <a:r>
                <a:rPr lang="zh-CN" altLang="en-US" sz="1400" dirty="0">
                  <a:solidFill>
                    <a:srgbClr val="000000"/>
                  </a:solidFill>
                  <a:latin typeface="Arial" panose="020B0604020202020204"/>
                  <a:ea typeface="微软雅黑" panose="020B0503020204020204" pitchFamily="34" charset="-122"/>
                  <a:sym typeface="Assistant Light"/>
                </a:rPr>
                <a:t>引入条件生成对抗网络，融入</a:t>
              </a:r>
              <a:r>
                <a:rPr lang="zh-CN" altLang="en-US" sz="1400" b="1" dirty="0">
                  <a:solidFill>
                    <a:schemeClr val="accent2">
                      <a:lumMod val="75000"/>
                    </a:schemeClr>
                  </a:solidFill>
                  <a:latin typeface="+mn-ea"/>
                  <a:cs typeface="+mn-ea"/>
                  <a:sym typeface="Assistant Light"/>
                </a:rPr>
                <a:t>地形</a:t>
              </a:r>
              <a:r>
                <a:rPr lang="zh-CN" altLang="en-US" sz="1400" dirty="0">
                  <a:solidFill>
                    <a:srgbClr val="000000"/>
                  </a:solidFill>
                  <a:latin typeface="Arial" panose="020B0604020202020204"/>
                  <a:ea typeface="微软雅黑" panose="020B0503020204020204" pitchFamily="34" charset="-122"/>
                  <a:sym typeface="Assistant Light"/>
                </a:rPr>
                <a:t>与</a:t>
              </a:r>
              <a:r>
                <a:rPr lang="zh-CN" altLang="en-US" sz="1400" b="1" dirty="0">
                  <a:solidFill>
                    <a:schemeClr val="accent2">
                      <a:lumMod val="75000"/>
                    </a:schemeClr>
                  </a:solidFill>
                  <a:latin typeface="+mn-ea"/>
                  <a:cs typeface="+mn-ea"/>
                  <a:sym typeface="Assistant Light"/>
                </a:rPr>
                <a:t>光照先验</a:t>
              </a:r>
              <a:r>
                <a:rPr lang="zh-CN" altLang="en-US" sz="1400" dirty="0">
                  <a:solidFill>
                    <a:srgbClr val="000000"/>
                  </a:solidFill>
                  <a:latin typeface="Arial" panose="020B0604020202020204"/>
                  <a:ea typeface="微软雅黑" panose="020B0503020204020204" pitchFamily="34" charset="-122"/>
                  <a:sym typeface="Assistant Light"/>
                </a:rPr>
                <a:t>，自动合成高保真稀缺目标样本，扩充少数类特征空间，显著提升稀有目标检出率</a:t>
              </a:r>
              <a:endParaRPr lang="zh-CN" altLang="en-US" sz="1400" dirty="0">
                <a:solidFill>
                  <a:srgbClr val="000000"/>
                </a:solidFill>
                <a:latin typeface="Arial" panose="020B0604020202020204"/>
                <a:ea typeface="微软雅黑" panose="020B0503020204020204" pitchFamily="34" charset="-122"/>
                <a:sym typeface="Assistant Light"/>
              </a:endParaRPr>
            </a:p>
          </p:txBody>
        </p:sp>
      </p:grpSp>
      <p:sp>
        <p:nvSpPr>
          <p:cNvPr id="184" name="文本框 183"/>
          <p:cNvSpPr txBox="1"/>
          <p:nvPr/>
        </p:nvSpPr>
        <p:spPr>
          <a:xfrm>
            <a:off x="198755" y="833755"/>
            <a:ext cx="2839720" cy="583565"/>
          </a:xfrm>
          <a:prstGeom prst="rect">
            <a:avLst/>
          </a:prstGeom>
          <a:noFill/>
        </p:spPr>
        <p:txBody>
          <a:bodyPr wrap="square" rtlCol="0" anchor="t">
            <a:spAutoFit/>
          </a:bodyPr>
          <a:p>
            <a:pPr algn="l"/>
            <a:r>
              <a:rPr lang="zh-CN" altLang="en-US" sz="3200" b="1" dirty="0">
                <a:latin typeface="华文隶书" panose="02010800040101010101" charset="-122"/>
                <a:ea typeface="华文隶书" panose="02010800040101010101" charset="-122"/>
                <a:sym typeface="+mn-ea"/>
              </a:rPr>
              <a:t>数据体系设计</a:t>
            </a:r>
            <a:endParaRPr lang="zh-CN" altLang="en-US" sz="3200" b="1" dirty="0">
              <a:latin typeface="华文隶书" panose="02010800040101010101" charset="-122"/>
              <a:ea typeface="华文隶书" panose="02010800040101010101" charset="-122"/>
              <a:sym typeface="+mn-ea"/>
            </a:endParaRPr>
          </a:p>
        </p:txBody>
      </p:sp>
      <p:grpSp>
        <p:nvGrpSpPr>
          <p:cNvPr id="2" name="组合 1"/>
          <p:cNvGrpSpPr/>
          <p:nvPr/>
        </p:nvGrpSpPr>
        <p:grpSpPr>
          <a:xfrm>
            <a:off x="3324225" y="833755"/>
            <a:ext cx="8255000" cy="501650"/>
            <a:chOff x="5235" y="1313"/>
            <a:chExt cx="13000" cy="790"/>
          </a:xfrm>
        </p:grpSpPr>
        <p:sp>
          <p:nvSpPr>
            <p:cNvPr id="185" name="矩形 184"/>
            <p:cNvSpPr/>
            <p:nvPr/>
          </p:nvSpPr>
          <p:spPr>
            <a:xfrm>
              <a:off x="5235" y="1313"/>
              <a:ext cx="13001" cy="791"/>
            </a:xfrm>
            <a:prstGeom prst="rect">
              <a:avLst/>
            </a:prstGeom>
            <a:solidFill>
              <a:schemeClr val="tx2">
                <a:lumMod val="25000"/>
                <a:lumOff val="75000"/>
              </a:schemeClr>
            </a:solidFill>
            <a:ln>
              <a:noFill/>
            </a:ln>
            <a:effectLst>
              <a:glow rad="63500">
                <a:schemeClr val="bg2">
                  <a:alpha val="40000"/>
                </a:schemeClr>
              </a:glow>
              <a:reflection blurRad="6350" stA="50000" endA="300" endPos="55000" dir="5400000" sy="-100000" algn="bl" rotWithShape="0"/>
              <a:softEdge rad="3175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6" name="文本框 185"/>
            <p:cNvSpPr txBox="1"/>
            <p:nvPr/>
          </p:nvSpPr>
          <p:spPr>
            <a:xfrm>
              <a:off x="5407" y="1377"/>
              <a:ext cx="12433" cy="628"/>
            </a:xfrm>
            <a:prstGeom prst="rect">
              <a:avLst/>
            </a:prstGeom>
            <a:noFill/>
          </p:spPr>
          <p:txBody>
            <a:bodyPr wrap="square" rtlCol="0">
              <a:spAutoFit/>
            </a:bodyPr>
            <a:p>
              <a:r>
                <a:rPr lang="zh-CN" altLang="en-US" sz="2000" b="1">
                  <a:solidFill>
                    <a:schemeClr val="accent1">
                      <a:lumMod val="75000"/>
                    </a:schemeClr>
                  </a:solidFill>
                </a:rPr>
                <a:t>质量控制：识别并清洗在标注、传输与处理过程中引入的标签噪声</a:t>
              </a:r>
              <a:endParaRPr lang="zh-CN" altLang="en-US" sz="2000" b="1">
                <a:solidFill>
                  <a:schemeClr val="accent1">
                    <a:lumMod val="75000"/>
                  </a:schemeClr>
                </a:solidFil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AutoShape 3"/>
          <p:cNvSpPr/>
          <p:nvPr/>
        </p:nvSpPr>
        <p:spPr>
          <a:xfrm>
            <a:off x="6223000" y="1524000"/>
            <a:ext cx="5207000" cy="5200650"/>
          </a:xfrm>
          <a:prstGeom prst="roundRect">
            <a:avLst>
              <a:gd name="adj" fmla="val 3157"/>
            </a:avLst>
          </a:prstGeom>
          <a:solidFill>
            <a:schemeClr val="bg1">
              <a:alpha val="62000"/>
            </a:schemeClr>
          </a:solidFill>
          <a:ln w="12700" cap="flat" cmpd="sng">
            <a:noFill/>
            <a:prstDash val="solid"/>
            <a:round/>
          </a:ln>
          <a:effectLst>
            <a:outerShdw blurRad="254000" dir="2700000" algn="tl" rotWithShape="0">
              <a:srgbClr val="00E5FF">
                <a:alpha val="15000"/>
              </a:srgbClr>
            </a:outerShdw>
          </a:effectLst>
        </p:spPr>
        <p:txBody>
          <a:bodyPr vert="horz" wrap="square" lIns="63500" tIns="63500" rIns="63500" bIns="63500" rtlCol="0" anchor="ctr"/>
          <a:lstStyle/>
          <a:p>
            <a:pPr algn="ctr">
              <a:defRPr/>
            </a:pPr>
          </a:p>
        </p:txBody>
      </p:sp>
      <p:pic>
        <p:nvPicPr>
          <p:cNvPr id="20" name="图片 19"/>
          <p:cNvPicPr>
            <a:picLocks noChangeAspect="1"/>
          </p:cNvPicPr>
          <p:nvPr/>
        </p:nvPicPr>
        <p:blipFill rotWithShape="1">
          <a:blip r:embed="rId1"/>
          <a:srcRect l="22337" t="1288"/>
          <a:stretch>
            <a:fillRect/>
          </a:stretch>
        </p:blipFill>
        <p:spPr>
          <a:xfrm flipH="1">
            <a:off x="-1" y="-1"/>
            <a:ext cx="12191999" cy="733425"/>
          </a:xfrm>
          <a:custGeom>
            <a:avLst/>
            <a:gdLst>
              <a:gd name="connsiteX0" fmla="*/ 8756888 w 8756888"/>
              <a:gd name="connsiteY0" fmla="*/ 0 h 6857999"/>
              <a:gd name="connsiteX1" fmla="*/ 0 w 8756888"/>
              <a:gd name="connsiteY1" fmla="*/ 0 h 6857999"/>
              <a:gd name="connsiteX2" fmla="*/ 0 w 8756888"/>
              <a:gd name="connsiteY2" fmla="*/ 6857999 h 6857999"/>
              <a:gd name="connsiteX3" fmla="*/ 8756888 w 8756888"/>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8756888" h="6857999">
                <a:moveTo>
                  <a:pt x="8756888" y="0"/>
                </a:moveTo>
                <a:lnTo>
                  <a:pt x="0" y="0"/>
                </a:lnTo>
                <a:lnTo>
                  <a:pt x="0" y="6857999"/>
                </a:lnTo>
                <a:lnTo>
                  <a:pt x="8756888" y="6857999"/>
                </a:lnTo>
                <a:close/>
              </a:path>
            </a:pathLst>
          </a:custGeom>
        </p:spPr>
      </p:pic>
      <p:sp>
        <p:nvSpPr>
          <p:cNvPr id="3" name="平行四边形 2"/>
          <p:cNvSpPr/>
          <p:nvPr/>
        </p:nvSpPr>
        <p:spPr>
          <a:xfrm flipH="1">
            <a:off x="4043389" y="117986"/>
            <a:ext cx="1319982" cy="501446"/>
          </a:xfrm>
          <a:prstGeom prst="parallelogram">
            <a:avLst/>
          </a:prstGeom>
          <a:no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5" name="平行四边形 4"/>
          <p:cNvSpPr/>
          <p:nvPr/>
        </p:nvSpPr>
        <p:spPr>
          <a:xfrm flipH="1">
            <a:off x="6737019" y="108154"/>
            <a:ext cx="1319982" cy="501446"/>
          </a:xfrm>
          <a:prstGeom prst="parallelogram">
            <a:avLst/>
          </a:prstGeom>
          <a:no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6" name="平行四边形 5"/>
          <p:cNvSpPr/>
          <p:nvPr/>
        </p:nvSpPr>
        <p:spPr>
          <a:xfrm flipH="1">
            <a:off x="8089952" y="108154"/>
            <a:ext cx="1319982" cy="501446"/>
          </a:xfrm>
          <a:prstGeom prst="parallelogram">
            <a:avLst/>
          </a:prstGeom>
          <a:no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7" name="平行四边形 6"/>
          <p:cNvSpPr/>
          <p:nvPr/>
        </p:nvSpPr>
        <p:spPr>
          <a:xfrm flipH="1">
            <a:off x="9442885" y="117986"/>
            <a:ext cx="1319982" cy="501446"/>
          </a:xfrm>
          <a:prstGeom prst="parallelogram">
            <a:avLst/>
          </a:prstGeom>
          <a:no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9" name="文本框 8"/>
          <p:cNvSpPr txBox="1"/>
          <p:nvPr/>
        </p:nvSpPr>
        <p:spPr>
          <a:xfrm>
            <a:off x="4184520" y="186216"/>
            <a:ext cx="1037720"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方案设计</a:t>
            </a:r>
            <a:endParaRPr lang="zh-CN" altLang="en-US" sz="1600" dirty="0">
              <a:solidFill>
                <a:schemeClr val="bg1"/>
              </a:solidFill>
              <a:latin typeface="思源黑体" panose="020B0800000000000000" pitchFamily="34" charset="-122"/>
              <a:ea typeface="思源黑体" panose="020B0800000000000000" pitchFamily="34" charset="-122"/>
            </a:endParaRPr>
          </a:p>
        </p:txBody>
      </p:sp>
      <p:sp>
        <p:nvSpPr>
          <p:cNvPr id="15" name="文本框 14"/>
          <p:cNvSpPr txBox="1"/>
          <p:nvPr/>
        </p:nvSpPr>
        <p:spPr>
          <a:xfrm>
            <a:off x="6873782" y="181932"/>
            <a:ext cx="1070927"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项目应用</a:t>
            </a:r>
            <a:endParaRPr lang="zh-CN" altLang="en-US" sz="1600" dirty="0">
              <a:solidFill>
                <a:schemeClr val="bg1"/>
              </a:solidFill>
              <a:latin typeface="思源黑体" panose="020B0800000000000000" pitchFamily="34" charset="-122"/>
              <a:ea typeface="思源黑体" panose="020B0800000000000000" pitchFamily="34" charset="-122"/>
            </a:endParaRPr>
          </a:p>
        </p:txBody>
      </p:sp>
      <p:sp>
        <p:nvSpPr>
          <p:cNvPr id="16" name="文本框 15"/>
          <p:cNvSpPr txBox="1"/>
          <p:nvPr/>
        </p:nvSpPr>
        <p:spPr>
          <a:xfrm>
            <a:off x="8230827" y="189600"/>
            <a:ext cx="1070927"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社会价值</a:t>
            </a:r>
            <a:endParaRPr lang="zh-CN" altLang="en-US" sz="1600" dirty="0">
              <a:solidFill>
                <a:schemeClr val="bg1"/>
              </a:solidFill>
              <a:latin typeface="思源黑体" panose="020B0800000000000000" pitchFamily="34" charset="-122"/>
              <a:ea typeface="思源黑体" panose="020B0800000000000000" pitchFamily="34" charset="-122"/>
            </a:endParaRPr>
          </a:p>
        </p:txBody>
      </p:sp>
      <p:sp>
        <p:nvSpPr>
          <p:cNvPr id="17" name="文本框 16"/>
          <p:cNvSpPr txBox="1"/>
          <p:nvPr/>
        </p:nvSpPr>
        <p:spPr>
          <a:xfrm>
            <a:off x="9605816" y="186216"/>
            <a:ext cx="1079229"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团队介绍</a:t>
            </a:r>
            <a:endParaRPr lang="zh-CN" altLang="en-US" sz="1600" dirty="0">
              <a:solidFill>
                <a:schemeClr val="bg1"/>
              </a:solidFill>
              <a:latin typeface="思源黑体" panose="020B0800000000000000" pitchFamily="34" charset="-122"/>
              <a:ea typeface="思源黑体" panose="020B0800000000000000" pitchFamily="34" charset="-122"/>
            </a:endParaRPr>
          </a:p>
        </p:txBody>
      </p:sp>
      <p:sp>
        <p:nvSpPr>
          <p:cNvPr id="18" name="平行四边形 17"/>
          <p:cNvSpPr/>
          <p:nvPr/>
        </p:nvSpPr>
        <p:spPr>
          <a:xfrm flipH="1">
            <a:off x="10795818" y="117986"/>
            <a:ext cx="1319982" cy="501446"/>
          </a:xfrm>
          <a:prstGeom prst="parallelogram">
            <a:avLst/>
          </a:prstGeom>
          <a:no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19" name="文本框 18"/>
          <p:cNvSpPr txBox="1"/>
          <p:nvPr/>
        </p:nvSpPr>
        <p:spPr>
          <a:xfrm>
            <a:off x="10953551" y="189600"/>
            <a:ext cx="1004516"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未来展望</a:t>
            </a:r>
            <a:endParaRPr lang="zh-CN" altLang="en-US" sz="1600" dirty="0">
              <a:solidFill>
                <a:schemeClr val="bg1"/>
              </a:solidFill>
              <a:latin typeface="思源黑体" panose="020B0800000000000000" pitchFamily="34" charset="-122"/>
              <a:ea typeface="思源黑体" panose="020B0800000000000000" pitchFamily="34" charset="-122"/>
            </a:endParaRPr>
          </a:p>
        </p:txBody>
      </p:sp>
      <p:grpSp>
        <p:nvGrpSpPr>
          <p:cNvPr id="23" name="组合 22"/>
          <p:cNvGrpSpPr/>
          <p:nvPr/>
        </p:nvGrpSpPr>
        <p:grpSpPr>
          <a:xfrm>
            <a:off x="198553" y="-113494"/>
            <a:ext cx="2214880" cy="732926"/>
            <a:chOff x="565150" y="86699"/>
            <a:chExt cx="2214880" cy="732926"/>
          </a:xfrm>
        </p:grpSpPr>
        <p:sp>
          <p:nvSpPr>
            <p:cNvPr id="24" name="文本框 23"/>
            <p:cNvSpPr txBox="1"/>
            <p:nvPr/>
          </p:nvSpPr>
          <p:spPr>
            <a:xfrm>
              <a:off x="565150" y="86699"/>
              <a:ext cx="2214880" cy="7067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0" normalizeH="0" baseline="0" noProof="0" dirty="0">
                  <a:ln>
                    <a:noFill/>
                  </a:ln>
                  <a:solidFill>
                    <a:schemeClr val="bg1"/>
                  </a:solidFill>
                  <a:effectLst/>
                  <a:uLnTx/>
                  <a:uFillTx/>
                  <a:latin typeface="隶书" panose="02010509060101010101" pitchFamily="49" charset="-122"/>
                  <a:ea typeface="隶书" panose="02010509060101010101" pitchFamily="49" charset="-122"/>
                  <a:cs typeface="+mn-cs"/>
                </a:rPr>
                <a:t>核心技术</a:t>
              </a:r>
              <a:endParaRPr kumimoji="0" lang="zh-CN" altLang="en-US" sz="4000" b="0" i="0" u="none" strike="noStrike" kern="1200" cap="none" spc="0" normalizeH="0" baseline="0" noProof="0" dirty="0">
                <a:ln>
                  <a:noFill/>
                </a:ln>
                <a:solidFill>
                  <a:schemeClr val="bg1"/>
                </a:solidFill>
                <a:effectLst/>
                <a:uLnTx/>
                <a:uFillTx/>
                <a:latin typeface="隶书" panose="02010509060101010101" pitchFamily="49" charset="-122"/>
                <a:ea typeface="隶书" panose="02010509060101010101" pitchFamily="49" charset="-122"/>
                <a:cs typeface="+mn-cs"/>
              </a:endParaRPr>
            </a:p>
          </p:txBody>
        </p:sp>
        <p:cxnSp>
          <p:nvCxnSpPr>
            <p:cNvPr id="25" name="直接连接符 24"/>
            <p:cNvCxnSpPr/>
            <p:nvPr/>
          </p:nvCxnSpPr>
          <p:spPr>
            <a:xfrm>
              <a:off x="678180" y="728663"/>
              <a:ext cx="202692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6" name="任意多边形: 形状 25"/>
            <p:cNvSpPr/>
            <p:nvPr/>
          </p:nvSpPr>
          <p:spPr>
            <a:xfrm>
              <a:off x="678179" y="773906"/>
              <a:ext cx="2026920" cy="45719"/>
            </a:xfrm>
            <a:custGeom>
              <a:avLst/>
              <a:gdLst>
                <a:gd name="connsiteX0" fmla="*/ 1978819 w 2026920"/>
                <a:gd name="connsiteY0" fmla="*/ 0 h 45719"/>
                <a:gd name="connsiteX1" fmla="*/ 2026920 w 2026920"/>
                <a:gd name="connsiteY1" fmla="*/ 0 h 45719"/>
                <a:gd name="connsiteX2" fmla="*/ 2026920 w 2026920"/>
                <a:gd name="connsiteY2" fmla="*/ 45719 h 45719"/>
                <a:gd name="connsiteX3" fmla="*/ 1978819 w 2026920"/>
                <a:gd name="connsiteY3" fmla="*/ 45719 h 45719"/>
                <a:gd name="connsiteX4" fmla="*/ 1887560 w 2026920"/>
                <a:gd name="connsiteY4" fmla="*/ 0 h 45719"/>
                <a:gd name="connsiteX5" fmla="*/ 1935661 w 2026920"/>
                <a:gd name="connsiteY5" fmla="*/ 0 h 45719"/>
                <a:gd name="connsiteX6" fmla="*/ 1935661 w 2026920"/>
                <a:gd name="connsiteY6" fmla="*/ 45719 h 45719"/>
                <a:gd name="connsiteX7" fmla="*/ 1887560 w 2026920"/>
                <a:gd name="connsiteY7" fmla="*/ 45719 h 45719"/>
                <a:gd name="connsiteX8" fmla="*/ 1796302 w 2026920"/>
                <a:gd name="connsiteY8" fmla="*/ 0 h 45719"/>
                <a:gd name="connsiteX9" fmla="*/ 1844403 w 2026920"/>
                <a:gd name="connsiteY9" fmla="*/ 0 h 45719"/>
                <a:gd name="connsiteX10" fmla="*/ 1844403 w 2026920"/>
                <a:gd name="connsiteY10" fmla="*/ 45719 h 45719"/>
                <a:gd name="connsiteX11" fmla="*/ 1796302 w 2026920"/>
                <a:gd name="connsiteY11" fmla="*/ 45719 h 45719"/>
                <a:gd name="connsiteX12" fmla="*/ 1705043 w 2026920"/>
                <a:gd name="connsiteY12" fmla="*/ 0 h 45719"/>
                <a:gd name="connsiteX13" fmla="*/ 1753144 w 2026920"/>
                <a:gd name="connsiteY13" fmla="*/ 0 h 45719"/>
                <a:gd name="connsiteX14" fmla="*/ 1753144 w 2026920"/>
                <a:gd name="connsiteY14" fmla="*/ 45719 h 45719"/>
                <a:gd name="connsiteX15" fmla="*/ 1705043 w 2026920"/>
                <a:gd name="connsiteY15" fmla="*/ 45719 h 45719"/>
                <a:gd name="connsiteX16" fmla="*/ 1613785 w 2026920"/>
                <a:gd name="connsiteY16" fmla="*/ 0 h 45719"/>
                <a:gd name="connsiteX17" fmla="*/ 1661886 w 2026920"/>
                <a:gd name="connsiteY17" fmla="*/ 0 h 45719"/>
                <a:gd name="connsiteX18" fmla="*/ 1661886 w 2026920"/>
                <a:gd name="connsiteY18" fmla="*/ 45719 h 45719"/>
                <a:gd name="connsiteX19" fmla="*/ 1613785 w 2026920"/>
                <a:gd name="connsiteY19" fmla="*/ 45719 h 45719"/>
                <a:gd name="connsiteX20" fmla="*/ 1522526 w 2026920"/>
                <a:gd name="connsiteY20" fmla="*/ 0 h 45719"/>
                <a:gd name="connsiteX21" fmla="*/ 1570627 w 2026920"/>
                <a:gd name="connsiteY21" fmla="*/ 0 h 45719"/>
                <a:gd name="connsiteX22" fmla="*/ 1570627 w 2026920"/>
                <a:gd name="connsiteY22" fmla="*/ 45719 h 45719"/>
                <a:gd name="connsiteX23" fmla="*/ 1522526 w 2026920"/>
                <a:gd name="connsiteY23" fmla="*/ 45719 h 45719"/>
                <a:gd name="connsiteX24" fmla="*/ 1431267 w 2026920"/>
                <a:gd name="connsiteY24" fmla="*/ 0 h 45719"/>
                <a:gd name="connsiteX25" fmla="*/ 1479368 w 2026920"/>
                <a:gd name="connsiteY25" fmla="*/ 0 h 45719"/>
                <a:gd name="connsiteX26" fmla="*/ 1479368 w 2026920"/>
                <a:gd name="connsiteY26" fmla="*/ 45719 h 45719"/>
                <a:gd name="connsiteX27" fmla="*/ 1431267 w 2026920"/>
                <a:gd name="connsiteY27" fmla="*/ 45719 h 45719"/>
                <a:gd name="connsiteX28" fmla="*/ 1340009 w 2026920"/>
                <a:gd name="connsiteY28" fmla="*/ 0 h 45719"/>
                <a:gd name="connsiteX29" fmla="*/ 1388110 w 2026920"/>
                <a:gd name="connsiteY29" fmla="*/ 0 h 45719"/>
                <a:gd name="connsiteX30" fmla="*/ 1388110 w 2026920"/>
                <a:gd name="connsiteY30" fmla="*/ 45719 h 45719"/>
                <a:gd name="connsiteX31" fmla="*/ 1340009 w 2026920"/>
                <a:gd name="connsiteY31" fmla="*/ 45719 h 45719"/>
                <a:gd name="connsiteX32" fmla="*/ 1248750 w 2026920"/>
                <a:gd name="connsiteY32" fmla="*/ 0 h 45719"/>
                <a:gd name="connsiteX33" fmla="*/ 1296851 w 2026920"/>
                <a:gd name="connsiteY33" fmla="*/ 0 h 45719"/>
                <a:gd name="connsiteX34" fmla="*/ 1296851 w 2026920"/>
                <a:gd name="connsiteY34" fmla="*/ 45719 h 45719"/>
                <a:gd name="connsiteX35" fmla="*/ 1248750 w 2026920"/>
                <a:gd name="connsiteY35" fmla="*/ 45719 h 45719"/>
                <a:gd name="connsiteX36" fmla="*/ 1157491 w 2026920"/>
                <a:gd name="connsiteY36" fmla="*/ 0 h 45719"/>
                <a:gd name="connsiteX37" fmla="*/ 1205592 w 2026920"/>
                <a:gd name="connsiteY37" fmla="*/ 0 h 45719"/>
                <a:gd name="connsiteX38" fmla="*/ 1205592 w 2026920"/>
                <a:gd name="connsiteY38" fmla="*/ 45719 h 45719"/>
                <a:gd name="connsiteX39" fmla="*/ 1157491 w 2026920"/>
                <a:gd name="connsiteY39" fmla="*/ 45719 h 45719"/>
                <a:gd name="connsiteX40" fmla="*/ 1066233 w 2026920"/>
                <a:gd name="connsiteY40" fmla="*/ 0 h 45719"/>
                <a:gd name="connsiteX41" fmla="*/ 1114334 w 2026920"/>
                <a:gd name="connsiteY41" fmla="*/ 0 h 45719"/>
                <a:gd name="connsiteX42" fmla="*/ 1114334 w 2026920"/>
                <a:gd name="connsiteY42" fmla="*/ 45719 h 45719"/>
                <a:gd name="connsiteX43" fmla="*/ 1066233 w 2026920"/>
                <a:gd name="connsiteY43" fmla="*/ 45719 h 45719"/>
                <a:gd name="connsiteX44" fmla="*/ 974974 w 2026920"/>
                <a:gd name="connsiteY44" fmla="*/ 0 h 45719"/>
                <a:gd name="connsiteX45" fmla="*/ 1023075 w 2026920"/>
                <a:gd name="connsiteY45" fmla="*/ 0 h 45719"/>
                <a:gd name="connsiteX46" fmla="*/ 1023075 w 2026920"/>
                <a:gd name="connsiteY46" fmla="*/ 45719 h 45719"/>
                <a:gd name="connsiteX47" fmla="*/ 974974 w 2026920"/>
                <a:gd name="connsiteY47" fmla="*/ 45719 h 45719"/>
                <a:gd name="connsiteX48" fmla="*/ 883716 w 2026920"/>
                <a:gd name="connsiteY48" fmla="*/ 0 h 45719"/>
                <a:gd name="connsiteX49" fmla="*/ 931817 w 2026920"/>
                <a:gd name="connsiteY49" fmla="*/ 0 h 45719"/>
                <a:gd name="connsiteX50" fmla="*/ 931817 w 2026920"/>
                <a:gd name="connsiteY50" fmla="*/ 45719 h 45719"/>
                <a:gd name="connsiteX51" fmla="*/ 883716 w 2026920"/>
                <a:gd name="connsiteY51" fmla="*/ 45719 h 45719"/>
                <a:gd name="connsiteX52" fmla="*/ 792457 w 2026920"/>
                <a:gd name="connsiteY52" fmla="*/ 0 h 45719"/>
                <a:gd name="connsiteX53" fmla="*/ 840558 w 2026920"/>
                <a:gd name="connsiteY53" fmla="*/ 0 h 45719"/>
                <a:gd name="connsiteX54" fmla="*/ 840558 w 2026920"/>
                <a:gd name="connsiteY54" fmla="*/ 45719 h 45719"/>
                <a:gd name="connsiteX55" fmla="*/ 792457 w 2026920"/>
                <a:gd name="connsiteY55" fmla="*/ 45719 h 45719"/>
                <a:gd name="connsiteX56" fmla="*/ 701198 w 2026920"/>
                <a:gd name="connsiteY56" fmla="*/ 0 h 45719"/>
                <a:gd name="connsiteX57" fmla="*/ 749299 w 2026920"/>
                <a:gd name="connsiteY57" fmla="*/ 0 h 45719"/>
                <a:gd name="connsiteX58" fmla="*/ 749299 w 2026920"/>
                <a:gd name="connsiteY58" fmla="*/ 45719 h 45719"/>
                <a:gd name="connsiteX59" fmla="*/ 701198 w 2026920"/>
                <a:gd name="connsiteY59" fmla="*/ 45719 h 45719"/>
                <a:gd name="connsiteX60" fmla="*/ 609940 w 2026920"/>
                <a:gd name="connsiteY60" fmla="*/ 0 h 45719"/>
                <a:gd name="connsiteX61" fmla="*/ 658041 w 2026920"/>
                <a:gd name="connsiteY61" fmla="*/ 0 h 45719"/>
                <a:gd name="connsiteX62" fmla="*/ 658041 w 2026920"/>
                <a:gd name="connsiteY62" fmla="*/ 45719 h 45719"/>
                <a:gd name="connsiteX63" fmla="*/ 609940 w 2026920"/>
                <a:gd name="connsiteY63" fmla="*/ 45719 h 45719"/>
                <a:gd name="connsiteX64" fmla="*/ 518681 w 2026920"/>
                <a:gd name="connsiteY64" fmla="*/ 0 h 45719"/>
                <a:gd name="connsiteX65" fmla="*/ 566782 w 2026920"/>
                <a:gd name="connsiteY65" fmla="*/ 0 h 45719"/>
                <a:gd name="connsiteX66" fmla="*/ 566782 w 2026920"/>
                <a:gd name="connsiteY66" fmla="*/ 45719 h 45719"/>
                <a:gd name="connsiteX67" fmla="*/ 518681 w 2026920"/>
                <a:gd name="connsiteY67" fmla="*/ 45719 h 45719"/>
                <a:gd name="connsiteX68" fmla="*/ 427422 w 2026920"/>
                <a:gd name="connsiteY68" fmla="*/ 0 h 45719"/>
                <a:gd name="connsiteX69" fmla="*/ 475523 w 2026920"/>
                <a:gd name="connsiteY69" fmla="*/ 0 h 45719"/>
                <a:gd name="connsiteX70" fmla="*/ 475523 w 2026920"/>
                <a:gd name="connsiteY70" fmla="*/ 45719 h 45719"/>
                <a:gd name="connsiteX71" fmla="*/ 427422 w 2026920"/>
                <a:gd name="connsiteY71" fmla="*/ 45719 h 45719"/>
                <a:gd name="connsiteX72" fmla="*/ 336164 w 2026920"/>
                <a:gd name="connsiteY72" fmla="*/ 0 h 45719"/>
                <a:gd name="connsiteX73" fmla="*/ 384265 w 2026920"/>
                <a:gd name="connsiteY73" fmla="*/ 0 h 45719"/>
                <a:gd name="connsiteX74" fmla="*/ 384265 w 2026920"/>
                <a:gd name="connsiteY74" fmla="*/ 45719 h 45719"/>
                <a:gd name="connsiteX75" fmla="*/ 336164 w 2026920"/>
                <a:gd name="connsiteY75" fmla="*/ 45719 h 45719"/>
                <a:gd name="connsiteX76" fmla="*/ 244905 w 2026920"/>
                <a:gd name="connsiteY76" fmla="*/ 0 h 45719"/>
                <a:gd name="connsiteX77" fmla="*/ 293006 w 2026920"/>
                <a:gd name="connsiteY77" fmla="*/ 0 h 45719"/>
                <a:gd name="connsiteX78" fmla="*/ 293006 w 2026920"/>
                <a:gd name="connsiteY78" fmla="*/ 45719 h 45719"/>
                <a:gd name="connsiteX79" fmla="*/ 244905 w 2026920"/>
                <a:gd name="connsiteY79" fmla="*/ 45719 h 45719"/>
                <a:gd name="connsiteX80" fmla="*/ 153647 w 2026920"/>
                <a:gd name="connsiteY80" fmla="*/ 0 h 45719"/>
                <a:gd name="connsiteX81" fmla="*/ 201748 w 2026920"/>
                <a:gd name="connsiteY81" fmla="*/ 0 h 45719"/>
                <a:gd name="connsiteX82" fmla="*/ 201748 w 2026920"/>
                <a:gd name="connsiteY82" fmla="*/ 45719 h 45719"/>
                <a:gd name="connsiteX83" fmla="*/ 153647 w 2026920"/>
                <a:gd name="connsiteY83" fmla="*/ 45719 h 45719"/>
                <a:gd name="connsiteX84" fmla="*/ 62388 w 2026920"/>
                <a:gd name="connsiteY84" fmla="*/ 0 h 45719"/>
                <a:gd name="connsiteX85" fmla="*/ 110489 w 2026920"/>
                <a:gd name="connsiteY85" fmla="*/ 0 h 45719"/>
                <a:gd name="connsiteX86" fmla="*/ 110489 w 2026920"/>
                <a:gd name="connsiteY86" fmla="*/ 45719 h 45719"/>
                <a:gd name="connsiteX87" fmla="*/ 62388 w 2026920"/>
                <a:gd name="connsiteY87" fmla="*/ 45719 h 45719"/>
                <a:gd name="connsiteX88" fmla="*/ 0 w 2026920"/>
                <a:gd name="connsiteY88" fmla="*/ 0 h 45719"/>
                <a:gd name="connsiteX89" fmla="*/ 48101 w 2026920"/>
                <a:gd name="connsiteY89" fmla="*/ 0 h 45719"/>
                <a:gd name="connsiteX90" fmla="*/ 48101 w 2026920"/>
                <a:gd name="connsiteY90" fmla="*/ 45719 h 45719"/>
                <a:gd name="connsiteX91" fmla="*/ 0 w 2026920"/>
                <a:gd name="connsiteY91"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2026920" h="45719">
                  <a:moveTo>
                    <a:pt x="1978819" y="0"/>
                  </a:moveTo>
                  <a:lnTo>
                    <a:pt x="2026920" y="0"/>
                  </a:lnTo>
                  <a:lnTo>
                    <a:pt x="2026920" y="45719"/>
                  </a:lnTo>
                  <a:lnTo>
                    <a:pt x="1978819" y="45719"/>
                  </a:lnTo>
                  <a:close/>
                  <a:moveTo>
                    <a:pt x="1887560" y="0"/>
                  </a:moveTo>
                  <a:lnTo>
                    <a:pt x="1935661" y="0"/>
                  </a:lnTo>
                  <a:lnTo>
                    <a:pt x="1935661" y="45719"/>
                  </a:lnTo>
                  <a:lnTo>
                    <a:pt x="1887560" y="45719"/>
                  </a:lnTo>
                  <a:close/>
                  <a:moveTo>
                    <a:pt x="1796302" y="0"/>
                  </a:moveTo>
                  <a:lnTo>
                    <a:pt x="1844403" y="0"/>
                  </a:lnTo>
                  <a:lnTo>
                    <a:pt x="1844403" y="45719"/>
                  </a:lnTo>
                  <a:lnTo>
                    <a:pt x="1796302" y="45719"/>
                  </a:lnTo>
                  <a:close/>
                  <a:moveTo>
                    <a:pt x="1705043" y="0"/>
                  </a:moveTo>
                  <a:lnTo>
                    <a:pt x="1753144" y="0"/>
                  </a:lnTo>
                  <a:lnTo>
                    <a:pt x="1753144" y="45719"/>
                  </a:lnTo>
                  <a:lnTo>
                    <a:pt x="1705043" y="45719"/>
                  </a:lnTo>
                  <a:close/>
                  <a:moveTo>
                    <a:pt x="1613785" y="0"/>
                  </a:moveTo>
                  <a:lnTo>
                    <a:pt x="1661886" y="0"/>
                  </a:lnTo>
                  <a:lnTo>
                    <a:pt x="1661886" y="45719"/>
                  </a:lnTo>
                  <a:lnTo>
                    <a:pt x="1613785" y="45719"/>
                  </a:lnTo>
                  <a:close/>
                  <a:moveTo>
                    <a:pt x="1522526" y="0"/>
                  </a:moveTo>
                  <a:lnTo>
                    <a:pt x="1570627" y="0"/>
                  </a:lnTo>
                  <a:lnTo>
                    <a:pt x="1570627" y="45719"/>
                  </a:lnTo>
                  <a:lnTo>
                    <a:pt x="1522526" y="45719"/>
                  </a:lnTo>
                  <a:close/>
                  <a:moveTo>
                    <a:pt x="1431267" y="0"/>
                  </a:moveTo>
                  <a:lnTo>
                    <a:pt x="1479368" y="0"/>
                  </a:lnTo>
                  <a:lnTo>
                    <a:pt x="1479368" y="45719"/>
                  </a:lnTo>
                  <a:lnTo>
                    <a:pt x="1431267" y="45719"/>
                  </a:lnTo>
                  <a:close/>
                  <a:moveTo>
                    <a:pt x="1340009" y="0"/>
                  </a:moveTo>
                  <a:lnTo>
                    <a:pt x="1388110" y="0"/>
                  </a:lnTo>
                  <a:lnTo>
                    <a:pt x="1388110" y="45719"/>
                  </a:lnTo>
                  <a:lnTo>
                    <a:pt x="1340009" y="45719"/>
                  </a:lnTo>
                  <a:close/>
                  <a:moveTo>
                    <a:pt x="1248750" y="0"/>
                  </a:moveTo>
                  <a:lnTo>
                    <a:pt x="1296851" y="0"/>
                  </a:lnTo>
                  <a:lnTo>
                    <a:pt x="1296851" y="45719"/>
                  </a:lnTo>
                  <a:lnTo>
                    <a:pt x="1248750" y="45719"/>
                  </a:lnTo>
                  <a:close/>
                  <a:moveTo>
                    <a:pt x="1157491" y="0"/>
                  </a:moveTo>
                  <a:lnTo>
                    <a:pt x="1205592" y="0"/>
                  </a:lnTo>
                  <a:lnTo>
                    <a:pt x="1205592" y="45719"/>
                  </a:lnTo>
                  <a:lnTo>
                    <a:pt x="1157491" y="45719"/>
                  </a:lnTo>
                  <a:close/>
                  <a:moveTo>
                    <a:pt x="1066233" y="0"/>
                  </a:moveTo>
                  <a:lnTo>
                    <a:pt x="1114334" y="0"/>
                  </a:lnTo>
                  <a:lnTo>
                    <a:pt x="1114334" y="45719"/>
                  </a:lnTo>
                  <a:lnTo>
                    <a:pt x="1066233" y="45719"/>
                  </a:lnTo>
                  <a:close/>
                  <a:moveTo>
                    <a:pt x="974974" y="0"/>
                  </a:moveTo>
                  <a:lnTo>
                    <a:pt x="1023075" y="0"/>
                  </a:lnTo>
                  <a:lnTo>
                    <a:pt x="1023075" y="45719"/>
                  </a:lnTo>
                  <a:lnTo>
                    <a:pt x="974974" y="45719"/>
                  </a:lnTo>
                  <a:close/>
                  <a:moveTo>
                    <a:pt x="883716" y="0"/>
                  </a:moveTo>
                  <a:lnTo>
                    <a:pt x="931817" y="0"/>
                  </a:lnTo>
                  <a:lnTo>
                    <a:pt x="931817" y="45719"/>
                  </a:lnTo>
                  <a:lnTo>
                    <a:pt x="883716" y="45719"/>
                  </a:lnTo>
                  <a:close/>
                  <a:moveTo>
                    <a:pt x="792457" y="0"/>
                  </a:moveTo>
                  <a:lnTo>
                    <a:pt x="840558" y="0"/>
                  </a:lnTo>
                  <a:lnTo>
                    <a:pt x="840558" y="45719"/>
                  </a:lnTo>
                  <a:lnTo>
                    <a:pt x="792457" y="45719"/>
                  </a:lnTo>
                  <a:close/>
                  <a:moveTo>
                    <a:pt x="701198" y="0"/>
                  </a:moveTo>
                  <a:lnTo>
                    <a:pt x="749299" y="0"/>
                  </a:lnTo>
                  <a:lnTo>
                    <a:pt x="749299" y="45719"/>
                  </a:lnTo>
                  <a:lnTo>
                    <a:pt x="701198" y="45719"/>
                  </a:lnTo>
                  <a:close/>
                  <a:moveTo>
                    <a:pt x="609940" y="0"/>
                  </a:moveTo>
                  <a:lnTo>
                    <a:pt x="658041" y="0"/>
                  </a:lnTo>
                  <a:lnTo>
                    <a:pt x="658041" y="45719"/>
                  </a:lnTo>
                  <a:lnTo>
                    <a:pt x="609940" y="45719"/>
                  </a:lnTo>
                  <a:close/>
                  <a:moveTo>
                    <a:pt x="518681" y="0"/>
                  </a:moveTo>
                  <a:lnTo>
                    <a:pt x="566782" y="0"/>
                  </a:lnTo>
                  <a:lnTo>
                    <a:pt x="566782" y="45719"/>
                  </a:lnTo>
                  <a:lnTo>
                    <a:pt x="518681" y="45719"/>
                  </a:lnTo>
                  <a:close/>
                  <a:moveTo>
                    <a:pt x="427422" y="0"/>
                  </a:moveTo>
                  <a:lnTo>
                    <a:pt x="475523" y="0"/>
                  </a:lnTo>
                  <a:lnTo>
                    <a:pt x="475523" y="45719"/>
                  </a:lnTo>
                  <a:lnTo>
                    <a:pt x="427422" y="45719"/>
                  </a:lnTo>
                  <a:close/>
                  <a:moveTo>
                    <a:pt x="336164" y="0"/>
                  </a:moveTo>
                  <a:lnTo>
                    <a:pt x="384265" y="0"/>
                  </a:lnTo>
                  <a:lnTo>
                    <a:pt x="384265" y="45719"/>
                  </a:lnTo>
                  <a:lnTo>
                    <a:pt x="336164" y="45719"/>
                  </a:lnTo>
                  <a:close/>
                  <a:moveTo>
                    <a:pt x="244905" y="0"/>
                  </a:moveTo>
                  <a:lnTo>
                    <a:pt x="293006" y="0"/>
                  </a:lnTo>
                  <a:lnTo>
                    <a:pt x="293006" y="45719"/>
                  </a:lnTo>
                  <a:lnTo>
                    <a:pt x="244905" y="45719"/>
                  </a:lnTo>
                  <a:close/>
                  <a:moveTo>
                    <a:pt x="153647" y="0"/>
                  </a:moveTo>
                  <a:lnTo>
                    <a:pt x="201748" y="0"/>
                  </a:lnTo>
                  <a:lnTo>
                    <a:pt x="201748" y="45719"/>
                  </a:lnTo>
                  <a:lnTo>
                    <a:pt x="153647" y="45719"/>
                  </a:lnTo>
                  <a:close/>
                  <a:moveTo>
                    <a:pt x="62388" y="0"/>
                  </a:moveTo>
                  <a:lnTo>
                    <a:pt x="110489" y="0"/>
                  </a:lnTo>
                  <a:lnTo>
                    <a:pt x="110489" y="45719"/>
                  </a:lnTo>
                  <a:lnTo>
                    <a:pt x="62388" y="45719"/>
                  </a:lnTo>
                  <a:close/>
                  <a:moveTo>
                    <a:pt x="0" y="0"/>
                  </a:moveTo>
                  <a:lnTo>
                    <a:pt x="48101" y="0"/>
                  </a:lnTo>
                  <a:lnTo>
                    <a:pt x="48101" y="45719"/>
                  </a:lnTo>
                  <a:lnTo>
                    <a:pt x="0" y="45719"/>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11" name="平行四边形 10"/>
          <p:cNvSpPr/>
          <p:nvPr/>
        </p:nvSpPr>
        <p:spPr>
          <a:xfrm flipH="1">
            <a:off x="5386031" y="104979"/>
            <a:ext cx="1319982" cy="501446"/>
          </a:xfrm>
          <a:prstGeom prst="parallelogram">
            <a:avLst/>
          </a:prstGeom>
          <a:solidFill>
            <a:schemeClr val="accent4"/>
          </a:solid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12" name="平行四边形 11"/>
          <p:cNvSpPr/>
          <p:nvPr/>
        </p:nvSpPr>
        <p:spPr>
          <a:xfrm flipH="1">
            <a:off x="2693127" y="115139"/>
            <a:ext cx="1319982" cy="501446"/>
          </a:xfrm>
          <a:prstGeom prst="parallelogram">
            <a:avLst/>
          </a:prstGeom>
          <a:no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10" name="文本框 9"/>
          <p:cNvSpPr txBox="1"/>
          <p:nvPr/>
        </p:nvSpPr>
        <p:spPr>
          <a:xfrm>
            <a:off x="5533553" y="196641"/>
            <a:ext cx="1070927"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核心技术</a:t>
            </a:r>
            <a:endParaRPr lang="zh-CN" altLang="en-US" sz="1600" dirty="0">
              <a:solidFill>
                <a:schemeClr val="bg1"/>
              </a:solidFill>
              <a:latin typeface="思源黑体" panose="020B0800000000000000" pitchFamily="34" charset="-122"/>
              <a:ea typeface="思源黑体" panose="020B0800000000000000" pitchFamily="34" charset="-122"/>
            </a:endParaRPr>
          </a:p>
        </p:txBody>
      </p:sp>
      <p:sp>
        <p:nvSpPr>
          <p:cNvPr id="8" name="文本框 7"/>
          <p:cNvSpPr txBox="1"/>
          <p:nvPr/>
        </p:nvSpPr>
        <p:spPr>
          <a:xfrm>
            <a:off x="2852084" y="196641"/>
            <a:ext cx="1120740"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项目背景</a:t>
            </a:r>
            <a:endParaRPr lang="zh-CN" altLang="en-US" sz="1600" dirty="0">
              <a:solidFill>
                <a:schemeClr val="bg1"/>
              </a:solidFill>
              <a:latin typeface="思源黑体" panose="020B0800000000000000" pitchFamily="34" charset="-122"/>
              <a:ea typeface="思源黑体" panose="020B0800000000000000" pitchFamily="34" charset="-122"/>
            </a:endParaRPr>
          </a:p>
        </p:txBody>
      </p:sp>
      <p:sp>
        <p:nvSpPr>
          <p:cNvPr id="184" name="文本框 183"/>
          <p:cNvSpPr txBox="1"/>
          <p:nvPr/>
        </p:nvSpPr>
        <p:spPr>
          <a:xfrm>
            <a:off x="198755" y="833755"/>
            <a:ext cx="5334635" cy="583565"/>
          </a:xfrm>
          <a:prstGeom prst="rect">
            <a:avLst/>
          </a:prstGeom>
          <a:noFill/>
        </p:spPr>
        <p:txBody>
          <a:bodyPr wrap="square" rtlCol="0" anchor="t">
            <a:spAutoFit/>
          </a:bodyPr>
          <a:p>
            <a:pPr algn="l"/>
            <a:r>
              <a:rPr lang="zh-CN" altLang="en-US" sz="3200" b="1" dirty="0">
                <a:latin typeface="华文隶书" panose="02010800040101010101" charset="-122"/>
                <a:ea typeface="华文隶书" panose="02010800040101010101" charset="-122"/>
                <a:sym typeface="+mn-ea"/>
              </a:rPr>
              <a:t>遥感智能解译基础模型设计</a:t>
            </a:r>
            <a:endParaRPr lang="zh-CN" altLang="en-US" sz="3200" b="1" dirty="0">
              <a:latin typeface="华文隶书" panose="02010800040101010101" charset="-122"/>
              <a:ea typeface="华文隶书" panose="02010800040101010101" charset="-122"/>
              <a:sym typeface="+mn-ea"/>
            </a:endParaRPr>
          </a:p>
        </p:txBody>
      </p:sp>
      <p:sp>
        <p:nvSpPr>
          <p:cNvPr id="2" name="AutoShape 3"/>
          <p:cNvSpPr/>
          <p:nvPr/>
        </p:nvSpPr>
        <p:spPr>
          <a:xfrm>
            <a:off x="762000" y="1524000"/>
            <a:ext cx="5207000" cy="5200015"/>
          </a:xfrm>
          <a:prstGeom prst="roundRect">
            <a:avLst>
              <a:gd name="adj" fmla="val 3157"/>
            </a:avLst>
          </a:prstGeom>
          <a:solidFill>
            <a:schemeClr val="bg1">
              <a:alpha val="62000"/>
            </a:schemeClr>
          </a:solidFill>
          <a:ln w="12700" cap="flat" cmpd="sng">
            <a:noFill/>
            <a:prstDash val="solid"/>
            <a:round/>
          </a:ln>
          <a:effectLst>
            <a:outerShdw blurRad="254000" dir="2700000" algn="tl" rotWithShape="0">
              <a:srgbClr val="00E5FF">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1016000" y="17780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双分支特征融合与</a:t>
            </a:r>
            <a:r>
              <a:rPr lang="en-US" altLang="zh-CN"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XRFM</a:t>
            </a:r>
            <a:r>
              <a:rPr lang="zh-CN" altLang="en-US"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非线性决策</a:t>
            </a:r>
            <a:endParaRPr lang="zh-CN" altLang="en-US"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5"/>
          <p:cNvSpPr/>
          <p:nvPr/>
        </p:nvSpPr>
        <p:spPr>
          <a:xfrm>
            <a:off x="1016000" y="2301240"/>
            <a:ext cx="4699000" cy="1325880"/>
          </a:xfrm>
          <a:prstGeom prst="roundRect">
            <a:avLst>
              <a:gd name="adj" fmla="val 8888"/>
            </a:avLst>
          </a:prstGeom>
          <a:solidFill>
            <a:srgbClr val="00E5FF">
              <a:alpha val="8000"/>
            </a:srgbClr>
          </a:solidFill>
          <a:ln w="25400" cap="flat" cmpd="sng">
            <a:noFill/>
            <a:prstDash val="solid"/>
            <a:round/>
          </a:ln>
        </p:spPr>
        <p:txBody>
          <a:bodyPr vert="horz" wrap="square" lIns="63500" tIns="63500" rIns="63500" bIns="63500" rtlCol="0" anchor="ctr"/>
          <a:lstStyle/>
          <a:p>
            <a:pPr algn="ctr">
              <a:defRPr/>
            </a:pPr>
          </a:p>
        </p:txBody>
      </p:sp>
      <p:pic>
        <p:nvPicPr>
          <p:cNvPr id="14"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206500" y="2433320"/>
            <a:ext cx="508000" cy="508000"/>
          </a:xfrm>
          <a:prstGeom prst="rect">
            <a:avLst/>
          </a:prstGeom>
        </p:spPr>
      </p:pic>
      <p:sp>
        <p:nvSpPr>
          <p:cNvPr id="27" name="AutoShape 7"/>
          <p:cNvSpPr/>
          <p:nvPr/>
        </p:nvSpPr>
        <p:spPr>
          <a:xfrm>
            <a:off x="1905000" y="2397760"/>
            <a:ext cx="368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双分支并行提取</a:t>
            </a:r>
            <a:endParaRPr lang="zh-CN" altLang="en-US" sz="1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8" name="AutoShape 8"/>
          <p:cNvSpPr/>
          <p:nvPr/>
        </p:nvSpPr>
        <p:spPr>
          <a:xfrm>
            <a:off x="1905000" y="2712720"/>
            <a:ext cx="3683000" cy="571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zh-CN" altLang="en-US" sz="14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深度分支：轻量化视觉转换器</a:t>
            </a:r>
            <a:endParaRPr lang="zh-CN" altLang="en-US" sz="14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defRPr/>
            </a:pPr>
            <a:r>
              <a:rPr lang="zh-CN" altLang="en-US" sz="14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自注意力机制：</a:t>
            </a:r>
            <a:endParaRPr lang="zh-CN" altLang="en-US" sz="14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defRPr/>
            </a:pPr>
            <a:endParaRPr lang="zh-CN" altLang="en-US" sz="14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9" name="AutoShape 9"/>
          <p:cNvSpPr/>
          <p:nvPr/>
        </p:nvSpPr>
        <p:spPr>
          <a:xfrm>
            <a:off x="1056640" y="3815080"/>
            <a:ext cx="4699000" cy="1143000"/>
          </a:xfrm>
          <a:prstGeom prst="roundRect">
            <a:avLst>
              <a:gd name="adj" fmla="val 8888"/>
            </a:avLst>
          </a:prstGeom>
          <a:solidFill>
            <a:srgbClr val="00E5FF">
              <a:alpha val="8000"/>
            </a:srgbClr>
          </a:solidFill>
          <a:ln w="25400" cap="flat" cmpd="sng">
            <a:noFill/>
            <a:prstDash val="solid"/>
            <a:round/>
          </a:ln>
        </p:spPr>
        <p:txBody>
          <a:bodyPr vert="horz" wrap="square" lIns="63500" tIns="63500" rIns="63500" bIns="63500" rtlCol="0" anchor="ctr"/>
          <a:lstStyle/>
          <a:p>
            <a:pPr algn="ctr">
              <a:defRPr/>
            </a:pPr>
          </a:p>
        </p:txBody>
      </p:sp>
      <p:pic>
        <p:nvPicPr>
          <p:cNvPr id="3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06500" y="3967480"/>
            <a:ext cx="508000" cy="508000"/>
          </a:xfrm>
          <a:prstGeom prst="rect">
            <a:avLst/>
          </a:prstGeom>
        </p:spPr>
      </p:pic>
      <p:sp>
        <p:nvSpPr>
          <p:cNvPr id="31" name="AutoShape 11"/>
          <p:cNvSpPr/>
          <p:nvPr/>
        </p:nvSpPr>
        <p:spPr>
          <a:xfrm>
            <a:off x="1905000" y="3850640"/>
            <a:ext cx="368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深度学习与传统图像处理融合方案</a:t>
            </a:r>
            <a:endParaRPr lang="zh-CN" altLang="en-US" sz="1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2" name="AutoShape 12"/>
          <p:cNvSpPr/>
          <p:nvPr/>
        </p:nvSpPr>
        <p:spPr>
          <a:xfrm>
            <a:off x="1891030" y="4216400"/>
            <a:ext cx="3683000" cy="571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zh-CN" altLang="en-US" sz="14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a:t>
            </a:r>
            <a:r>
              <a:rPr lang="en-US" altLang="zh-CN" sz="1600" b="1"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XRFM</a:t>
            </a:r>
            <a:r>
              <a:rPr lang="zh-CN" altLang="en-US" sz="1600" b="1"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融合深度</a:t>
            </a:r>
            <a:r>
              <a:rPr lang="zh-CN" altLang="en-US" sz="14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与物理特征，通过</a:t>
            </a:r>
            <a:r>
              <a:rPr lang="en-US" altLang="zh-CN" sz="14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AGOP</a:t>
            </a:r>
            <a:r>
              <a:rPr lang="zh-CN" altLang="en-US" sz="14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主特征向量递归划分空间，实现异构特征非线性解译，提升边疆稳定性</a:t>
            </a:r>
            <a:endParaRPr lang="zh-CN" altLang="en-US" sz="14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6" name="AutoShape 16"/>
          <p:cNvSpPr/>
          <p:nvPr/>
        </p:nvSpPr>
        <p:spPr>
          <a:xfrm>
            <a:off x="1206500" y="5562600"/>
            <a:ext cx="4382135" cy="571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zh-CN" altLang="en-US" sz="1400" b="1"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硬参数共享</a:t>
            </a:r>
            <a:r>
              <a:rPr lang="zh-CN" altLang="en-US" sz="1200" b="1"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20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所有任务共用双分支特征</a:t>
            </a:r>
            <a:endParaRPr lang="en-US" altLang="zh-CN" sz="120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defRPr/>
            </a:pPr>
            <a:r>
              <a:rPr lang="zh-CN" altLang="en-US" sz="1400" b="1"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任务独解读码头</a:t>
            </a:r>
            <a:r>
              <a:rPr lang="zh-CN" altLang="en-US" sz="1200" b="1"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zh-CN" altLang="en-US" sz="120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土地利</a:t>
            </a:r>
            <a:r>
              <a:rPr lang="en-US" altLang="zh-CN" sz="120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5.5</a:t>
            </a:r>
            <a:r>
              <a:rPr lang="zh-CN" altLang="en-US" sz="120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面向边疆复杂场景的域适配设计</a:t>
            </a:r>
            <a:r>
              <a:rPr lang="zh-CN" altLang="en-US" sz="120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用分割、耕地检测、灾害制图、能源设施检测</a:t>
            </a:r>
            <a:endParaRPr lang="zh-CN" altLang="en-US" sz="120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8" name="AutoShape 18"/>
          <p:cNvSpPr/>
          <p:nvPr/>
        </p:nvSpPr>
        <p:spPr>
          <a:xfrm>
            <a:off x="6477000" y="17780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模型总体框架</a:t>
            </a:r>
            <a:endParaRPr lang="en-US"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nvGrpSpPr>
          <p:cNvPr id="58" name="组合 57"/>
          <p:cNvGrpSpPr/>
          <p:nvPr/>
        </p:nvGrpSpPr>
        <p:grpSpPr>
          <a:xfrm>
            <a:off x="7835900" y="2268220"/>
            <a:ext cx="1709420" cy="723900"/>
            <a:chOff x="12340" y="3460"/>
            <a:chExt cx="2692" cy="1140"/>
          </a:xfrm>
        </p:grpSpPr>
        <p:sp>
          <p:nvSpPr>
            <p:cNvPr id="46" name="AutoShape 26"/>
            <p:cNvSpPr/>
            <p:nvPr/>
          </p:nvSpPr>
          <p:spPr>
            <a:xfrm>
              <a:off x="12340" y="3460"/>
              <a:ext cx="2693" cy="1140"/>
            </a:xfrm>
            <a:prstGeom prst="roundRect">
              <a:avLst>
                <a:gd name="adj" fmla="val 8000"/>
              </a:avLst>
            </a:prstGeom>
            <a:solidFill>
              <a:srgbClr val="00E5FF">
                <a:alpha val="8000"/>
              </a:srgbClr>
            </a:solidFill>
            <a:ln w="25400" cap="flat" cmpd="sng">
              <a:noFill/>
              <a:prstDash val="solid"/>
              <a:round/>
            </a:ln>
          </p:spPr>
          <p:txBody>
            <a:bodyPr vert="horz" wrap="square" lIns="63500" tIns="63500" rIns="63500" bIns="63500" rtlCol="0" anchor="ctr"/>
            <a:lstStyle/>
            <a:p>
              <a:pPr algn="ctr">
                <a:defRPr/>
              </a:pPr>
            </a:p>
          </p:txBody>
        </p:sp>
        <p:sp>
          <p:nvSpPr>
            <p:cNvPr id="57" name="文本框 56"/>
            <p:cNvSpPr txBox="1"/>
            <p:nvPr/>
          </p:nvSpPr>
          <p:spPr>
            <a:xfrm>
              <a:off x="12446" y="3520"/>
              <a:ext cx="2523" cy="1016"/>
            </a:xfrm>
            <a:prstGeom prst="rect">
              <a:avLst/>
            </a:prstGeom>
            <a:noFill/>
          </p:spPr>
          <p:txBody>
            <a:bodyPr wrap="square" rtlCol="0">
              <a:spAutoFit/>
            </a:bodyPr>
            <a:p>
              <a:pPr algn="ctr"/>
              <a:r>
                <a:rPr lang="zh-CN" altLang="en-US"/>
                <a:t>高分辨率多光谱卫星影像</a:t>
              </a:r>
              <a:endParaRPr lang="zh-CN" altLang="en-US"/>
            </a:p>
          </p:txBody>
        </p:sp>
      </p:grpSp>
      <p:grpSp>
        <p:nvGrpSpPr>
          <p:cNvPr id="62" name="组合 61"/>
          <p:cNvGrpSpPr/>
          <p:nvPr/>
        </p:nvGrpSpPr>
        <p:grpSpPr>
          <a:xfrm>
            <a:off x="8975725" y="3167380"/>
            <a:ext cx="1710055" cy="723900"/>
            <a:chOff x="12340" y="3460"/>
            <a:chExt cx="2693" cy="1140"/>
          </a:xfrm>
        </p:grpSpPr>
        <p:sp>
          <p:nvSpPr>
            <p:cNvPr id="63" name="AutoShape 26"/>
            <p:cNvSpPr/>
            <p:nvPr/>
          </p:nvSpPr>
          <p:spPr>
            <a:xfrm>
              <a:off x="12340" y="3460"/>
              <a:ext cx="2693" cy="1140"/>
            </a:xfrm>
            <a:prstGeom prst="roundRect">
              <a:avLst>
                <a:gd name="adj" fmla="val 8000"/>
              </a:avLst>
            </a:prstGeom>
            <a:solidFill>
              <a:srgbClr val="00E5FF">
                <a:alpha val="8000"/>
              </a:srgbClr>
            </a:solidFill>
            <a:ln w="25400" cap="flat" cmpd="sng">
              <a:noFill/>
              <a:prstDash val="solid"/>
              <a:round/>
            </a:ln>
          </p:spPr>
          <p:txBody>
            <a:bodyPr vert="horz" wrap="square" lIns="63500" tIns="63500" rIns="63500" bIns="63500" rtlCol="0" anchor="ctr"/>
            <a:lstStyle/>
            <a:p>
              <a:pPr algn="ctr">
                <a:defRPr/>
              </a:pPr>
            </a:p>
          </p:txBody>
        </p:sp>
        <p:sp>
          <p:nvSpPr>
            <p:cNvPr id="64" name="文本框 63"/>
            <p:cNvSpPr txBox="1"/>
            <p:nvPr/>
          </p:nvSpPr>
          <p:spPr>
            <a:xfrm>
              <a:off x="12446" y="3520"/>
              <a:ext cx="2523" cy="1016"/>
            </a:xfrm>
            <a:prstGeom prst="rect">
              <a:avLst/>
            </a:prstGeom>
            <a:noFill/>
          </p:spPr>
          <p:txBody>
            <a:bodyPr wrap="square" rtlCol="0">
              <a:spAutoFit/>
            </a:bodyPr>
            <a:p>
              <a:pPr algn="ctr"/>
              <a:r>
                <a:rPr lang="zh-CN" altLang="en-US"/>
                <a:t>传统图像处理特征提取器</a:t>
              </a:r>
              <a:endParaRPr lang="zh-CN" altLang="en-US"/>
            </a:p>
          </p:txBody>
        </p:sp>
      </p:grpSp>
      <p:grpSp>
        <p:nvGrpSpPr>
          <p:cNvPr id="65" name="组合 64"/>
          <p:cNvGrpSpPr/>
          <p:nvPr/>
        </p:nvGrpSpPr>
        <p:grpSpPr>
          <a:xfrm>
            <a:off x="6911975" y="3167380"/>
            <a:ext cx="1710055" cy="723900"/>
            <a:chOff x="12340" y="3460"/>
            <a:chExt cx="2693" cy="1140"/>
          </a:xfrm>
        </p:grpSpPr>
        <p:sp>
          <p:nvSpPr>
            <p:cNvPr id="66" name="AutoShape 26"/>
            <p:cNvSpPr/>
            <p:nvPr/>
          </p:nvSpPr>
          <p:spPr>
            <a:xfrm>
              <a:off x="12340" y="3460"/>
              <a:ext cx="2693" cy="1140"/>
            </a:xfrm>
            <a:prstGeom prst="roundRect">
              <a:avLst>
                <a:gd name="adj" fmla="val 8000"/>
              </a:avLst>
            </a:prstGeom>
            <a:solidFill>
              <a:srgbClr val="00E5FF">
                <a:alpha val="8000"/>
              </a:srgbClr>
            </a:solidFill>
            <a:ln w="25400" cap="flat" cmpd="sng">
              <a:noFill/>
              <a:prstDash val="solid"/>
              <a:round/>
            </a:ln>
          </p:spPr>
          <p:txBody>
            <a:bodyPr vert="horz" wrap="square" lIns="63500" tIns="63500" rIns="63500" bIns="63500" rtlCol="0" anchor="ctr"/>
            <a:lstStyle/>
            <a:p>
              <a:pPr algn="ctr">
                <a:defRPr/>
              </a:pPr>
            </a:p>
          </p:txBody>
        </p:sp>
        <p:sp>
          <p:nvSpPr>
            <p:cNvPr id="67" name="文本框 66"/>
            <p:cNvSpPr txBox="1"/>
            <p:nvPr/>
          </p:nvSpPr>
          <p:spPr>
            <a:xfrm>
              <a:off x="12446" y="3520"/>
              <a:ext cx="2523" cy="1016"/>
            </a:xfrm>
            <a:prstGeom prst="rect">
              <a:avLst/>
            </a:prstGeom>
            <a:noFill/>
          </p:spPr>
          <p:txBody>
            <a:bodyPr wrap="square" rtlCol="0">
              <a:spAutoFit/>
            </a:bodyPr>
            <a:p>
              <a:pPr algn="ctr"/>
              <a:r>
                <a:rPr lang="zh-CN" altLang="en-US"/>
                <a:t>基于轻量化视觉转换器</a:t>
              </a:r>
              <a:endParaRPr lang="zh-CN" altLang="en-US"/>
            </a:p>
          </p:txBody>
        </p:sp>
      </p:grpSp>
      <p:grpSp>
        <p:nvGrpSpPr>
          <p:cNvPr id="68" name="组合 67"/>
          <p:cNvGrpSpPr/>
          <p:nvPr/>
        </p:nvGrpSpPr>
        <p:grpSpPr>
          <a:xfrm>
            <a:off x="7962900" y="4170680"/>
            <a:ext cx="1710055" cy="406400"/>
            <a:chOff x="12340" y="3460"/>
            <a:chExt cx="2693" cy="791"/>
          </a:xfrm>
        </p:grpSpPr>
        <p:sp>
          <p:nvSpPr>
            <p:cNvPr id="69" name="AutoShape 26"/>
            <p:cNvSpPr/>
            <p:nvPr/>
          </p:nvSpPr>
          <p:spPr>
            <a:xfrm>
              <a:off x="12340" y="3460"/>
              <a:ext cx="2693" cy="640"/>
            </a:xfrm>
            <a:prstGeom prst="roundRect">
              <a:avLst>
                <a:gd name="adj" fmla="val 8000"/>
              </a:avLst>
            </a:prstGeom>
            <a:solidFill>
              <a:srgbClr val="00E5FF">
                <a:alpha val="8000"/>
              </a:srgbClr>
            </a:solidFill>
            <a:ln w="25400" cap="flat" cmpd="sng">
              <a:noFill/>
              <a:prstDash val="solid"/>
              <a:round/>
            </a:ln>
          </p:spPr>
          <p:txBody>
            <a:bodyPr vert="horz" wrap="square" lIns="63500" tIns="63500" rIns="63500" bIns="63500" rtlCol="0" anchor="ctr"/>
            <a:lstStyle/>
            <a:p>
              <a:pPr algn="ctr">
                <a:defRPr/>
              </a:pPr>
            </a:p>
          </p:txBody>
        </p:sp>
        <p:sp>
          <p:nvSpPr>
            <p:cNvPr id="70" name="文本框 69"/>
            <p:cNvSpPr txBox="1"/>
            <p:nvPr/>
          </p:nvSpPr>
          <p:spPr>
            <a:xfrm>
              <a:off x="12446" y="3460"/>
              <a:ext cx="2523" cy="791"/>
            </a:xfrm>
            <a:prstGeom prst="rect">
              <a:avLst/>
            </a:prstGeom>
            <a:noFill/>
          </p:spPr>
          <p:txBody>
            <a:bodyPr wrap="square" rtlCol="0">
              <a:noAutofit/>
            </a:bodyPr>
            <a:p>
              <a:pPr algn="ctr"/>
              <a:r>
                <a:rPr lang="zh-CN" altLang="en-US"/>
                <a:t>特征融合层</a:t>
              </a:r>
              <a:endParaRPr lang="zh-CN" altLang="en-US"/>
            </a:p>
          </p:txBody>
        </p:sp>
      </p:grpSp>
      <p:grpSp>
        <p:nvGrpSpPr>
          <p:cNvPr id="71" name="组合 70"/>
          <p:cNvGrpSpPr/>
          <p:nvPr/>
        </p:nvGrpSpPr>
        <p:grpSpPr>
          <a:xfrm>
            <a:off x="7975600" y="4986020"/>
            <a:ext cx="1710055" cy="723900"/>
            <a:chOff x="12340" y="3460"/>
            <a:chExt cx="2693" cy="1140"/>
          </a:xfrm>
        </p:grpSpPr>
        <p:sp>
          <p:nvSpPr>
            <p:cNvPr id="72" name="AutoShape 26"/>
            <p:cNvSpPr/>
            <p:nvPr/>
          </p:nvSpPr>
          <p:spPr>
            <a:xfrm>
              <a:off x="12340" y="3460"/>
              <a:ext cx="2693" cy="1140"/>
            </a:xfrm>
            <a:prstGeom prst="roundRect">
              <a:avLst>
                <a:gd name="adj" fmla="val 8000"/>
              </a:avLst>
            </a:prstGeom>
            <a:solidFill>
              <a:srgbClr val="00E5FF">
                <a:alpha val="8000"/>
              </a:srgbClr>
            </a:solidFill>
            <a:ln w="25400" cap="flat" cmpd="sng">
              <a:noFill/>
              <a:prstDash val="solid"/>
              <a:round/>
            </a:ln>
          </p:spPr>
          <p:txBody>
            <a:bodyPr vert="horz" wrap="square" lIns="63500" tIns="63500" rIns="63500" bIns="63500" rtlCol="0" anchor="ctr"/>
            <a:lstStyle/>
            <a:p>
              <a:pPr algn="ctr">
                <a:defRPr/>
              </a:pPr>
            </a:p>
          </p:txBody>
        </p:sp>
        <p:sp>
          <p:nvSpPr>
            <p:cNvPr id="73" name="文本框 72"/>
            <p:cNvSpPr txBox="1"/>
            <p:nvPr/>
          </p:nvSpPr>
          <p:spPr>
            <a:xfrm>
              <a:off x="12446" y="3520"/>
              <a:ext cx="2523" cy="1016"/>
            </a:xfrm>
            <a:prstGeom prst="rect">
              <a:avLst/>
            </a:prstGeom>
            <a:noFill/>
          </p:spPr>
          <p:txBody>
            <a:bodyPr wrap="square" rtlCol="0">
              <a:spAutoFit/>
            </a:bodyPr>
            <a:p>
              <a:pPr algn="ctr"/>
              <a:r>
                <a:rPr lang="zh-CN" altLang="en-US"/>
                <a:t>极端随机森林模型（</a:t>
              </a:r>
              <a:r>
                <a:rPr lang="en-US" altLang="zh-CN"/>
                <a:t>XRFM</a:t>
              </a:r>
              <a:r>
                <a:rPr lang="zh-CN" altLang="en-US"/>
                <a:t>）</a:t>
              </a:r>
              <a:endParaRPr lang="zh-CN" altLang="en-US"/>
            </a:p>
          </p:txBody>
        </p:sp>
      </p:grpSp>
      <p:cxnSp>
        <p:nvCxnSpPr>
          <p:cNvPr id="77" name="肘形连接符 76"/>
          <p:cNvCxnSpPr/>
          <p:nvPr/>
        </p:nvCxnSpPr>
        <p:spPr>
          <a:xfrm>
            <a:off x="9505315" y="2628900"/>
            <a:ext cx="339090" cy="576580"/>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78" name="肘形连接符 77"/>
          <p:cNvCxnSpPr/>
          <p:nvPr/>
        </p:nvCxnSpPr>
        <p:spPr>
          <a:xfrm rot="10800000" flipV="1">
            <a:off x="7780020" y="2628900"/>
            <a:ext cx="122555" cy="576580"/>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79" name="肘形连接符 78"/>
          <p:cNvCxnSpPr/>
          <p:nvPr/>
        </p:nvCxnSpPr>
        <p:spPr>
          <a:xfrm rot="5400000" flipV="1">
            <a:off x="7674293" y="3957003"/>
            <a:ext cx="462280" cy="249555"/>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0" name="肘形连接符 79"/>
          <p:cNvCxnSpPr/>
          <p:nvPr/>
        </p:nvCxnSpPr>
        <p:spPr>
          <a:xfrm rot="5400000">
            <a:off x="9546908" y="3976688"/>
            <a:ext cx="423545" cy="171450"/>
          </a:xfrm>
          <a:prstGeom prst="bentConnector2">
            <a:avLst/>
          </a:prstGeom>
          <a:ln>
            <a:tailEnd type="arrow"/>
          </a:ln>
        </p:spPr>
        <p:style>
          <a:lnRef idx="2">
            <a:schemeClr val="accent1"/>
          </a:lnRef>
          <a:fillRef idx="0">
            <a:schemeClr val="accent1"/>
          </a:fillRef>
          <a:effectRef idx="1">
            <a:schemeClr val="accent1"/>
          </a:effectRef>
          <a:fontRef idx="minor">
            <a:schemeClr val="tx1"/>
          </a:fontRef>
        </p:style>
      </p:cxnSp>
      <p:cxnSp>
        <p:nvCxnSpPr>
          <p:cNvPr id="82" name="直接箭头连接符 81"/>
          <p:cNvCxnSpPr/>
          <p:nvPr/>
        </p:nvCxnSpPr>
        <p:spPr>
          <a:xfrm>
            <a:off x="8831580" y="4516120"/>
            <a:ext cx="12700" cy="5080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83" name="AutoShape 8"/>
          <p:cNvSpPr/>
          <p:nvPr/>
        </p:nvSpPr>
        <p:spPr>
          <a:xfrm>
            <a:off x="9954895" y="2413000"/>
            <a:ext cx="770255" cy="29972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zh-CN" altLang="en-US" sz="11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数据输入端</a:t>
            </a:r>
            <a:endParaRPr lang="zh-CN" altLang="en-US" sz="11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4" name="AutoShape 8"/>
          <p:cNvSpPr/>
          <p:nvPr/>
        </p:nvSpPr>
        <p:spPr>
          <a:xfrm>
            <a:off x="9965690" y="4145280"/>
            <a:ext cx="652145" cy="29972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zh-CN" altLang="en-US" sz="11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拼接重组</a:t>
            </a:r>
            <a:endParaRPr lang="zh-CN" altLang="en-US" sz="11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5" name="AutoShape 8"/>
          <p:cNvSpPr/>
          <p:nvPr/>
        </p:nvSpPr>
        <p:spPr>
          <a:xfrm>
            <a:off x="8953500" y="4577080"/>
            <a:ext cx="652145" cy="29972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zh-CN" altLang="en-US" sz="11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高维联合特征矩阵</a:t>
            </a:r>
            <a:endParaRPr lang="zh-CN" altLang="en-US" sz="1100" b="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6" name="AutoShape 11"/>
          <p:cNvSpPr/>
          <p:nvPr/>
        </p:nvSpPr>
        <p:spPr>
          <a:xfrm>
            <a:off x="1206500" y="5194300"/>
            <a:ext cx="3683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zh-CN" altLang="en-US" sz="1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多任务共享底座</a:t>
            </a:r>
            <a:endParaRPr lang="zh-CN" altLang="en-US" sz="16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7" name="AutoShape 16"/>
          <p:cNvSpPr/>
          <p:nvPr/>
        </p:nvSpPr>
        <p:spPr>
          <a:xfrm>
            <a:off x="6604635" y="5872480"/>
            <a:ext cx="4382135" cy="571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zh-CN" altLang="en-US" sz="1600" b="1"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面向边疆复杂场景的域适配设计</a:t>
            </a:r>
            <a:endParaRPr lang="zh-CN" altLang="en-US" sz="1600" b="1"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defRPr/>
            </a:pPr>
            <a:r>
              <a:rPr lang="zh-CN" altLang="en-US" sz="140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为了消除协变量偏移对模型泛化性能的不利影响，本模型在特征融合层之后引入了基于对抗学习的域适配机制</a:t>
            </a:r>
            <a:endParaRPr lang="zh-CN" altLang="en-US" sz="1400" i="0" u="none" strike="noStrike">
              <a:solidFill>
                <a:schemeClr val="tx1">
                  <a:alpha val="8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88" name="图片 87"/>
          <p:cNvPicPr>
            <a:picLocks noChangeAspect="1"/>
          </p:cNvPicPr>
          <p:nvPr/>
        </p:nvPicPr>
        <p:blipFill>
          <a:blip r:embed="rId6"/>
          <a:stretch>
            <a:fillRect/>
          </a:stretch>
        </p:blipFill>
        <p:spPr>
          <a:xfrm>
            <a:off x="1935480" y="3116580"/>
            <a:ext cx="2773680" cy="381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p:cNvPicPr>
            <a:picLocks noChangeAspect="1"/>
          </p:cNvPicPr>
          <p:nvPr/>
        </p:nvPicPr>
        <p:blipFill rotWithShape="1">
          <a:blip r:embed="rId1"/>
          <a:srcRect l="22337" t="1288"/>
          <a:stretch>
            <a:fillRect/>
          </a:stretch>
        </p:blipFill>
        <p:spPr>
          <a:xfrm flipH="1">
            <a:off x="-1" y="-1"/>
            <a:ext cx="12191999" cy="733425"/>
          </a:xfrm>
          <a:custGeom>
            <a:avLst/>
            <a:gdLst>
              <a:gd name="connsiteX0" fmla="*/ 8756888 w 8756888"/>
              <a:gd name="connsiteY0" fmla="*/ 0 h 6857999"/>
              <a:gd name="connsiteX1" fmla="*/ 0 w 8756888"/>
              <a:gd name="connsiteY1" fmla="*/ 0 h 6857999"/>
              <a:gd name="connsiteX2" fmla="*/ 0 w 8756888"/>
              <a:gd name="connsiteY2" fmla="*/ 6857999 h 6857999"/>
              <a:gd name="connsiteX3" fmla="*/ 8756888 w 8756888"/>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8756888" h="6857999">
                <a:moveTo>
                  <a:pt x="8756888" y="0"/>
                </a:moveTo>
                <a:lnTo>
                  <a:pt x="0" y="0"/>
                </a:lnTo>
                <a:lnTo>
                  <a:pt x="0" y="6857999"/>
                </a:lnTo>
                <a:lnTo>
                  <a:pt x="8756888" y="6857999"/>
                </a:lnTo>
                <a:close/>
              </a:path>
            </a:pathLst>
          </a:custGeom>
        </p:spPr>
      </p:pic>
      <p:sp>
        <p:nvSpPr>
          <p:cNvPr id="3" name="平行四边形 2"/>
          <p:cNvSpPr/>
          <p:nvPr/>
        </p:nvSpPr>
        <p:spPr>
          <a:xfrm flipH="1">
            <a:off x="4043389" y="117986"/>
            <a:ext cx="1319982" cy="501446"/>
          </a:xfrm>
          <a:prstGeom prst="parallelogram">
            <a:avLst/>
          </a:prstGeom>
          <a:no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5" name="平行四边形 4"/>
          <p:cNvSpPr/>
          <p:nvPr/>
        </p:nvSpPr>
        <p:spPr>
          <a:xfrm flipH="1">
            <a:off x="6737019" y="108154"/>
            <a:ext cx="1319982" cy="501446"/>
          </a:xfrm>
          <a:prstGeom prst="parallelogram">
            <a:avLst/>
          </a:prstGeom>
          <a:no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6" name="平行四边形 5"/>
          <p:cNvSpPr/>
          <p:nvPr/>
        </p:nvSpPr>
        <p:spPr>
          <a:xfrm flipH="1">
            <a:off x="8089952" y="108154"/>
            <a:ext cx="1319982" cy="501446"/>
          </a:xfrm>
          <a:prstGeom prst="parallelogram">
            <a:avLst/>
          </a:prstGeom>
          <a:no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7" name="平行四边形 6"/>
          <p:cNvSpPr/>
          <p:nvPr/>
        </p:nvSpPr>
        <p:spPr>
          <a:xfrm flipH="1">
            <a:off x="9442885" y="117986"/>
            <a:ext cx="1319982" cy="501446"/>
          </a:xfrm>
          <a:prstGeom prst="parallelogram">
            <a:avLst/>
          </a:prstGeom>
          <a:no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9" name="文本框 8"/>
          <p:cNvSpPr txBox="1"/>
          <p:nvPr/>
        </p:nvSpPr>
        <p:spPr>
          <a:xfrm>
            <a:off x="4184520" y="186216"/>
            <a:ext cx="1037720"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方案设计</a:t>
            </a:r>
            <a:endParaRPr lang="zh-CN" altLang="en-US" sz="1600" dirty="0">
              <a:solidFill>
                <a:schemeClr val="bg1"/>
              </a:solidFill>
              <a:latin typeface="思源黑体" panose="020B0800000000000000" pitchFamily="34" charset="-122"/>
              <a:ea typeface="思源黑体" panose="020B0800000000000000" pitchFamily="34" charset="-122"/>
            </a:endParaRPr>
          </a:p>
        </p:txBody>
      </p:sp>
      <p:sp>
        <p:nvSpPr>
          <p:cNvPr id="15" name="文本框 14"/>
          <p:cNvSpPr txBox="1"/>
          <p:nvPr/>
        </p:nvSpPr>
        <p:spPr>
          <a:xfrm>
            <a:off x="6873782" y="181932"/>
            <a:ext cx="1070927"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项目应用</a:t>
            </a:r>
            <a:endParaRPr lang="zh-CN" altLang="en-US" sz="1600" dirty="0">
              <a:solidFill>
                <a:schemeClr val="bg1"/>
              </a:solidFill>
              <a:latin typeface="思源黑体" panose="020B0800000000000000" pitchFamily="34" charset="-122"/>
              <a:ea typeface="思源黑体" panose="020B0800000000000000" pitchFamily="34" charset="-122"/>
            </a:endParaRPr>
          </a:p>
        </p:txBody>
      </p:sp>
      <p:sp>
        <p:nvSpPr>
          <p:cNvPr id="16" name="文本框 15"/>
          <p:cNvSpPr txBox="1"/>
          <p:nvPr/>
        </p:nvSpPr>
        <p:spPr>
          <a:xfrm>
            <a:off x="8230827" y="189600"/>
            <a:ext cx="1070927"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社会价值</a:t>
            </a:r>
            <a:endParaRPr lang="zh-CN" altLang="en-US" sz="1600" dirty="0">
              <a:solidFill>
                <a:schemeClr val="bg1"/>
              </a:solidFill>
              <a:latin typeface="思源黑体" panose="020B0800000000000000" pitchFamily="34" charset="-122"/>
              <a:ea typeface="思源黑体" panose="020B0800000000000000" pitchFamily="34" charset="-122"/>
            </a:endParaRPr>
          </a:p>
        </p:txBody>
      </p:sp>
      <p:sp>
        <p:nvSpPr>
          <p:cNvPr id="17" name="文本框 16"/>
          <p:cNvSpPr txBox="1"/>
          <p:nvPr/>
        </p:nvSpPr>
        <p:spPr>
          <a:xfrm>
            <a:off x="9605816" y="186216"/>
            <a:ext cx="1079229"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团队介绍</a:t>
            </a:r>
            <a:endParaRPr lang="zh-CN" altLang="en-US" sz="1600" dirty="0">
              <a:solidFill>
                <a:schemeClr val="bg1"/>
              </a:solidFill>
              <a:latin typeface="思源黑体" panose="020B0800000000000000" pitchFamily="34" charset="-122"/>
              <a:ea typeface="思源黑体" panose="020B0800000000000000" pitchFamily="34" charset="-122"/>
            </a:endParaRPr>
          </a:p>
        </p:txBody>
      </p:sp>
      <p:sp>
        <p:nvSpPr>
          <p:cNvPr id="18" name="平行四边形 17"/>
          <p:cNvSpPr/>
          <p:nvPr/>
        </p:nvSpPr>
        <p:spPr>
          <a:xfrm flipH="1">
            <a:off x="10795818" y="117986"/>
            <a:ext cx="1319982" cy="501446"/>
          </a:xfrm>
          <a:prstGeom prst="parallelogram">
            <a:avLst/>
          </a:prstGeom>
          <a:no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19" name="文本框 18"/>
          <p:cNvSpPr txBox="1"/>
          <p:nvPr/>
        </p:nvSpPr>
        <p:spPr>
          <a:xfrm>
            <a:off x="10953551" y="189600"/>
            <a:ext cx="1004516"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未来展望</a:t>
            </a:r>
            <a:endParaRPr lang="zh-CN" altLang="en-US" sz="1600" dirty="0">
              <a:solidFill>
                <a:schemeClr val="bg1"/>
              </a:solidFill>
              <a:latin typeface="思源黑体" panose="020B0800000000000000" pitchFamily="34" charset="-122"/>
              <a:ea typeface="思源黑体" panose="020B0800000000000000" pitchFamily="34" charset="-122"/>
            </a:endParaRPr>
          </a:p>
        </p:txBody>
      </p:sp>
      <p:grpSp>
        <p:nvGrpSpPr>
          <p:cNvPr id="23" name="组合 22"/>
          <p:cNvGrpSpPr/>
          <p:nvPr/>
        </p:nvGrpSpPr>
        <p:grpSpPr>
          <a:xfrm>
            <a:off x="198553" y="-113494"/>
            <a:ext cx="2214880" cy="732926"/>
            <a:chOff x="565150" y="86699"/>
            <a:chExt cx="2214880" cy="732926"/>
          </a:xfrm>
        </p:grpSpPr>
        <p:sp>
          <p:nvSpPr>
            <p:cNvPr id="24" name="文本框 23"/>
            <p:cNvSpPr txBox="1"/>
            <p:nvPr/>
          </p:nvSpPr>
          <p:spPr>
            <a:xfrm>
              <a:off x="565150" y="86699"/>
              <a:ext cx="2214880" cy="7067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0" normalizeH="0" baseline="0" noProof="0" dirty="0">
                  <a:ln>
                    <a:noFill/>
                  </a:ln>
                  <a:solidFill>
                    <a:schemeClr val="bg1"/>
                  </a:solidFill>
                  <a:effectLst/>
                  <a:uLnTx/>
                  <a:uFillTx/>
                  <a:latin typeface="隶书" panose="02010509060101010101" pitchFamily="49" charset="-122"/>
                  <a:ea typeface="隶书" panose="02010509060101010101" pitchFamily="49" charset="-122"/>
                  <a:cs typeface="+mn-cs"/>
                </a:rPr>
                <a:t>核心技术</a:t>
              </a:r>
              <a:endParaRPr kumimoji="0" lang="zh-CN" altLang="en-US" sz="4000" b="0" i="0" u="none" strike="noStrike" kern="1200" cap="none" spc="0" normalizeH="0" baseline="0" noProof="0" dirty="0">
                <a:ln>
                  <a:noFill/>
                </a:ln>
                <a:solidFill>
                  <a:schemeClr val="bg1"/>
                </a:solidFill>
                <a:effectLst/>
                <a:uLnTx/>
                <a:uFillTx/>
                <a:latin typeface="隶书" panose="02010509060101010101" pitchFamily="49" charset="-122"/>
                <a:ea typeface="隶书" panose="02010509060101010101" pitchFamily="49" charset="-122"/>
                <a:cs typeface="+mn-cs"/>
              </a:endParaRPr>
            </a:p>
          </p:txBody>
        </p:sp>
        <p:cxnSp>
          <p:nvCxnSpPr>
            <p:cNvPr id="25" name="直接连接符 24"/>
            <p:cNvCxnSpPr/>
            <p:nvPr/>
          </p:nvCxnSpPr>
          <p:spPr>
            <a:xfrm>
              <a:off x="678180" y="728663"/>
              <a:ext cx="202692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6" name="任意多边形: 形状 25"/>
            <p:cNvSpPr/>
            <p:nvPr/>
          </p:nvSpPr>
          <p:spPr>
            <a:xfrm>
              <a:off x="678179" y="773906"/>
              <a:ext cx="2026920" cy="45719"/>
            </a:xfrm>
            <a:custGeom>
              <a:avLst/>
              <a:gdLst>
                <a:gd name="connsiteX0" fmla="*/ 1978819 w 2026920"/>
                <a:gd name="connsiteY0" fmla="*/ 0 h 45719"/>
                <a:gd name="connsiteX1" fmla="*/ 2026920 w 2026920"/>
                <a:gd name="connsiteY1" fmla="*/ 0 h 45719"/>
                <a:gd name="connsiteX2" fmla="*/ 2026920 w 2026920"/>
                <a:gd name="connsiteY2" fmla="*/ 45719 h 45719"/>
                <a:gd name="connsiteX3" fmla="*/ 1978819 w 2026920"/>
                <a:gd name="connsiteY3" fmla="*/ 45719 h 45719"/>
                <a:gd name="connsiteX4" fmla="*/ 1887560 w 2026920"/>
                <a:gd name="connsiteY4" fmla="*/ 0 h 45719"/>
                <a:gd name="connsiteX5" fmla="*/ 1935661 w 2026920"/>
                <a:gd name="connsiteY5" fmla="*/ 0 h 45719"/>
                <a:gd name="connsiteX6" fmla="*/ 1935661 w 2026920"/>
                <a:gd name="connsiteY6" fmla="*/ 45719 h 45719"/>
                <a:gd name="connsiteX7" fmla="*/ 1887560 w 2026920"/>
                <a:gd name="connsiteY7" fmla="*/ 45719 h 45719"/>
                <a:gd name="connsiteX8" fmla="*/ 1796302 w 2026920"/>
                <a:gd name="connsiteY8" fmla="*/ 0 h 45719"/>
                <a:gd name="connsiteX9" fmla="*/ 1844403 w 2026920"/>
                <a:gd name="connsiteY9" fmla="*/ 0 h 45719"/>
                <a:gd name="connsiteX10" fmla="*/ 1844403 w 2026920"/>
                <a:gd name="connsiteY10" fmla="*/ 45719 h 45719"/>
                <a:gd name="connsiteX11" fmla="*/ 1796302 w 2026920"/>
                <a:gd name="connsiteY11" fmla="*/ 45719 h 45719"/>
                <a:gd name="connsiteX12" fmla="*/ 1705043 w 2026920"/>
                <a:gd name="connsiteY12" fmla="*/ 0 h 45719"/>
                <a:gd name="connsiteX13" fmla="*/ 1753144 w 2026920"/>
                <a:gd name="connsiteY13" fmla="*/ 0 h 45719"/>
                <a:gd name="connsiteX14" fmla="*/ 1753144 w 2026920"/>
                <a:gd name="connsiteY14" fmla="*/ 45719 h 45719"/>
                <a:gd name="connsiteX15" fmla="*/ 1705043 w 2026920"/>
                <a:gd name="connsiteY15" fmla="*/ 45719 h 45719"/>
                <a:gd name="connsiteX16" fmla="*/ 1613785 w 2026920"/>
                <a:gd name="connsiteY16" fmla="*/ 0 h 45719"/>
                <a:gd name="connsiteX17" fmla="*/ 1661886 w 2026920"/>
                <a:gd name="connsiteY17" fmla="*/ 0 h 45719"/>
                <a:gd name="connsiteX18" fmla="*/ 1661886 w 2026920"/>
                <a:gd name="connsiteY18" fmla="*/ 45719 h 45719"/>
                <a:gd name="connsiteX19" fmla="*/ 1613785 w 2026920"/>
                <a:gd name="connsiteY19" fmla="*/ 45719 h 45719"/>
                <a:gd name="connsiteX20" fmla="*/ 1522526 w 2026920"/>
                <a:gd name="connsiteY20" fmla="*/ 0 h 45719"/>
                <a:gd name="connsiteX21" fmla="*/ 1570627 w 2026920"/>
                <a:gd name="connsiteY21" fmla="*/ 0 h 45719"/>
                <a:gd name="connsiteX22" fmla="*/ 1570627 w 2026920"/>
                <a:gd name="connsiteY22" fmla="*/ 45719 h 45719"/>
                <a:gd name="connsiteX23" fmla="*/ 1522526 w 2026920"/>
                <a:gd name="connsiteY23" fmla="*/ 45719 h 45719"/>
                <a:gd name="connsiteX24" fmla="*/ 1431267 w 2026920"/>
                <a:gd name="connsiteY24" fmla="*/ 0 h 45719"/>
                <a:gd name="connsiteX25" fmla="*/ 1479368 w 2026920"/>
                <a:gd name="connsiteY25" fmla="*/ 0 h 45719"/>
                <a:gd name="connsiteX26" fmla="*/ 1479368 w 2026920"/>
                <a:gd name="connsiteY26" fmla="*/ 45719 h 45719"/>
                <a:gd name="connsiteX27" fmla="*/ 1431267 w 2026920"/>
                <a:gd name="connsiteY27" fmla="*/ 45719 h 45719"/>
                <a:gd name="connsiteX28" fmla="*/ 1340009 w 2026920"/>
                <a:gd name="connsiteY28" fmla="*/ 0 h 45719"/>
                <a:gd name="connsiteX29" fmla="*/ 1388110 w 2026920"/>
                <a:gd name="connsiteY29" fmla="*/ 0 h 45719"/>
                <a:gd name="connsiteX30" fmla="*/ 1388110 w 2026920"/>
                <a:gd name="connsiteY30" fmla="*/ 45719 h 45719"/>
                <a:gd name="connsiteX31" fmla="*/ 1340009 w 2026920"/>
                <a:gd name="connsiteY31" fmla="*/ 45719 h 45719"/>
                <a:gd name="connsiteX32" fmla="*/ 1248750 w 2026920"/>
                <a:gd name="connsiteY32" fmla="*/ 0 h 45719"/>
                <a:gd name="connsiteX33" fmla="*/ 1296851 w 2026920"/>
                <a:gd name="connsiteY33" fmla="*/ 0 h 45719"/>
                <a:gd name="connsiteX34" fmla="*/ 1296851 w 2026920"/>
                <a:gd name="connsiteY34" fmla="*/ 45719 h 45719"/>
                <a:gd name="connsiteX35" fmla="*/ 1248750 w 2026920"/>
                <a:gd name="connsiteY35" fmla="*/ 45719 h 45719"/>
                <a:gd name="connsiteX36" fmla="*/ 1157491 w 2026920"/>
                <a:gd name="connsiteY36" fmla="*/ 0 h 45719"/>
                <a:gd name="connsiteX37" fmla="*/ 1205592 w 2026920"/>
                <a:gd name="connsiteY37" fmla="*/ 0 h 45719"/>
                <a:gd name="connsiteX38" fmla="*/ 1205592 w 2026920"/>
                <a:gd name="connsiteY38" fmla="*/ 45719 h 45719"/>
                <a:gd name="connsiteX39" fmla="*/ 1157491 w 2026920"/>
                <a:gd name="connsiteY39" fmla="*/ 45719 h 45719"/>
                <a:gd name="connsiteX40" fmla="*/ 1066233 w 2026920"/>
                <a:gd name="connsiteY40" fmla="*/ 0 h 45719"/>
                <a:gd name="connsiteX41" fmla="*/ 1114334 w 2026920"/>
                <a:gd name="connsiteY41" fmla="*/ 0 h 45719"/>
                <a:gd name="connsiteX42" fmla="*/ 1114334 w 2026920"/>
                <a:gd name="connsiteY42" fmla="*/ 45719 h 45719"/>
                <a:gd name="connsiteX43" fmla="*/ 1066233 w 2026920"/>
                <a:gd name="connsiteY43" fmla="*/ 45719 h 45719"/>
                <a:gd name="connsiteX44" fmla="*/ 974974 w 2026920"/>
                <a:gd name="connsiteY44" fmla="*/ 0 h 45719"/>
                <a:gd name="connsiteX45" fmla="*/ 1023075 w 2026920"/>
                <a:gd name="connsiteY45" fmla="*/ 0 h 45719"/>
                <a:gd name="connsiteX46" fmla="*/ 1023075 w 2026920"/>
                <a:gd name="connsiteY46" fmla="*/ 45719 h 45719"/>
                <a:gd name="connsiteX47" fmla="*/ 974974 w 2026920"/>
                <a:gd name="connsiteY47" fmla="*/ 45719 h 45719"/>
                <a:gd name="connsiteX48" fmla="*/ 883716 w 2026920"/>
                <a:gd name="connsiteY48" fmla="*/ 0 h 45719"/>
                <a:gd name="connsiteX49" fmla="*/ 931817 w 2026920"/>
                <a:gd name="connsiteY49" fmla="*/ 0 h 45719"/>
                <a:gd name="connsiteX50" fmla="*/ 931817 w 2026920"/>
                <a:gd name="connsiteY50" fmla="*/ 45719 h 45719"/>
                <a:gd name="connsiteX51" fmla="*/ 883716 w 2026920"/>
                <a:gd name="connsiteY51" fmla="*/ 45719 h 45719"/>
                <a:gd name="connsiteX52" fmla="*/ 792457 w 2026920"/>
                <a:gd name="connsiteY52" fmla="*/ 0 h 45719"/>
                <a:gd name="connsiteX53" fmla="*/ 840558 w 2026920"/>
                <a:gd name="connsiteY53" fmla="*/ 0 h 45719"/>
                <a:gd name="connsiteX54" fmla="*/ 840558 w 2026920"/>
                <a:gd name="connsiteY54" fmla="*/ 45719 h 45719"/>
                <a:gd name="connsiteX55" fmla="*/ 792457 w 2026920"/>
                <a:gd name="connsiteY55" fmla="*/ 45719 h 45719"/>
                <a:gd name="connsiteX56" fmla="*/ 701198 w 2026920"/>
                <a:gd name="connsiteY56" fmla="*/ 0 h 45719"/>
                <a:gd name="connsiteX57" fmla="*/ 749299 w 2026920"/>
                <a:gd name="connsiteY57" fmla="*/ 0 h 45719"/>
                <a:gd name="connsiteX58" fmla="*/ 749299 w 2026920"/>
                <a:gd name="connsiteY58" fmla="*/ 45719 h 45719"/>
                <a:gd name="connsiteX59" fmla="*/ 701198 w 2026920"/>
                <a:gd name="connsiteY59" fmla="*/ 45719 h 45719"/>
                <a:gd name="connsiteX60" fmla="*/ 609940 w 2026920"/>
                <a:gd name="connsiteY60" fmla="*/ 0 h 45719"/>
                <a:gd name="connsiteX61" fmla="*/ 658041 w 2026920"/>
                <a:gd name="connsiteY61" fmla="*/ 0 h 45719"/>
                <a:gd name="connsiteX62" fmla="*/ 658041 w 2026920"/>
                <a:gd name="connsiteY62" fmla="*/ 45719 h 45719"/>
                <a:gd name="connsiteX63" fmla="*/ 609940 w 2026920"/>
                <a:gd name="connsiteY63" fmla="*/ 45719 h 45719"/>
                <a:gd name="connsiteX64" fmla="*/ 518681 w 2026920"/>
                <a:gd name="connsiteY64" fmla="*/ 0 h 45719"/>
                <a:gd name="connsiteX65" fmla="*/ 566782 w 2026920"/>
                <a:gd name="connsiteY65" fmla="*/ 0 h 45719"/>
                <a:gd name="connsiteX66" fmla="*/ 566782 w 2026920"/>
                <a:gd name="connsiteY66" fmla="*/ 45719 h 45719"/>
                <a:gd name="connsiteX67" fmla="*/ 518681 w 2026920"/>
                <a:gd name="connsiteY67" fmla="*/ 45719 h 45719"/>
                <a:gd name="connsiteX68" fmla="*/ 427422 w 2026920"/>
                <a:gd name="connsiteY68" fmla="*/ 0 h 45719"/>
                <a:gd name="connsiteX69" fmla="*/ 475523 w 2026920"/>
                <a:gd name="connsiteY69" fmla="*/ 0 h 45719"/>
                <a:gd name="connsiteX70" fmla="*/ 475523 w 2026920"/>
                <a:gd name="connsiteY70" fmla="*/ 45719 h 45719"/>
                <a:gd name="connsiteX71" fmla="*/ 427422 w 2026920"/>
                <a:gd name="connsiteY71" fmla="*/ 45719 h 45719"/>
                <a:gd name="connsiteX72" fmla="*/ 336164 w 2026920"/>
                <a:gd name="connsiteY72" fmla="*/ 0 h 45719"/>
                <a:gd name="connsiteX73" fmla="*/ 384265 w 2026920"/>
                <a:gd name="connsiteY73" fmla="*/ 0 h 45719"/>
                <a:gd name="connsiteX74" fmla="*/ 384265 w 2026920"/>
                <a:gd name="connsiteY74" fmla="*/ 45719 h 45719"/>
                <a:gd name="connsiteX75" fmla="*/ 336164 w 2026920"/>
                <a:gd name="connsiteY75" fmla="*/ 45719 h 45719"/>
                <a:gd name="connsiteX76" fmla="*/ 244905 w 2026920"/>
                <a:gd name="connsiteY76" fmla="*/ 0 h 45719"/>
                <a:gd name="connsiteX77" fmla="*/ 293006 w 2026920"/>
                <a:gd name="connsiteY77" fmla="*/ 0 h 45719"/>
                <a:gd name="connsiteX78" fmla="*/ 293006 w 2026920"/>
                <a:gd name="connsiteY78" fmla="*/ 45719 h 45719"/>
                <a:gd name="connsiteX79" fmla="*/ 244905 w 2026920"/>
                <a:gd name="connsiteY79" fmla="*/ 45719 h 45719"/>
                <a:gd name="connsiteX80" fmla="*/ 153647 w 2026920"/>
                <a:gd name="connsiteY80" fmla="*/ 0 h 45719"/>
                <a:gd name="connsiteX81" fmla="*/ 201748 w 2026920"/>
                <a:gd name="connsiteY81" fmla="*/ 0 h 45719"/>
                <a:gd name="connsiteX82" fmla="*/ 201748 w 2026920"/>
                <a:gd name="connsiteY82" fmla="*/ 45719 h 45719"/>
                <a:gd name="connsiteX83" fmla="*/ 153647 w 2026920"/>
                <a:gd name="connsiteY83" fmla="*/ 45719 h 45719"/>
                <a:gd name="connsiteX84" fmla="*/ 62388 w 2026920"/>
                <a:gd name="connsiteY84" fmla="*/ 0 h 45719"/>
                <a:gd name="connsiteX85" fmla="*/ 110489 w 2026920"/>
                <a:gd name="connsiteY85" fmla="*/ 0 h 45719"/>
                <a:gd name="connsiteX86" fmla="*/ 110489 w 2026920"/>
                <a:gd name="connsiteY86" fmla="*/ 45719 h 45719"/>
                <a:gd name="connsiteX87" fmla="*/ 62388 w 2026920"/>
                <a:gd name="connsiteY87" fmla="*/ 45719 h 45719"/>
                <a:gd name="connsiteX88" fmla="*/ 0 w 2026920"/>
                <a:gd name="connsiteY88" fmla="*/ 0 h 45719"/>
                <a:gd name="connsiteX89" fmla="*/ 48101 w 2026920"/>
                <a:gd name="connsiteY89" fmla="*/ 0 h 45719"/>
                <a:gd name="connsiteX90" fmla="*/ 48101 w 2026920"/>
                <a:gd name="connsiteY90" fmla="*/ 45719 h 45719"/>
                <a:gd name="connsiteX91" fmla="*/ 0 w 2026920"/>
                <a:gd name="connsiteY91"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2026920" h="45719">
                  <a:moveTo>
                    <a:pt x="1978819" y="0"/>
                  </a:moveTo>
                  <a:lnTo>
                    <a:pt x="2026920" y="0"/>
                  </a:lnTo>
                  <a:lnTo>
                    <a:pt x="2026920" y="45719"/>
                  </a:lnTo>
                  <a:lnTo>
                    <a:pt x="1978819" y="45719"/>
                  </a:lnTo>
                  <a:close/>
                  <a:moveTo>
                    <a:pt x="1887560" y="0"/>
                  </a:moveTo>
                  <a:lnTo>
                    <a:pt x="1935661" y="0"/>
                  </a:lnTo>
                  <a:lnTo>
                    <a:pt x="1935661" y="45719"/>
                  </a:lnTo>
                  <a:lnTo>
                    <a:pt x="1887560" y="45719"/>
                  </a:lnTo>
                  <a:close/>
                  <a:moveTo>
                    <a:pt x="1796302" y="0"/>
                  </a:moveTo>
                  <a:lnTo>
                    <a:pt x="1844403" y="0"/>
                  </a:lnTo>
                  <a:lnTo>
                    <a:pt x="1844403" y="45719"/>
                  </a:lnTo>
                  <a:lnTo>
                    <a:pt x="1796302" y="45719"/>
                  </a:lnTo>
                  <a:close/>
                  <a:moveTo>
                    <a:pt x="1705043" y="0"/>
                  </a:moveTo>
                  <a:lnTo>
                    <a:pt x="1753144" y="0"/>
                  </a:lnTo>
                  <a:lnTo>
                    <a:pt x="1753144" y="45719"/>
                  </a:lnTo>
                  <a:lnTo>
                    <a:pt x="1705043" y="45719"/>
                  </a:lnTo>
                  <a:close/>
                  <a:moveTo>
                    <a:pt x="1613785" y="0"/>
                  </a:moveTo>
                  <a:lnTo>
                    <a:pt x="1661886" y="0"/>
                  </a:lnTo>
                  <a:lnTo>
                    <a:pt x="1661886" y="45719"/>
                  </a:lnTo>
                  <a:lnTo>
                    <a:pt x="1613785" y="45719"/>
                  </a:lnTo>
                  <a:close/>
                  <a:moveTo>
                    <a:pt x="1522526" y="0"/>
                  </a:moveTo>
                  <a:lnTo>
                    <a:pt x="1570627" y="0"/>
                  </a:lnTo>
                  <a:lnTo>
                    <a:pt x="1570627" y="45719"/>
                  </a:lnTo>
                  <a:lnTo>
                    <a:pt x="1522526" y="45719"/>
                  </a:lnTo>
                  <a:close/>
                  <a:moveTo>
                    <a:pt x="1431267" y="0"/>
                  </a:moveTo>
                  <a:lnTo>
                    <a:pt x="1479368" y="0"/>
                  </a:lnTo>
                  <a:lnTo>
                    <a:pt x="1479368" y="45719"/>
                  </a:lnTo>
                  <a:lnTo>
                    <a:pt x="1431267" y="45719"/>
                  </a:lnTo>
                  <a:close/>
                  <a:moveTo>
                    <a:pt x="1340009" y="0"/>
                  </a:moveTo>
                  <a:lnTo>
                    <a:pt x="1388110" y="0"/>
                  </a:lnTo>
                  <a:lnTo>
                    <a:pt x="1388110" y="45719"/>
                  </a:lnTo>
                  <a:lnTo>
                    <a:pt x="1340009" y="45719"/>
                  </a:lnTo>
                  <a:close/>
                  <a:moveTo>
                    <a:pt x="1248750" y="0"/>
                  </a:moveTo>
                  <a:lnTo>
                    <a:pt x="1296851" y="0"/>
                  </a:lnTo>
                  <a:lnTo>
                    <a:pt x="1296851" y="45719"/>
                  </a:lnTo>
                  <a:lnTo>
                    <a:pt x="1248750" y="45719"/>
                  </a:lnTo>
                  <a:close/>
                  <a:moveTo>
                    <a:pt x="1157491" y="0"/>
                  </a:moveTo>
                  <a:lnTo>
                    <a:pt x="1205592" y="0"/>
                  </a:lnTo>
                  <a:lnTo>
                    <a:pt x="1205592" y="45719"/>
                  </a:lnTo>
                  <a:lnTo>
                    <a:pt x="1157491" y="45719"/>
                  </a:lnTo>
                  <a:close/>
                  <a:moveTo>
                    <a:pt x="1066233" y="0"/>
                  </a:moveTo>
                  <a:lnTo>
                    <a:pt x="1114334" y="0"/>
                  </a:lnTo>
                  <a:lnTo>
                    <a:pt x="1114334" y="45719"/>
                  </a:lnTo>
                  <a:lnTo>
                    <a:pt x="1066233" y="45719"/>
                  </a:lnTo>
                  <a:close/>
                  <a:moveTo>
                    <a:pt x="974974" y="0"/>
                  </a:moveTo>
                  <a:lnTo>
                    <a:pt x="1023075" y="0"/>
                  </a:lnTo>
                  <a:lnTo>
                    <a:pt x="1023075" y="45719"/>
                  </a:lnTo>
                  <a:lnTo>
                    <a:pt x="974974" y="45719"/>
                  </a:lnTo>
                  <a:close/>
                  <a:moveTo>
                    <a:pt x="883716" y="0"/>
                  </a:moveTo>
                  <a:lnTo>
                    <a:pt x="931817" y="0"/>
                  </a:lnTo>
                  <a:lnTo>
                    <a:pt x="931817" y="45719"/>
                  </a:lnTo>
                  <a:lnTo>
                    <a:pt x="883716" y="45719"/>
                  </a:lnTo>
                  <a:close/>
                  <a:moveTo>
                    <a:pt x="792457" y="0"/>
                  </a:moveTo>
                  <a:lnTo>
                    <a:pt x="840558" y="0"/>
                  </a:lnTo>
                  <a:lnTo>
                    <a:pt x="840558" y="45719"/>
                  </a:lnTo>
                  <a:lnTo>
                    <a:pt x="792457" y="45719"/>
                  </a:lnTo>
                  <a:close/>
                  <a:moveTo>
                    <a:pt x="701198" y="0"/>
                  </a:moveTo>
                  <a:lnTo>
                    <a:pt x="749299" y="0"/>
                  </a:lnTo>
                  <a:lnTo>
                    <a:pt x="749299" y="45719"/>
                  </a:lnTo>
                  <a:lnTo>
                    <a:pt x="701198" y="45719"/>
                  </a:lnTo>
                  <a:close/>
                  <a:moveTo>
                    <a:pt x="609940" y="0"/>
                  </a:moveTo>
                  <a:lnTo>
                    <a:pt x="658041" y="0"/>
                  </a:lnTo>
                  <a:lnTo>
                    <a:pt x="658041" y="45719"/>
                  </a:lnTo>
                  <a:lnTo>
                    <a:pt x="609940" y="45719"/>
                  </a:lnTo>
                  <a:close/>
                  <a:moveTo>
                    <a:pt x="518681" y="0"/>
                  </a:moveTo>
                  <a:lnTo>
                    <a:pt x="566782" y="0"/>
                  </a:lnTo>
                  <a:lnTo>
                    <a:pt x="566782" y="45719"/>
                  </a:lnTo>
                  <a:lnTo>
                    <a:pt x="518681" y="45719"/>
                  </a:lnTo>
                  <a:close/>
                  <a:moveTo>
                    <a:pt x="427422" y="0"/>
                  </a:moveTo>
                  <a:lnTo>
                    <a:pt x="475523" y="0"/>
                  </a:lnTo>
                  <a:lnTo>
                    <a:pt x="475523" y="45719"/>
                  </a:lnTo>
                  <a:lnTo>
                    <a:pt x="427422" y="45719"/>
                  </a:lnTo>
                  <a:close/>
                  <a:moveTo>
                    <a:pt x="336164" y="0"/>
                  </a:moveTo>
                  <a:lnTo>
                    <a:pt x="384265" y="0"/>
                  </a:lnTo>
                  <a:lnTo>
                    <a:pt x="384265" y="45719"/>
                  </a:lnTo>
                  <a:lnTo>
                    <a:pt x="336164" y="45719"/>
                  </a:lnTo>
                  <a:close/>
                  <a:moveTo>
                    <a:pt x="244905" y="0"/>
                  </a:moveTo>
                  <a:lnTo>
                    <a:pt x="293006" y="0"/>
                  </a:lnTo>
                  <a:lnTo>
                    <a:pt x="293006" y="45719"/>
                  </a:lnTo>
                  <a:lnTo>
                    <a:pt x="244905" y="45719"/>
                  </a:lnTo>
                  <a:close/>
                  <a:moveTo>
                    <a:pt x="153647" y="0"/>
                  </a:moveTo>
                  <a:lnTo>
                    <a:pt x="201748" y="0"/>
                  </a:lnTo>
                  <a:lnTo>
                    <a:pt x="201748" y="45719"/>
                  </a:lnTo>
                  <a:lnTo>
                    <a:pt x="153647" y="45719"/>
                  </a:lnTo>
                  <a:close/>
                  <a:moveTo>
                    <a:pt x="62388" y="0"/>
                  </a:moveTo>
                  <a:lnTo>
                    <a:pt x="110489" y="0"/>
                  </a:lnTo>
                  <a:lnTo>
                    <a:pt x="110489" y="45719"/>
                  </a:lnTo>
                  <a:lnTo>
                    <a:pt x="62388" y="45719"/>
                  </a:lnTo>
                  <a:close/>
                  <a:moveTo>
                    <a:pt x="0" y="0"/>
                  </a:moveTo>
                  <a:lnTo>
                    <a:pt x="48101" y="0"/>
                  </a:lnTo>
                  <a:lnTo>
                    <a:pt x="48101" y="45719"/>
                  </a:lnTo>
                  <a:lnTo>
                    <a:pt x="0" y="45719"/>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11" name="平行四边形 10"/>
          <p:cNvSpPr/>
          <p:nvPr/>
        </p:nvSpPr>
        <p:spPr>
          <a:xfrm flipH="1">
            <a:off x="5386031" y="104979"/>
            <a:ext cx="1319982" cy="501446"/>
          </a:xfrm>
          <a:prstGeom prst="parallelogram">
            <a:avLst/>
          </a:prstGeom>
          <a:solidFill>
            <a:schemeClr val="accent4"/>
          </a:solid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12" name="平行四边形 11"/>
          <p:cNvSpPr/>
          <p:nvPr/>
        </p:nvSpPr>
        <p:spPr>
          <a:xfrm flipH="1">
            <a:off x="2693127" y="115139"/>
            <a:ext cx="1319982" cy="501446"/>
          </a:xfrm>
          <a:prstGeom prst="parallelogram">
            <a:avLst/>
          </a:prstGeom>
          <a:no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10" name="文本框 9"/>
          <p:cNvSpPr txBox="1"/>
          <p:nvPr/>
        </p:nvSpPr>
        <p:spPr>
          <a:xfrm>
            <a:off x="5533553" y="196641"/>
            <a:ext cx="1070927"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核心技术</a:t>
            </a:r>
            <a:endParaRPr lang="zh-CN" altLang="en-US" sz="1600" dirty="0">
              <a:solidFill>
                <a:schemeClr val="bg1"/>
              </a:solidFill>
              <a:latin typeface="思源黑体" panose="020B0800000000000000" pitchFamily="34" charset="-122"/>
              <a:ea typeface="思源黑体" panose="020B0800000000000000" pitchFamily="34" charset="-122"/>
            </a:endParaRPr>
          </a:p>
        </p:txBody>
      </p:sp>
      <p:sp>
        <p:nvSpPr>
          <p:cNvPr id="8" name="文本框 7"/>
          <p:cNvSpPr txBox="1"/>
          <p:nvPr/>
        </p:nvSpPr>
        <p:spPr>
          <a:xfrm>
            <a:off x="2852084" y="196641"/>
            <a:ext cx="1120740"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项目背景</a:t>
            </a:r>
            <a:endParaRPr lang="zh-CN" altLang="en-US" sz="1600" dirty="0">
              <a:solidFill>
                <a:schemeClr val="bg1"/>
              </a:solidFill>
              <a:latin typeface="思源黑体" panose="020B0800000000000000" pitchFamily="34" charset="-122"/>
              <a:ea typeface="思源黑体" panose="020B0800000000000000" pitchFamily="34" charset="-122"/>
            </a:endParaRPr>
          </a:p>
        </p:txBody>
      </p:sp>
      <p:sp>
        <p:nvSpPr>
          <p:cNvPr id="184" name="文本框 183"/>
          <p:cNvSpPr txBox="1"/>
          <p:nvPr/>
        </p:nvSpPr>
        <p:spPr>
          <a:xfrm>
            <a:off x="198755" y="833755"/>
            <a:ext cx="3985260" cy="583565"/>
          </a:xfrm>
          <a:prstGeom prst="rect">
            <a:avLst/>
          </a:prstGeom>
          <a:noFill/>
        </p:spPr>
        <p:txBody>
          <a:bodyPr wrap="square" rtlCol="0" anchor="t">
            <a:spAutoFit/>
          </a:bodyPr>
          <a:p>
            <a:pPr algn="l"/>
            <a:r>
              <a:rPr lang="zh-CN" altLang="en-US" sz="3200" b="1" dirty="0">
                <a:latin typeface="华文隶书" panose="02010800040101010101" charset="-122"/>
                <a:ea typeface="华文隶书" panose="02010800040101010101" charset="-122"/>
                <a:sym typeface="+mn-ea"/>
              </a:rPr>
              <a:t>关键任务模块设计</a:t>
            </a:r>
            <a:endParaRPr lang="zh-CN" altLang="en-US" sz="3200" b="1" dirty="0">
              <a:latin typeface="华文隶书" panose="02010800040101010101" charset="-122"/>
              <a:ea typeface="华文隶书" panose="02010800040101010101" charset="-122"/>
              <a:sym typeface="+mn-ea"/>
            </a:endParaRPr>
          </a:p>
        </p:txBody>
      </p:sp>
      <p:grpSp>
        <p:nvGrpSpPr>
          <p:cNvPr id="1559" name="周小周ppt5"/>
          <p:cNvGrpSpPr/>
          <p:nvPr/>
        </p:nvGrpSpPr>
        <p:grpSpPr>
          <a:xfrm>
            <a:off x="671830" y="2166620"/>
            <a:ext cx="3390265" cy="3331210"/>
            <a:chOff x="940704" y="2182187"/>
            <a:chExt cx="3165003" cy="3138994"/>
          </a:xfrm>
        </p:grpSpPr>
        <p:sp>
          <p:nvSpPr>
            <p:cNvPr id="1511" name="周小周ppt5-1"/>
            <p:cNvSpPr/>
            <p:nvPr/>
          </p:nvSpPr>
          <p:spPr>
            <a:xfrm>
              <a:off x="1123705" y="2406210"/>
              <a:ext cx="2690948" cy="2690948"/>
            </a:xfrm>
            <a:prstGeom prst="donut">
              <a:avLst>
                <a:gd name="adj" fmla="val 9165"/>
              </a:avLst>
            </a:prstGeom>
            <a:noFill/>
            <a:ln>
              <a:solidFill>
                <a:schemeClr val="accent1">
                  <a:alpha val="2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8" name="周小周ppt5-2"/>
            <p:cNvSpPr/>
            <p:nvPr>
              <p:custDataLst>
                <p:tags r:id="rId2"/>
              </p:custDataLst>
            </p:nvPr>
          </p:nvSpPr>
          <p:spPr>
            <a:xfrm>
              <a:off x="1839179" y="3121684"/>
              <a:ext cx="1260000" cy="1260000"/>
            </a:xfrm>
            <a:prstGeom prst="ellipse">
              <a:avLst/>
            </a:prstGeom>
            <a:gradFill flip="none" rotWithShape="1">
              <a:gsLst>
                <a:gs pos="0">
                  <a:schemeClr val="accent1">
                    <a:lumMod val="20000"/>
                    <a:lumOff val="80000"/>
                  </a:schemeClr>
                </a:gs>
                <a:gs pos="57000">
                  <a:schemeClr val="tx2">
                    <a:lumMod val="75000"/>
                    <a:lumOff val="25000"/>
                  </a:schemeClr>
                </a:gs>
              </a:gsLst>
              <a:path path="circle">
                <a:fillToRect r="100000" b="100000"/>
              </a:path>
              <a:tileRect l="-100000" t="-100000"/>
            </a:gradFill>
            <a:ln w="12700" cap="flat" cmpd="sng" algn="ctr">
              <a:noFill/>
              <a:prstDash val="solid"/>
              <a:miter lim="800000"/>
            </a:ln>
            <a:effectLst/>
          </p:spPr>
          <p:style>
            <a:lnRef idx="1">
              <a:schemeClr val="accent1"/>
            </a:lnRef>
            <a:fillRef idx="0">
              <a:schemeClr val="accent1"/>
            </a:fillRef>
            <a:effectRef idx="0">
              <a:schemeClr val="accent1"/>
            </a:effectRef>
            <a:fontRef idx="minor">
              <a:schemeClr val="tx1"/>
            </a:fontRef>
          </p:style>
          <p:txBody>
            <a:bodyPr wrap="square" rtlCol="0" anchor="ctr">
              <a:noAutofit/>
            </a:bodyPr>
            <a:lstStyle/>
            <a:p>
              <a:pPr algn="ctr"/>
              <a:endParaRPr lang="zh-CN" altLang="en-US" dirty="0">
                <a:solidFill>
                  <a:schemeClr val="tx1"/>
                </a:solidFill>
              </a:endParaRPr>
            </a:p>
          </p:txBody>
        </p:sp>
        <p:grpSp>
          <p:nvGrpSpPr>
            <p:cNvPr id="1558" name="组合 1557"/>
            <p:cNvGrpSpPr/>
            <p:nvPr/>
          </p:nvGrpSpPr>
          <p:grpSpPr>
            <a:xfrm>
              <a:off x="2470640" y="2182187"/>
              <a:ext cx="743858" cy="743858"/>
              <a:chOff x="2470640" y="2182187"/>
              <a:chExt cx="743858" cy="743858"/>
            </a:xfrm>
          </p:grpSpPr>
          <p:sp>
            <p:nvSpPr>
              <p:cNvPr id="1526" name="周小周ppt5-4"/>
              <p:cNvSpPr/>
              <p:nvPr>
                <p:custDataLst>
                  <p:tags r:id="rId3"/>
                </p:custDataLst>
              </p:nvPr>
            </p:nvSpPr>
            <p:spPr>
              <a:xfrm>
                <a:off x="2470640" y="2182187"/>
                <a:ext cx="743858" cy="743858"/>
              </a:xfrm>
              <a:prstGeom prst="ellipse">
                <a:avLst/>
              </a:prstGeom>
              <a:solidFill>
                <a:schemeClr val="bg1"/>
              </a:solidFill>
              <a:ln>
                <a:gradFill flip="none" rotWithShape="1">
                  <a:gsLst>
                    <a:gs pos="0">
                      <a:schemeClr val="tx2">
                        <a:lumMod val="25000"/>
                        <a:lumOff val="75000"/>
                      </a:schemeClr>
                    </a:gs>
                    <a:gs pos="99000">
                      <a:schemeClr val="tx2">
                        <a:lumMod val="75000"/>
                        <a:lumOff val="25000"/>
                      </a:schemeClr>
                    </a:gs>
                  </a:gsLst>
                  <a:lin ang="27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latin typeface="+mj-ea"/>
                  <a:ea typeface="+mj-ea"/>
                </a:endParaRPr>
              </a:p>
            </p:txBody>
          </p:sp>
          <p:sp>
            <p:nvSpPr>
              <p:cNvPr id="1527" name="周小周ppt5-5"/>
              <p:cNvSpPr txBox="1"/>
              <p:nvPr/>
            </p:nvSpPr>
            <p:spPr>
              <a:xfrm>
                <a:off x="2510743" y="2281174"/>
                <a:ext cx="604043" cy="521171"/>
              </a:xfrm>
              <a:prstGeom prst="rect">
                <a:avLst/>
              </a:prstGeom>
              <a:noFill/>
            </p:spPr>
            <p:txBody>
              <a:bodyPr wrap="square" rtlCol="0">
                <a:spAutoFit/>
              </a:bodyPr>
              <a:lstStyle>
                <a:defPPr>
                  <a:defRPr lang="zh-CN"/>
                </a:defPPr>
                <a:lvl1pPr algn="ctr">
                  <a:lnSpc>
                    <a:spcPct val="120000"/>
                  </a:lnSpc>
                  <a:defRPr sz="1400">
                    <a:solidFill>
                      <a:schemeClr val="accent4"/>
                    </a:solidFill>
                    <a:latin typeface="+mn-ea"/>
                  </a:defRPr>
                </a:lvl1pPr>
              </a:lstStyle>
              <a:p>
                <a:pPr>
                  <a:lnSpc>
                    <a:spcPct val="100000"/>
                  </a:lnSpc>
                </a:pPr>
                <a:r>
                  <a:rPr lang="zh-CN" altLang="en-US" sz="1000" b="1" dirty="0">
                    <a:solidFill>
                      <a:schemeClr val="tx2"/>
                    </a:solidFill>
                    <a:latin typeface="+mj-ea"/>
                    <a:ea typeface="+mj-ea"/>
                  </a:rPr>
                  <a:t>土地利用</a:t>
                </a:r>
                <a:r>
                  <a:rPr lang="en-US" altLang="zh-CN" sz="1000" b="1" dirty="0">
                    <a:solidFill>
                      <a:schemeClr val="tx2"/>
                    </a:solidFill>
                    <a:latin typeface="+mj-ea"/>
                    <a:ea typeface="+mj-ea"/>
                  </a:rPr>
                  <a:t>/</a:t>
                </a:r>
                <a:r>
                  <a:rPr lang="zh-CN" altLang="en-US" sz="1000" b="1" dirty="0">
                    <a:solidFill>
                      <a:schemeClr val="tx2"/>
                    </a:solidFill>
                    <a:latin typeface="+mj-ea"/>
                    <a:ea typeface="+mj-ea"/>
                  </a:rPr>
                  <a:t>覆盖分类</a:t>
                </a:r>
                <a:endParaRPr lang="zh-CN" altLang="en-US" sz="1000" b="1" dirty="0">
                  <a:solidFill>
                    <a:schemeClr val="tx2"/>
                  </a:solidFill>
                  <a:latin typeface="+mj-ea"/>
                  <a:ea typeface="+mj-ea"/>
                </a:endParaRPr>
              </a:p>
            </p:txBody>
          </p:sp>
        </p:grpSp>
        <p:sp>
          <p:nvSpPr>
            <p:cNvPr id="1524" name="周小周ppt5-6"/>
            <p:cNvSpPr/>
            <p:nvPr>
              <p:custDataLst>
                <p:tags r:id="rId4"/>
              </p:custDataLst>
            </p:nvPr>
          </p:nvSpPr>
          <p:spPr>
            <a:xfrm>
              <a:off x="1014178" y="2626358"/>
              <a:ext cx="743858" cy="743858"/>
            </a:xfrm>
            <a:prstGeom prst="ellipse">
              <a:avLst/>
            </a:prstGeom>
            <a:solidFill>
              <a:schemeClr val="bg1"/>
            </a:solidFill>
            <a:ln>
              <a:gradFill flip="none" rotWithShape="1">
                <a:gsLst>
                  <a:gs pos="0">
                    <a:schemeClr val="tx2">
                      <a:lumMod val="75000"/>
                      <a:lumOff val="25000"/>
                    </a:schemeClr>
                  </a:gs>
                  <a:gs pos="99000">
                    <a:schemeClr val="tx2">
                      <a:lumMod val="25000"/>
                      <a:lumOff val="75000"/>
                    </a:schemeClr>
                  </a:gs>
                </a:gsLst>
                <a:lin ang="27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latin typeface="+mj-ea"/>
                <a:ea typeface="+mj-ea"/>
              </a:endParaRPr>
            </a:p>
          </p:txBody>
        </p:sp>
        <p:sp>
          <p:nvSpPr>
            <p:cNvPr id="1522" name="周小周ppt5-8"/>
            <p:cNvSpPr/>
            <p:nvPr>
              <p:custDataLst>
                <p:tags r:id="rId5"/>
              </p:custDataLst>
            </p:nvPr>
          </p:nvSpPr>
          <p:spPr>
            <a:xfrm>
              <a:off x="940704" y="4113251"/>
              <a:ext cx="743858" cy="743858"/>
            </a:xfrm>
            <a:prstGeom prst="ellipse">
              <a:avLst/>
            </a:prstGeom>
            <a:solidFill>
              <a:schemeClr val="bg1"/>
            </a:solidFill>
            <a:ln>
              <a:gradFill flip="none" rotWithShape="1">
                <a:gsLst>
                  <a:gs pos="0">
                    <a:schemeClr val="tx2">
                      <a:lumMod val="25000"/>
                      <a:lumOff val="75000"/>
                    </a:schemeClr>
                  </a:gs>
                  <a:gs pos="99000">
                    <a:schemeClr val="tx2">
                      <a:lumMod val="75000"/>
                      <a:lumOff val="25000"/>
                    </a:schemeClr>
                  </a:gs>
                </a:gsLst>
                <a:lin ang="27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latin typeface="+mj-ea"/>
                <a:ea typeface="+mj-ea"/>
              </a:endParaRPr>
            </a:p>
          </p:txBody>
        </p:sp>
        <p:sp>
          <p:nvSpPr>
            <p:cNvPr id="1520" name="周小周ppt5-10"/>
            <p:cNvSpPr/>
            <p:nvPr>
              <p:custDataLst>
                <p:tags r:id="rId6"/>
              </p:custDataLst>
            </p:nvPr>
          </p:nvSpPr>
          <p:spPr>
            <a:xfrm>
              <a:off x="2399563" y="4577323"/>
              <a:ext cx="743858" cy="743858"/>
            </a:xfrm>
            <a:prstGeom prst="ellipse">
              <a:avLst/>
            </a:prstGeom>
            <a:solidFill>
              <a:schemeClr val="bg1"/>
            </a:solidFill>
            <a:ln>
              <a:gradFill flip="none" rotWithShape="1">
                <a:gsLst>
                  <a:gs pos="0">
                    <a:schemeClr val="tx2">
                      <a:lumMod val="75000"/>
                      <a:lumOff val="25000"/>
                    </a:schemeClr>
                  </a:gs>
                  <a:gs pos="99000">
                    <a:schemeClr val="tx2">
                      <a:lumMod val="25000"/>
                      <a:lumOff val="75000"/>
                    </a:schemeClr>
                  </a:gs>
                </a:gsLst>
                <a:lin ang="27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latin typeface="+mj-ea"/>
                <a:ea typeface="+mj-ea"/>
              </a:endParaRPr>
            </a:p>
          </p:txBody>
        </p:sp>
        <p:sp>
          <p:nvSpPr>
            <p:cNvPr id="1518" name="周小周ppt5-12"/>
            <p:cNvSpPr/>
            <p:nvPr>
              <p:custDataLst>
                <p:tags r:id="rId7"/>
              </p:custDataLst>
            </p:nvPr>
          </p:nvSpPr>
          <p:spPr>
            <a:xfrm>
              <a:off x="3361849" y="3391855"/>
              <a:ext cx="743858" cy="743858"/>
            </a:xfrm>
            <a:prstGeom prst="ellipse">
              <a:avLst/>
            </a:prstGeom>
            <a:solidFill>
              <a:schemeClr val="bg1"/>
            </a:solidFill>
            <a:ln>
              <a:gradFill flip="none" rotWithShape="1">
                <a:gsLst>
                  <a:gs pos="0">
                    <a:schemeClr val="tx2">
                      <a:lumMod val="25000"/>
                      <a:lumOff val="75000"/>
                    </a:schemeClr>
                  </a:gs>
                  <a:gs pos="99000">
                    <a:schemeClr val="tx2">
                      <a:lumMod val="75000"/>
                      <a:lumOff val="25000"/>
                    </a:schemeClr>
                  </a:gs>
                </a:gsLst>
                <a:lin ang="27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latin typeface="+mj-ea"/>
                <a:ea typeface="+mj-ea"/>
              </a:endParaRPr>
            </a:p>
          </p:txBody>
        </p:sp>
        <p:sp>
          <p:nvSpPr>
            <p:cNvPr id="1532" name="周小周ppt5-14"/>
            <p:cNvSpPr txBox="1"/>
            <p:nvPr/>
          </p:nvSpPr>
          <p:spPr>
            <a:xfrm>
              <a:off x="1773717" y="3533804"/>
              <a:ext cx="1353576" cy="422307"/>
            </a:xfrm>
            <a:prstGeom prst="rect">
              <a:avLst/>
            </a:prstGeom>
            <a:noFill/>
            <a:ln w="12700" cap="flat" cmpd="sng" algn="ctr">
              <a:noFill/>
              <a:prstDash val="solid"/>
              <a:miter lim="800000"/>
            </a:ln>
            <a:effectLst/>
          </p:spPr>
          <p:style>
            <a:lnRef idx="1">
              <a:schemeClr val="accent1"/>
            </a:lnRef>
            <a:fillRef idx="0">
              <a:schemeClr val="accent1"/>
            </a:fillRef>
            <a:effectRef idx="0">
              <a:schemeClr val="accent1"/>
            </a:effectRef>
            <a:fontRef idx="minor">
              <a:schemeClr val="tx1"/>
            </a:fontRef>
          </p:style>
          <p:txBody>
            <a:bodyPr wrap="square" rtlCol="0" anchor="ctr">
              <a:noAutofit/>
            </a:bodyPr>
            <a:lstStyle>
              <a:defPPr>
                <a:defRPr lang="zh-CN"/>
              </a:defPPr>
              <a:lvl1pPr algn="ctr"/>
            </a:lstStyle>
            <a:p>
              <a:r>
                <a:rPr lang="zh-CN" altLang="en-US" sz="2000" dirty="0">
                  <a:solidFill>
                    <a:schemeClr val="tx1"/>
                  </a:solidFill>
                  <a:latin typeface="+mn-ea"/>
                </a:rPr>
                <a:t>五大关键模块</a:t>
              </a:r>
              <a:endParaRPr lang="zh-CN" altLang="en-US" sz="2000" dirty="0">
                <a:solidFill>
                  <a:schemeClr val="tx1"/>
                </a:solidFill>
                <a:latin typeface="+mn-ea"/>
              </a:endParaRPr>
            </a:p>
          </p:txBody>
        </p:sp>
        <p:sp>
          <p:nvSpPr>
            <p:cNvPr id="1536" name="周小周ppt5-15"/>
            <p:cNvSpPr/>
            <p:nvPr/>
          </p:nvSpPr>
          <p:spPr>
            <a:xfrm>
              <a:off x="1599978" y="2882483"/>
              <a:ext cx="1738402" cy="1738402"/>
            </a:xfrm>
            <a:prstGeom prst="donut">
              <a:avLst>
                <a:gd name="adj" fmla="val 13875"/>
              </a:avLst>
            </a:prstGeom>
            <a:noFill/>
            <a:ln>
              <a:solidFill>
                <a:schemeClr val="accent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 name="周小周ppt5-5"/>
          <p:cNvSpPr txBox="1"/>
          <p:nvPr/>
        </p:nvSpPr>
        <p:spPr>
          <a:xfrm>
            <a:off x="3291753" y="3594256"/>
            <a:ext cx="604043" cy="521970"/>
          </a:xfrm>
          <a:prstGeom prst="rect">
            <a:avLst/>
          </a:prstGeom>
          <a:noFill/>
        </p:spPr>
        <p:txBody>
          <a:bodyPr wrap="square" rtlCol="0">
            <a:spAutoFit/>
          </a:bodyPr>
          <a:lstStyle>
            <a:defPPr>
              <a:defRPr lang="zh-CN"/>
            </a:defPPr>
            <a:lvl1pPr algn="ctr">
              <a:lnSpc>
                <a:spcPct val="120000"/>
              </a:lnSpc>
              <a:defRPr sz="1400">
                <a:solidFill>
                  <a:schemeClr val="accent4"/>
                </a:solidFill>
                <a:latin typeface="+mn-ea"/>
              </a:defRPr>
            </a:lvl1pPr>
          </a:lstStyle>
          <a:p>
            <a:pPr>
              <a:lnSpc>
                <a:spcPct val="100000"/>
              </a:lnSpc>
            </a:pPr>
            <a:r>
              <a:rPr lang="zh-CN" altLang="en-US" b="1" dirty="0">
                <a:solidFill>
                  <a:schemeClr val="tx2"/>
                </a:solidFill>
                <a:latin typeface="+mj-ea"/>
                <a:ea typeface="+mj-ea"/>
              </a:rPr>
              <a:t>耕地检测</a:t>
            </a:r>
            <a:endParaRPr lang="zh-CN" altLang="en-US" b="1" dirty="0">
              <a:solidFill>
                <a:schemeClr val="tx2"/>
              </a:solidFill>
              <a:latin typeface="+mj-ea"/>
              <a:ea typeface="+mj-ea"/>
            </a:endParaRPr>
          </a:p>
        </p:txBody>
      </p:sp>
      <p:sp>
        <p:nvSpPr>
          <p:cNvPr id="13" name="周小周ppt5-5"/>
          <p:cNvSpPr txBox="1"/>
          <p:nvPr/>
        </p:nvSpPr>
        <p:spPr>
          <a:xfrm>
            <a:off x="773430" y="2727325"/>
            <a:ext cx="603885" cy="699770"/>
          </a:xfrm>
          <a:prstGeom prst="rect">
            <a:avLst/>
          </a:prstGeom>
          <a:noFill/>
        </p:spPr>
        <p:txBody>
          <a:bodyPr wrap="square" rtlCol="0">
            <a:noAutofit/>
          </a:bodyPr>
          <a:lstStyle>
            <a:defPPr>
              <a:defRPr lang="zh-CN"/>
            </a:defPPr>
            <a:lvl1pPr algn="ctr">
              <a:lnSpc>
                <a:spcPct val="120000"/>
              </a:lnSpc>
              <a:defRPr sz="1400">
                <a:solidFill>
                  <a:schemeClr val="accent4"/>
                </a:solidFill>
                <a:latin typeface="+mn-ea"/>
              </a:defRPr>
            </a:lvl1pPr>
          </a:lstStyle>
          <a:p>
            <a:pPr>
              <a:lnSpc>
                <a:spcPct val="100000"/>
              </a:lnSpc>
            </a:pPr>
            <a:r>
              <a:rPr lang="en-US" altLang="zh-CN" sz="1000" b="1" dirty="0">
                <a:solidFill>
                  <a:schemeClr val="tx2"/>
                </a:solidFill>
                <a:latin typeface="+mj-ea"/>
                <a:ea typeface="+mj-ea"/>
              </a:rPr>
              <a:t> </a:t>
            </a:r>
            <a:r>
              <a:rPr lang="zh-CN" altLang="en-US" sz="1000" b="1" dirty="0">
                <a:solidFill>
                  <a:schemeClr val="tx2"/>
                </a:solidFill>
                <a:latin typeface="+mj-ea"/>
                <a:ea typeface="+mj-ea"/>
              </a:rPr>
              <a:t>变化检测与异常区域发现</a:t>
            </a:r>
            <a:endParaRPr lang="zh-CN" altLang="en-US" sz="1000" b="1" dirty="0">
              <a:solidFill>
                <a:schemeClr val="tx2"/>
              </a:solidFill>
              <a:latin typeface="+mj-ea"/>
              <a:ea typeface="+mj-ea"/>
            </a:endParaRPr>
          </a:p>
        </p:txBody>
      </p:sp>
      <p:sp>
        <p:nvSpPr>
          <p:cNvPr id="14" name="周小周ppt5-5"/>
          <p:cNvSpPr txBox="1"/>
          <p:nvPr/>
        </p:nvSpPr>
        <p:spPr>
          <a:xfrm>
            <a:off x="2250988" y="4793136"/>
            <a:ext cx="604043" cy="553085"/>
          </a:xfrm>
          <a:prstGeom prst="rect">
            <a:avLst/>
          </a:prstGeom>
          <a:noFill/>
        </p:spPr>
        <p:txBody>
          <a:bodyPr wrap="square" rtlCol="0">
            <a:spAutoFit/>
          </a:bodyPr>
          <a:lstStyle>
            <a:defPPr>
              <a:defRPr lang="zh-CN"/>
            </a:defPPr>
            <a:lvl1pPr algn="ctr">
              <a:lnSpc>
                <a:spcPct val="120000"/>
              </a:lnSpc>
              <a:defRPr sz="1400">
                <a:solidFill>
                  <a:schemeClr val="accent4"/>
                </a:solidFill>
                <a:latin typeface="+mn-ea"/>
              </a:defRPr>
            </a:lvl1pPr>
          </a:lstStyle>
          <a:p>
            <a:pPr>
              <a:lnSpc>
                <a:spcPct val="100000"/>
              </a:lnSpc>
            </a:pPr>
            <a:r>
              <a:rPr lang="zh-CN" altLang="en-US" sz="1000" b="1" dirty="0">
                <a:solidFill>
                  <a:schemeClr val="tx2"/>
                </a:solidFill>
                <a:latin typeface="+mj-ea"/>
                <a:ea typeface="+mj-ea"/>
              </a:rPr>
              <a:t>受灾区域识别与制图</a:t>
            </a:r>
            <a:endParaRPr lang="zh-CN" altLang="en-US" sz="1000" b="1" dirty="0">
              <a:solidFill>
                <a:schemeClr val="tx2"/>
              </a:solidFill>
              <a:latin typeface="+mj-ea"/>
              <a:ea typeface="+mj-ea"/>
            </a:endParaRPr>
          </a:p>
        </p:txBody>
      </p:sp>
      <p:sp>
        <p:nvSpPr>
          <p:cNvPr id="27" name="周小周ppt5-5"/>
          <p:cNvSpPr txBox="1"/>
          <p:nvPr/>
        </p:nvSpPr>
        <p:spPr>
          <a:xfrm>
            <a:off x="703580" y="4286250"/>
            <a:ext cx="645160" cy="645160"/>
          </a:xfrm>
          <a:prstGeom prst="rect">
            <a:avLst/>
          </a:prstGeom>
          <a:noFill/>
        </p:spPr>
        <p:txBody>
          <a:bodyPr wrap="square" rtlCol="0">
            <a:spAutoFit/>
          </a:bodyPr>
          <a:lstStyle>
            <a:defPPr>
              <a:defRPr lang="zh-CN"/>
            </a:defPPr>
            <a:lvl1pPr algn="ctr">
              <a:lnSpc>
                <a:spcPct val="120000"/>
              </a:lnSpc>
              <a:defRPr sz="1400">
                <a:solidFill>
                  <a:schemeClr val="accent4"/>
                </a:solidFill>
                <a:latin typeface="+mn-ea"/>
              </a:defRPr>
            </a:lvl1pPr>
          </a:lstStyle>
          <a:p>
            <a:pPr>
              <a:lnSpc>
                <a:spcPct val="100000"/>
              </a:lnSpc>
            </a:pPr>
            <a:r>
              <a:rPr lang="en-US" altLang="zh-CN" sz="1200" b="1" dirty="0">
                <a:solidFill>
                  <a:schemeClr val="tx2"/>
                </a:solidFill>
                <a:latin typeface="+mj-ea"/>
                <a:ea typeface="+mj-ea"/>
              </a:rPr>
              <a:t> </a:t>
            </a:r>
            <a:r>
              <a:rPr lang="zh-CN" altLang="en-US" sz="1200" b="1" dirty="0">
                <a:solidFill>
                  <a:schemeClr val="tx2"/>
                </a:solidFill>
                <a:latin typeface="+mj-ea"/>
                <a:ea typeface="+mj-ea"/>
              </a:rPr>
              <a:t>能源设施检测</a:t>
            </a:r>
            <a:endParaRPr lang="zh-CN" altLang="en-US" sz="1200" b="1" dirty="0">
              <a:solidFill>
                <a:schemeClr val="tx2"/>
              </a:solidFill>
              <a:latin typeface="+mj-ea"/>
              <a:ea typeface="+mj-ea"/>
            </a:endParaRPr>
          </a:p>
        </p:txBody>
      </p:sp>
      <p:sp>
        <p:nvSpPr>
          <p:cNvPr id="28" name="矩形 27"/>
          <p:cNvSpPr/>
          <p:nvPr/>
        </p:nvSpPr>
        <p:spPr>
          <a:xfrm>
            <a:off x="5969000" y="2167255"/>
            <a:ext cx="5542915" cy="3500755"/>
          </a:xfrm>
          <a:prstGeom prst="rect">
            <a:avLst/>
          </a:prstGeom>
          <a:gradFill>
            <a:gsLst>
              <a:gs pos="0">
                <a:schemeClr val="tx2">
                  <a:lumMod val="25000"/>
                  <a:lumOff val="75000"/>
                </a:schemeClr>
              </a:gs>
              <a:gs pos="52000">
                <a:schemeClr val="tx2">
                  <a:lumMod val="13000"/>
                  <a:lumOff val="87000"/>
                </a:schemeClr>
              </a:gs>
              <a:gs pos="100000">
                <a:schemeClr val="tx2">
                  <a:lumMod val="25000"/>
                  <a:lumOff val="75000"/>
                </a:schemeClr>
              </a:gs>
            </a:gsLst>
            <a:lin ang="5400000" scaled="0"/>
          </a:gradFill>
          <a:ln w="12700" cmpd="sng">
            <a:noFill/>
            <a:prstDash val="solid"/>
          </a:ln>
          <a:effectLst>
            <a:outerShdw blurRad="50800" dist="38100" dir="8100000" algn="tr" rotWithShape="0">
              <a:prstClr val="black">
                <a:alpha val="40000"/>
              </a:prst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latin typeface="隶书" panose="02010509060101010101" pitchFamily="49" charset="-122"/>
              <a:ea typeface="隶书" panose="02010509060101010101" pitchFamily="49" charset="-122"/>
            </a:endParaRPr>
          </a:p>
        </p:txBody>
      </p:sp>
      <p:grpSp>
        <p:nvGrpSpPr>
          <p:cNvPr id="1555" name="周小周ppt6"/>
          <p:cNvGrpSpPr/>
          <p:nvPr/>
        </p:nvGrpSpPr>
        <p:grpSpPr>
          <a:xfrm>
            <a:off x="4073525" y="3325495"/>
            <a:ext cx="1539240" cy="1042670"/>
            <a:chOff x="3775640" y="3565347"/>
            <a:chExt cx="1244190" cy="1042589"/>
          </a:xfrm>
        </p:grpSpPr>
        <p:sp>
          <p:nvSpPr>
            <p:cNvPr id="1538" name="周小周ppt6-1"/>
            <p:cNvSpPr/>
            <p:nvPr/>
          </p:nvSpPr>
          <p:spPr>
            <a:xfrm>
              <a:off x="3775640" y="3565347"/>
              <a:ext cx="1244190" cy="1042589"/>
            </a:xfrm>
            <a:prstGeom prst="rightArrow">
              <a:avLst>
                <a:gd name="adj1" fmla="val 57170"/>
                <a:gd name="adj2" fmla="val 52026"/>
              </a:avLst>
            </a:prstGeom>
            <a:gradFill>
              <a:gsLst>
                <a:gs pos="0">
                  <a:schemeClr val="accent1">
                    <a:alpha val="0"/>
                  </a:schemeClr>
                </a:gs>
                <a:gs pos="75000">
                  <a:schemeClr val="accent1">
                    <a:alpha val="8000"/>
                  </a:schemeClr>
                </a:gs>
              </a:gsLst>
              <a:lin ang="0" scaled="1"/>
            </a:gradFill>
            <a:ln>
              <a:gradFill>
                <a:gsLst>
                  <a:gs pos="0">
                    <a:schemeClr val="accent1">
                      <a:alpha val="0"/>
                    </a:schemeClr>
                  </a:gs>
                  <a:gs pos="62000">
                    <a:schemeClr val="accent1">
                      <a:alpha val="2500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41" name="周小周ppt6-2"/>
            <p:cNvSpPr txBox="1"/>
            <p:nvPr/>
          </p:nvSpPr>
          <p:spPr>
            <a:xfrm>
              <a:off x="3802336" y="3819330"/>
              <a:ext cx="1135888" cy="521930"/>
            </a:xfrm>
            <a:prstGeom prst="rect">
              <a:avLst/>
            </a:prstGeom>
            <a:noFill/>
          </p:spPr>
          <p:txBody>
            <a:bodyPr wrap="square">
              <a:spAutoFit/>
            </a:bodyPr>
            <a:lstStyle/>
            <a:p>
              <a:pPr algn="ctr"/>
              <a:r>
                <a:rPr lang="zh-CN" altLang="en-US" sz="1400" b="1">
                  <a:solidFill>
                    <a:schemeClr val="tx1">
                      <a:lumMod val="100000"/>
                    </a:schemeClr>
                  </a:solidFill>
                  <a:effectLst/>
                  <a:latin typeface="+mj-ea"/>
                  <a:ea typeface="+mj-ea"/>
                </a:rPr>
                <a:t>多任务统一输出与结果融合</a:t>
              </a:r>
              <a:endParaRPr lang="zh-CN" altLang="en-US" sz="1400" b="1">
                <a:solidFill>
                  <a:schemeClr val="tx1">
                    <a:lumMod val="100000"/>
                  </a:schemeClr>
                </a:solidFill>
                <a:effectLst/>
                <a:latin typeface="+mj-ea"/>
                <a:ea typeface="+mj-ea"/>
              </a:endParaRPr>
            </a:p>
          </p:txBody>
        </p:sp>
      </p:grpSp>
      <p:graphicFrame>
        <p:nvGraphicFramePr>
          <p:cNvPr id="30" name="表格 29"/>
          <p:cNvGraphicFramePr/>
          <p:nvPr>
            <p:custDataLst>
              <p:tags r:id="rId8"/>
            </p:custDataLst>
          </p:nvPr>
        </p:nvGraphicFramePr>
        <p:xfrm>
          <a:off x="6176645" y="2835910"/>
          <a:ext cx="5107305" cy="2667000"/>
        </p:xfrm>
        <a:graphic>
          <a:graphicData uri="http://schemas.openxmlformats.org/drawingml/2006/table">
            <a:tbl>
              <a:tblPr firstRow="1" bandRow="1">
                <a:tableStyleId>{5C22544A-7EE6-4342-B048-85BDC9FD1C3A}</a:tableStyleId>
              </a:tblPr>
              <a:tblGrid>
                <a:gridCol w="990600"/>
                <a:gridCol w="1344930"/>
                <a:gridCol w="2771775"/>
              </a:tblGrid>
              <a:tr h="369570">
                <a:tc>
                  <a:txBody>
                    <a:bodyPr/>
                    <a:p>
                      <a:pPr algn="ctr">
                        <a:buNone/>
                      </a:pPr>
                      <a:r>
                        <a:rPr lang="zh-CN" altLang="en-US">
                          <a:solidFill>
                            <a:schemeClr val="tx1"/>
                          </a:solidFill>
                          <a:latin typeface="楷体" panose="02010609060101010101" charset="-122"/>
                          <a:ea typeface="楷体" panose="02010609060101010101" charset="-122"/>
                        </a:rPr>
                        <a:t>模块</a:t>
                      </a:r>
                      <a:endParaRPr lang="zh-CN" altLang="en-US">
                        <a:solidFill>
                          <a:schemeClr val="tx1"/>
                        </a:solidFill>
                        <a:latin typeface="楷体" panose="02010609060101010101" charset="-122"/>
                        <a:ea typeface="楷体" panose="02010609060101010101" charset="-122"/>
                      </a:endParaRPr>
                    </a:p>
                  </a:txBody>
                  <a:tcPr>
                    <a:noFill/>
                  </a:tcPr>
                </a:tc>
                <a:tc>
                  <a:txBody>
                    <a:bodyPr/>
                    <a:p>
                      <a:pPr algn="ctr">
                        <a:buNone/>
                      </a:pPr>
                      <a:r>
                        <a:rPr lang="zh-CN" altLang="en-US">
                          <a:solidFill>
                            <a:schemeClr val="tx1"/>
                          </a:solidFill>
                          <a:latin typeface="楷体" panose="02010609060101010101" charset="-122"/>
                          <a:ea typeface="楷体" panose="02010609060101010101" charset="-122"/>
                        </a:rPr>
                        <a:t>方法</a:t>
                      </a:r>
                      <a:endParaRPr lang="zh-CN" altLang="en-US">
                        <a:solidFill>
                          <a:schemeClr val="tx1"/>
                        </a:solidFill>
                        <a:latin typeface="楷体" panose="02010609060101010101" charset="-122"/>
                        <a:ea typeface="楷体" panose="02010609060101010101" charset="-122"/>
                      </a:endParaRPr>
                    </a:p>
                  </a:txBody>
                  <a:tcPr>
                    <a:noFill/>
                  </a:tcPr>
                </a:tc>
                <a:tc>
                  <a:txBody>
                    <a:bodyPr/>
                    <a:p>
                      <a:pPr algn="ctr">
                        <a:buNone/>
                      </a:pPr>
                      <a:r>
                        <a:rPr lang="zh-CN" altLang="en-US">
                          <a:solidFill>
                            <a:schemeClr val="tx1"/>
                          </a:solidFill>
                          <a:latin typeface="楷体" panose="02010609060101010101" charset="-122"/>
                          <a:ea typeface="楷体" panose="02010609060101010101" charset="-122"/>
                          <a:cs typeface="楷体" panose="02010609060101010101" charset="-122"/>
                        </a:rPr>
                        <a:t>机制</a:t>
                      </a:r>
                      <a:r>
                        <a:rPr lang="en-US" altLang="zh-CN">
                          <a:solidFill>
                            <a:schemeClr val="tx1"/>
                          </a:solidFill>
                          <a:latin typeface="楷体" panose="02010609060101010101" charset="-122"/>
                          <a:ea typeface="楷体" panose="02010609060101010101" charset="-122"/>
                          <a:cs typeface="楷体" panose="02010609060101010101" charset="-122"/>
                        </a:rPr>
                        <a:t>/</a:t>
                      </a:r>
                      <a:r>
                        <a:rPr lang="zh-CN" altLang="en-US">
                          <a:solidFill>
                            <a:schemeClr val="tx1"/>
                          </a:solidFill>
                          <a:latin typeface="楷体" panose="02010609060101010101" charset="-122"/>
                          <a:ea typeface="楷体" panose="02010609060101010101" charset="-122"/>
                          <a:cs typeface="楷体" panose="02010609060101010101" charset="-122"/>
                        </a:rPr>
                        <a:t>公式</a:t>
                      </a:r>
                      <a:endParaRPr lang="zh-CN" altLang="en-US">
                        <a:solidFill>
                          <a:schemeClr val="tx1"/>
                        </a:solidFill>
                        <a:latin typeface="楷体" panose="02010609060101010101" charset="-122"/>
                        <a:ea typeface="楷体" panose="02010609060101010101" charset="-122"/>
                        <a:cs typeface="楷体" panose="02010609060101010101" charset="-122"/>
                      </a:endParaRPr>
                    </a:p>
                  </a:txBody>
                  <a:tcPr>
                    <a:noFill/>
                  </a:tcPr>
                </a:tc>
              </a:tr>
              <a:tr h="691515">
                <a:tc>
                  <a:txBody>
                    <a:bodyPr/>
                    <a:p>
                      <a:pPr algn="ctr">
                        <a:buNone/>
                      </a:pPr>
                      <a:r>
                        <a:rPr lang="zh-CN" altLang="en-US">
                          <a:solidFill>
                            <a:schemeClr val="tx1"/>
                          </a:solidFill>
                          <a:latin typeface="楷体" panose="02010609060101010101" charset="-122"/>
                          <a:ea typeface="楷体" panose="02010609060101010101" charset="-122"/>
                        </a:rPr>
                        <a:t>检测框精化</a:t>
                      </a:r>
                      <a:endParaRPr lang="zh-CN" altLang="en-US">
                        <a:solidFill>
                          <a:schemeClr val="tx1"/>
                        </a:solidFill>
                        <a:latin typeface="楷体" panose="02010609060101010101" charset="-122"/>
                        <a:ea typeface="楷体" panose="02010609060101010101" charset="-122"/>
                      </a:endParaRPr>
                    </a:p>
                  </a:txBody>
                  <a:tcPr>
                    <a:noFill/>
                  </a:tcPr>
                </a:tc>
                <a:tc>
                  <a:txBody>
                    <a:bodyPr/>
                    <a:p>
                      <a:pPr algn="ctr">
                        <a:buNone/>
                      </a:pPr>
                      <a:r>
                        <a:rPr lang="zh-CN" altLang="en-US">
                          <a:solidFill>
                            <a:schemeClr val="tx1"/>
                          </a:solidFill>
                          <a:latin typeface="楷体" panose="02010609060101010101" charset="-122"/>
                          <a:ea typeface="楷体" panose="02010609060101010101" charset="-122"/>
                        </a:rPr>
                        <a:t>非极大值抑制算法</a:t>
                      </a:r>
                      <a:endParaRPr lang="zh-CN" altLang="en-US">
                        <a:solidFill>
                          <a:schemeClr val="tx1"/>
                        </a:solidFill>
                        <a:latin typeface="楷体" panose="02010609060101010101" charset="-122"/>
                        <a:ea typeface="楷体" panose="02010609060101010101" charset="-122"/>
                      </a:endParaRPr>
                    </a:p>
                  </a:txBody>
                  <a:tcPr>
                    <a:noFill/>
                  </a:tcPr>
                </a:tc>
                <a:tc>
                  <a:txBody>
                    <a:bodyPr/>
                    <a:p>
                      <a:pPr algn="ctr">
                        <a:buNone/>
                      </a:pPr>
                      <a:r>
                        <a:rPr lang="zh-CN" altLang="en-US">
                          <a:solidFill>
                            <a:schemeClr val="tx1"/>
                          </a:solidFill>
                          <a:latin typeface="楷体" panose="02010609060101010101" charset="-122"/>
                          <a:ea typeface="楷体" panose="02010609060101010101" charset="-122"/>
                        </a:rPr>
                        <a:t>消除冗余锚框，保留置信度最高框</a:t>
                      </a:r>
                      <a:endParaRPr lang="zh-CN" altLang="en-US">
                        <a:solidFill>
                          <a:schemeClr val="tx1"/>
                        </a:solidFill>
                        <a:latin typeface="楷体" panose="02010609060101010101" charset="-122"/>
                        <a:ea typeface="楷体" panose="02010609060101010101" charset="-122"/>
                      </a:endParaRPr>
                    </a:p>
                  </a:txBody>
                  <a:tcPr>
                    <a:noFill/>
                  </a:tcPr>
                </a:tc>
              </a:tr>
              <a:tr h="691515">
                <a:tc>
                  <a:txBody>
                    <a:bodyPr/>
                    <a:p>
                      <a:pPr algn="ctr">
                        <a:buNone/>
                      </a:pPr>
                      <a:r>
                        <a:rPr lang="zh-CN" altLang="en-US">
                          <a:solidFill>
                            <a:schemeClr val="tx1"/>
                          </a:solidFill>
                          <a:latin typeface="楷体" panose="02010609060101010101" charset="-122"/>
                          <a:ea typeface="楷体" panose="02010609060101010101" charset="-122"/>
                        </a:rPr>
                        <a:t>分割图平滑</a:t>
                      </a:r>
                      <a:endParaRPr lang="zh-CN" altLang="en-US">
                        <a:solidFill>
                          <a:schemeClr val="tx1"/>
                        </a:solidFill>
                        <a:latin typeface="楷体" panose="02010609060101010101" charset="-122"/>
                        <a:ea typeface="楷体" panose="02010609060101010101" charset="-122"/>
                      </a:endParaRPr>
                    </a:p>
                  </a:txBody>
                  <a:tcPr>
                    <a:noFill/>
                  </a:tcPr>
                </a:tc>
                <a:tc>
                  <a:txBody>
                    <a:bodyPr/>
                    <a:p>
                      <a:pPr algn="ctr">
                        <a:buNone/>
                      </a:pPr>
                      <a:r>
                        <a:rPr lang="zh-CN" altLang="en-US">
                          <a:solidFill>
                            <a:schemeClr val="tx1"/>
                          </a:solidFill>
                          <a:latin typeface="楷体" panose="02010609060101010101" charset="-122"/>
                          <a:ea typeface="楷体" panose="02010609060101010101" charset="-122"/>
                        </a:rPr>
                        <a:t>全连接条件随机场</a:t>
                      </a:r>
                      <a:endParaRPr lang="zh-CN" altLang="en-US">
                        <a:solidFill>
                          <a:schemeClr val="tx1"/>
                        </a:solidFill>
                        <a:latin typeface="楷体" panose="02010609060101010101" charset="-122"/>
                        <a:ea typeface="楷体" panose="02010609060101010101" charset="-122"/>
                      </a:endParaRPr>
                    </a:p>
                  </a:txBody>
                  <a:tcPr>
                    <a:noFill/>
                  </a:tcPr>
                </a:tc>
                <a:tc>
                  <a:txBody>
                    <a:bodyPr/>
                    <a:p>
                      <a:pPr algn="ctr">
                        <a:buNone/>
                      </a:pPr>
                      <a:endParaRPr lang="zh-CN" altLang="en-US">
                        <a:solidFill>
                          <a:schemeClr val="tx1"/>
                        </a:solidFill>
                        <a:latin typeface="楷体" panose="02010609060101010101" charset="-122"/>
                        <a:ea typeface="楷体" panose="02010609060101010101" charset="-122"/>
                      </a:endParaRPr>
                    </a:p>
                  </a:txBody>
                  <a:tcPr>
                    <a:noFill/>
                  </a:tcPr>
                </a:tc>
              </a:tr>
              <a:tr h="691515">
                <a:tc>
                  <a:txBody>
                    <a:bodyPr/>
                    <a:p>
                      <a:pPr algn="ctr">
                        <a:buNone/>
                      </a:pPr>
                      <a:r>
                        <a:rPr lang="zh-CN" altLang="en-US">
                          <a:solidFill>
                            <a:schemeClr val="tx1"/>
                          </a:solidFill>
                          <a:latin typeface="楷体" panose="02010609060101010101" charset="-122"/>
                          <a:ea typeface="楷体" panose="02010609060101010101" charset="-122"/>
                        </a:rPr>
                        <a:t>任务仲裁</a:t>
                      </a:r>
                      <a:endParaRPr lang="zh-CN" altLang="en-US">
                        <a:solidFill>
                          <a:schemeClr val="tx1"/>
                        </a:solidFill>
                        <a:latin typeface="楷体" panose="02010609060101010101" charset="-122"/>
                        <a:ea typeface="楷体" panose="02010609060101010101" charset="-122"/>
                      </a:endParaRPr>
                    </a:p>
                  </a:txBody>
                  <a:tcPr>
                    <a:noFill/>
                  </a:tcPr>
                </a:tc>
                <a:tc>
                  <a:txBody>
                    <a:bodyPr/>
                    <a:p>
                      <a:pPr algn="ctr">
                        <a:buNone/>
                      </a:pPr>
                      <a:r>
                        <a:rPr lang="zh-CN" altLang="en-US">
                          <a:solidFill>
                            <a:schemeClr val="tx1"/>
                          </a:solidFill>
                          <a:latin typeface="楷体" panose="02010609060101010101" charset="-122"/>
                          <a:ea typeface="楷体" panose="02010609060101010101" charset="-122"/>
                        </a:rPr>
                        <a:t>地理常识与物理先验的仲裁规则树</a:t>
                      </a:r>
                      <a:endParaRPr lang="zh-CN" altLang="en-US">
                        <a:solidFill>
                          <a:schemeClr val="tx1"/>
                        </a:solidFill>
                        <a:latin typeface="楷体" panose="02010609060101010101" charset="-122"/>
                        <a:ea typeface="楷体" panose="02010609060101010101" charset="-122"/>
                      </a:endParaRPr>
                    </a:p>
                  </a:txBody>
                  <a:tcPr>
                    <a:noFill/>
                  </a:tcPr>
                </a:tc>
                <a:tc>
                  <a:txBody>
                    <a:bodyPr/>
                    <a:p>
                      <a:pPr algn="ctr">
                        <a:buNone/>
                      </a:pPr>
                      <a:r>
                        <a:rPr lang="zh-CN" altLang="en-US">
                          <a:solidFill>
                            <a:schemeClr val="tx1"/>
                          </a:solidFill>
                          <a:latin typeface="楷体" panose="02010609060101010101" charset="-122"/>
                          <a:ea typeface="楷体" panose="02010609060101010101" charset="-122"/>
                        </a:rPr>
                        <a:t>依据周边环境的上下文拓扑关系及各类别的绝对得分进行二次裁决修正</a:t>
                      </a:r>
                      <a:endParaRPr lang="zh-CN" altLang="en-US">
                        <a:solidFill>
                          <a:schemeClr val="tx1"/>
                        </a:solidFill>
                        <a:latin typeface="楷体" panose="02010609060101010101" charset="-122"/>
                        <a:ea typeface="楷体" panose="02010609060101010101" charset="-122"/>
                      </a:endParaRPr>
                    </a:p>
                  </a:txBody>
                  <a:tcPr>
                    <a:noFill/>
                  </a:tcPr>
                </a:tc>
              </a:tr>
            </a:tbl>
          </a:graphicData>
        </a:graphic>
      </p:graphicFrame>
      <p:sp>
        <p:nvSpPr>
          <p:cNvPr id="31" name="文本框 30"/>
          <p:cNvSpPr txBox="1"/>
          <p:nvPr/>
        </p:nvSpPr>
        <p:spPr>
          <a:xfrm>
            <a:off x="6261100" y="2385695"/>
            <a:ext cx="1795780" cy="398780"/>
          </a:xfrm>
          <a:prstGeom prst="rect">
            <a:avLst/>
          </a:prstGeom>
          <a:noFill/>
        </p:spPr>
        <p:txBody>
          <a:bodyPr wrap="square" rtlCol="0">
            <a:spAutoFit/>
          </a:bodyPr>
          <a:p>
            <a:r>
              <a:rPr lang="zh-CN" altLang="en-US" sz="2000" b="1"/>
              <a:t>三大融合策略</a:t>
            </a:r>
            <a:endParaRPr lang="zh-CN" altLang="en-US" sz="2000" b="1"/>
          </a:p>
        </p:txBody>
      </p:sp>
      <p:pic>
        <p:nvPicPr>
          <p:cNvPr id="32" name="图片 31"/>
          <p:cNvPicPr>
            <a:picLocks noChangeAspect="1"/>
          </p:cNvPicPr>
          <p:nvPr/>
        </p:nvPicPr>
        <p:blipFill>
          <a:blip r:embed="rId9"/>
          <a:stretch>
            <a:fillRect/>
          </a:stretch>
        </p:blipFill>
        <p:spPr>
          <a:xfrm>
            <a:off x="8678545" y="4049395"/>
            <a:ext cx="2476500" cy="381000"/>
          </a:xfrm>
          <a:prstGeom prst="rect">
            <a:avLst/>
          </a:prstGeom>
        </p:spPr>
      </p:pic>
      <p:grpSp>
        <p:nvGrpSpPr>
          <p:cNvPr id="35" name="组合 34"/>
          <p:cNvGrpSpPr/>
          <p:nvPr/>
        </p:nvGrpSpPr>
        <p:grpSpPr>
          <a:xfrm>
            <a:off x="1169035" y="5812155"/>
            <a:ext cx="9784715" cy="646430"/>
            <a:chOff x="2689" y="9329"/>
            <a:chExt cx="15409" cy="1018"/>
          </a:xfrm>
        </p:grpSpPr>
        <p:sp>
          <p:nvSpPr>
            <p:cNvPr id="33" name="矩形"/>
            <p:cNvSpPr/>
            <p:nvPr/>
          </p:nvSpPr>
          <p:spPr>
            <a:xfrm>
              <a:off x="2689" y="9329"/>
              <a:ext cx="15081" cy="1018"/>
            </a:xfrm>
            <a:prstGeom prst="roundRect">
              <a:avLst/>
            </a:prstGeom>
            <a:gradFill>
              <a:gsLst>
                <a:gs pos="0">
                  <a:schemeClr val="accent1">
                    <a:lumMod val="20000"/>
                    <a:lumOff val="80000"/>
                  </a:schemeClr>
                </a:gs>
                <a:gs pos="94000">
                  <a:schemeClr val="bg1"/>
                </a:gs>
              </a:gsLst>
              <a:lin ang="2700000" scaled="0"/>
            </a:gradFill>
            <a:ln>
              <a:noFill/>
            </a:ln>
            <a:effectLst>
              <a:outerShdw blurRad="279400" dist="241300" dir="2700000" sx="95000" sy="95000" algn="tl" rotWithShape="0">
                <a:schemeClr val="accent1">
                  <a:alpha val="2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2800" b="1">
                <a:solidFill>
                  <a:schemeClr val="bg1"/>
                </a:solidFill>
                <a:cs typeface="+mn-ea"/>
              </a:endParaRPr>
            </a:p>
          </p:txBody>
        </p:sp>
        <p:sp>
          <p:nvSpPr>
            <p:cNvPr id="34" name="文本框 33"/>
            <p:cNvSpPr txBox="1"/>
            <p:nvPr/>
          </p:nvSpPr>
          <p:spPr>
            <a:xfrm>
              <a:off x="4052" y="9446"/>
              <a:ext cx="14047" cy="725"/>
            </a:xfrm>
            <a:prstGeom prst="rect">
              <a:avLst/>
            </a:prstGeom>
            <a:noFill/>
          </p:spPr>
          <p:txBody>
            <a:bodyPr wrap="square" rtlCol="0">
              <a:spAutoFit/>
            </a:bodyPr>
            <a:p>
              <a:r>
                <a:rPr lang="zh-CN" altLang="en-US" sz="2400" b="1" kern="0" dirty="0">
                  <a:solidFill>
                    <a:schemeClr val="tx2">
                      <a:lumMod val="75000"/>
                      <a:lumOff val="25000"/>
                    </a:schemeClr>
                  </a:solidFill>
                  <a:latin typeface="微软雅黑" panose="020B0503020204020204" pitchFamily="34" charset="-122"/>
                  <a:ea typeface="微软雅黑" panose="020B0503020204020204" pitchFamily="34" charset="-122"/>
                  <a:cs typeface="Lantinghei SC Extralight" panose="02000000000000000000" charset="-122"/>
                </a:rPr>
                <a:t>消除噪声、平滑边界、裁决冲突——端到端工程级解译成果</a:t>
              </a:r>
              <a:endParaRPr lang="zh-CN" altLang="en-US" sz="2400" b="1" kern="0" dirty="0">
                <a:solidFill>
                  <a:schemeClr val="tx2">
                    <a:lumMod val="75000"/>
                    <a:lumOff val="25000"/>
                  </a:schemeClr>
                </a:solidFill>
                <a:latin typeface="微软雅黑" panose="020B0503020204020204" pitchFamily="34" charset="-122"/>
                <a:ea typeface="微软雅黑" panose="020B0503020204020204" pitchFamily="34" charset="-122"/>
                <a:cs typeface="Lantinghei SC Extralight" panose="02000000000000000000" charset="-122"/>
              </a:endParaRPr>
            </a:p>
          </p:txBody>
        </p:sp>
      </p:grpSp>
      <p:sp>
        <p:nvSpPr>
          <p:cNvPr id="36" name="文本框 35"/>
          <p:cNvSpPr txBox="1"/>
          <p:nvPr/>
        </p:nvSpPr>
        <p:spPr>
          <a:xfrm>
            <a:off x="3750310" y="1123950"/>
            <a:ext cx="6019165" cy="953135"/>
          </a:xfrm>
          <a:prstGeom prst="rect">
            <a:avLst/>
          </a:prstGeom>
          <a:noFill/>
        </p:spPr>
        <p:txBody>
          <a:bodyPr wrap="square" rtlCol="0">
            <a:spAutoFit/>
          </a:bodyPr>
          <a:p>
            <a:r>
              <a:rPr lang="zh-CN" altLang="en-US" sz="2000" b="1">
                <a:latin typeface="楷体" panose="02010609060101010101" charset="-122"/>
                <a:ea typeface="楷体" panose="02010609060101010101" charset="-122"/>
                <a:cs typeface="楷体" panose="02010609060101010101" charset="-122"/>
              </a:rPr>
              <a:t>核心挑战</a:t>
            </a:r>
            <a:endParaRPr lang="zh-CN" altLang="en-US" sz="2000" b="1">
              <a:latin typeface="楷体" panose="02010609060101010101" charset="-122"/>
              <a:ea typeface="楷体" panose="02010609060101010101" charset="-122"/>
              <a:cs typeface="楷体" panose="02010609060101010101" charset="-122"/>
            </a:endParaRPr>
          </a:p>
          <a:p>
            <a:r>
              <a:rPr lang="en-US" altLang="zh-CN">
                <a:latin typeface="楷体" panose="02010609060101010101" charset="-122"/>
                <a:ea typeface="楷体" panose="02010609060101010101" charset="-122"/>
                <a:cs typeface="楷体" panose="02010609060101010101" charset="-122"/>
              </a:rPr>
              <a:t>·</a:t>
            </a:r>
            <a:r>
              <a:rPr lang="zh-CN" altLang="en-US">
                <a:latin typeface="楷体" panose="02010609060101010101" charset="-122"/>
                <a:ea typeface="楷体" panose="02010609060101010101" charset="-122"/>
                <a:cs typeface="楷体" panose="02010609060101010101" charset="-122"/>
              </a:rPr>
              <a:t>多任务输出异质：分割（像素概率图）</a:t>
            </a:r>
            <a:r>
              <a:rPr lang="en-US" altLang="zh-CN">
                <a:latin typeface="楷体" panose="02010609060101010101" charset="-122"/>
                <a:ea typeface="楷体" panose="02010609060101010101" charset="-122"/>
                <a:cs typeface="楷体" panose="02010609060101010101" charset="-122"/>
              </a:rPr>
              <a:t> + </a:t>
            </a:r>
            <a:r>
              <a:rPr lang="zh-CN" altLang="en-US">
                <a:latin typeface="楷体" panose="02010609060101010101" charset="-122"/>
                <a:ea typeface="楷体" panose="02010609060101010101" charset="-122"/>
                <a:cs typeface="楷体" panose="02010609060101010101" charset="-122"/>
              </a:rPr>
              <a:t>检测（候选框）</a:t>
            </a:r>
            <a:endParaRPr lang="en-US" altLang="zh-CN">
              <a:latin typeface="楷体" panose="02010609060101010101" charset="-122"/>
              <a:ea typeface="楷体" panose="02010609060101010101" charset="-122"/>
              <a:cs typeface="楷体" panose="02010609060101010101" charset="-122"/>
            </a:endParaRPr>
          </a:p>
          <a:p>
            <a:r>
              <a:rPr lang="en-US" altLang="zh-CN">
                <a:latin typeface="楷体" panose="02010609060101010101" charset="-122"/>
                <a:ea typeface="楷体" panose="02010609060101010101" charset="-122"/>
                <a:cs typeface="楷体" panose="02010609060101010101" charset="-122"/>
              </a:rPr>
              <a:t>·</a:t>
            </a:r>
            <a:r>
              <a:rPr lang="zh-CN" altLang="en-US">
                <a:latin typeface="楷体" panose="02010609060101010101" charset="-122"/>
                <a:ea typeface="楷体" panose="02010609060101010101" charset="-122"/>
                <a:cs typeface="楷体" panose="02010609060101010101" charset="-122"/>
              </a:rPr>
              <a:t>局部噪声、空间不连续、任务间逻辑冲突</a:t>
            </a:r>
            <a:endParaRPr lang="zh-CN" altLang="en-US">
              <a:latin typeface="楷体" panose="02010609060101010101" charset="-122"/>
              <a:ea typeface="楷体" panose="02010609060101010101" charset="-122"/>
              <a:cs typeface="楷体" panose="02010609060101010101"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p:cNvPicPr>
            <a:picLocks noChangeAspect="1"/>
          </p:cNvPicPr>
          <p:nvPr/>
        </p:nvPicPr>
        <p:blipFill rotWithShape="1">
          <a:blip r:embed="rId1"/>
          <a:srcRect l="22337" t="1288"/>
          <a:stretch>
            <a:fillRect/>
          </a:stretch>
        </p:blipFill>
        <p:spPr>
          <a:xfrm flipH="1">
            <a:off x="-1" y="-1"/>
            <a:ext cx="12191999" cy="733425"/>
          </a:xfrm>
          <a:custGeom>
            <a:avLst/>
            <a:gdLst>
              <a:gd name="connsiteX0" fmla="*/ 8756888 w 8756888"/>
              <a:gd name="connsiteY0" fmla="*/ 0 h 6857999"/>
              <a:gd name="connsiteX1" fmla="*/ 0 w 8756888"/>
              <a:gd name="connsiteY1" fmla="*/ 0 h 6857999"/>
              <a:gd name="connsiteX2" fmla="*/ 0 w 8756888"/>
              <a:gd name="connsiteY2" fmla="*/ 6857999 h 6857999"/>
              <a:gd name="connsiteX3" fmla="*/ 8756888 w 8756888"/>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8756888" h="6857999">
                <a:moveTo>
                  <a:pt x="8756888" y="0"/>
                </a:moveTo>
                <a:lnTo>
                  <a:pt x="0" y="0"/>
                </a:lnTo>
                <a:lnTo>
                  <a:pt x="0" y="6857999"/>
                </a:lnTo>
                <a:lnTo>
                  <a:pt x="8756888" y="6857999"/>
                </a:lnTo>
                <a:close/>
              </a:path>
            </a:pathLst>
          </a:custGeom>
        </p:spPr>
      </p:pic>
      <p:sp>
        <p:nvSpPr>
          <p:cNvPr id="3" name="平行四边形 2"/>
          <p:cNvSpPr/>
          <p:nvPr/>
        </p:nvSpPr>
        <p:spPr>
          <a:xfrm flipH="1">
            <a:off x="4043389" y="117986"/>
            <a:ext cx="1319982" cy="501446"/>
          </a:xfrm>
          <a:prstGeom prst="parallelogram">
            <a:avLst/>
          </a:prstGeom>
          <a:no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4" name="平行四边形 3"/>
          <p:cNvSpPr/>
          <p:nvPr/>
        </p:nvSpPr>
        <p:spPr>
          <a:xfrm flipH="1">
            <a:off x="5396322" y="108154"/>
            <a:ext cx="1319982" cy="501446"/>
          </a:xfrm>
          <a:prstGeom prst="parallelogram">
            <a:avLst/>
          </a:prstGeom>
          <a:no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6" name="平行四边形 5"/>
          <p:cNvSpPr/>
          <p:nvPr/>
        </p:nvSpPr>
        <p:spPr>
          <a:xfrm flipH="1">
            <a:off x="8089952" y="108154"/>
            <a:ext cx="1319982" cy="501446"/>
          </a:xfrm>
          <a:prstGeom prst="parallelogram">
            <a:avLst/>
          </a:prstGeom>
          <a:no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7" name="平行四边形 6"/>
          <p:cNvSpPr/>
          <p:nvPr/>
        </p:nvSpPr>
        <p:spPr>
          <a:xfrm flipH="1">
            <a:off x="9442885" y="117986"/>
            <a:ext cx="1319982" cy="501446"/>
          </a:xfrm>
          <a:prstGeom prst="parallelogram">
            <a:avLst/>
          </a:prstGeom>
          <a:no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9" name="文本框 8"/>
          <p:cNvSpPr txBox="1"/>
          <p:nvPr/>
        </p:nvSpPr>
        <p:spPr>
          <a:xfrm>
            <a:off x="4184520" y="186216"/>
            <a:ext cx="1037720"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方案设计</a:t>
            </a:r>
            <a:endParaRPr lang="zh-CN" altLang="en-US" sz="1600" dirty="0">
              <a:solidFill>
                <a:schemeClr val="bg1"/>
              </a:solidFill>
              <a:latin typeface="思源黑体" panose="020B0800000000000000" pitchFamily="34" charset="-122"/>
              <a:ea typeface="思源黑体" panose="020B0800000000000000" pitchFamily="34" charset="-122"/>
            </a:endParaRPr>
          </a:p>
        </p:txBody>
      </p:sp>
      <p:sp>
        <p:nvSpPr>
          <p:cNvPr id="10" name="文本框 9"/>
          <p:cNvSpPr txBox="1"/>
          <p:nvPr/>
        </p:nvSpPr>
        <p:spPr>
          <a:xfrm>
            <a:off x="5533553" y="196641"/>
            <a:ext cx="1070927"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核心技术</a:t>
            </a:r>
            <a:endParaRPr lang="zh-CN" altLang="en-US" sz="1600" dirty="0">
              <a:solidFill>
                <a:schemeClr val="bg1"/>
              </a:solidFill>
              <a:latin typeface="思源黑体" panose="020B0800000000000000" pitchFamily="34" charset="-122"/>
              <a:ea typeface="思源黑体" panose="020B0800000000000000" pitchFamily="34" charset="-122"/>
            </a:endParaRPr>
          </a:p>
        </p:txBody>
      </p:sp>
      <p:sp>
        <p:nvSpPr>
          <p:cNvPr id="16" name="文本框 15"/>
          <p:cNvSpPr txBox="1"/>
          <p:nvPr/>
        </p:nvSpPr>
        <p:spPr>
          <a:xfrm>
            <a:off x="8230827" y="189600"/>
            <a:ext cx="1070927"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社会价值</a:t>
            </a:r>
            <a:endParaRPr lang="zh-CN" altLang="en-US" sz="1600" dirty="0">
              <a:solidFill>
                <a:schemeClr val="bg1"/>
              </a:solidFill>
              <a:latin typeface="思源黑体" panose="020B0800000000000000" pitchFamily="34" charset="-122"/>
              <a:ea typeface="思源黑体" panose="020B0800000000000000" pitchFamily="34" charset="-122"/>
            </a:endParaRPr>
          </a:p>
        </p:txBody>
      </p:sp>
      <p:sp>
        <p:nvSpPr>
          <p:cNvPr id="17" name="文本框 16"/>
          <p:cNvSpPr txBox="1"/>
          <p:nvPr/>
        </p:nvSpPr>
        <p:spPr>
          <a:xfrm>
            <a:off x="9605816" y="186216"/>
            <a:ext cx="1079229"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团队介绍</a:t>
            </a:r>
            <a:endParaRPr lang="zh-CN" altLang="en-US" sz="1600" dirty="0">
              <a:solidFill>
                <a:schemeClr val="bg1"/>
              </a:solidFill>
              <a:latin typeface="思源黑体" panose="020B0800000000000000" pitchFamily="34" charset="-122"/>
              <a:ea typeface="思源黑体" panose="020B0800000000000000" pitchFamily="34" charset="-122"/>
            </a:endParaRPr>
          </a:p>
        </p:txBody>
      </p:sp>
      <p:sp>
        <p:nvSpPr>
          <p:cNvPr id="18" name="平行四边形 17"/>
          <p:cNvSpPr/>
          <p:nvPr/>
        </p:nvSpPr>
        <p:spPr>
          <a:xfrm flipH="1">
            <a:off x="10795818" y="117986"/>
            <a:ext cx="1319982" cy="501446"/>
          </a:xfrm>
          <a:prstGeom prst="parallelogram">
            <a:avLst/>
          </a:prstGeom>
          <a:no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19" name="文本框 18"/>
          <p:cNvSpPr txBox="1"/>
          <p:nvPr/>
        </p:nvSpPr>
        <p:spPr>
          <a:xfrm>
            <a:off x="10953551" y="189600"/>
            <a:ext cx="1004516"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未来展望</a:t>
            </a:r>
            <a:endParaRPr lang="zh-CN" altLang="en-US" sz="1600" dirty="0">
              <a:solidFill>
                <a:schemeClr val="bg1"/>
              </a:solidFill>
              <a:latin typeface="思源黑体" panose="020B0800000000000000" pitchFamily="34" charset="-122"/>
              <a:ea typeface="思源黑体" panose="020B0800000000000000" pitchFamily="34" charset="-122"/>
            </a:endParaRPr>
          </a:p>
        </p:txBody>
      </p:sp>
      <p:grpSp>
        <p:nvGrpSpPr>
          <p:cNvPr id="23" name="组合 22"/>
          <p:cNvGrpSpPr/>
          <p:nvPr/>
        </p:nvGrpSpPr>
        <p:grpSpPr>
          <a:xfrm>
            <a:off x="198553" y="-113494"/>
            <a:ext cx="2214880" cy="732926"/>
            <a:chOff x="565150" y="86699"/>
            <a:chExt cx="2214880" cy="732926"/>
          </a:xfrm>
        </p:grpSpPr>
        <p:sp>
          <p:nvSpPr>
            <p:cNvPr id="24" name="文本框 23"/>
            <p:cNvSpPr txBox="1"/>
            <p:nvPr/>
          </p:nvSpPr>
          <p:spPr>
            <a:xfrm>
              <a:off x="565150" y="86699"/>
              <a:ext cx="2214880" cy="7067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0" normalizeH="0" baseline="0" noProof="0" dirty="0">
                  <a:ln>
                    <a:noFill/>
                  </a:ln>
                  <a:solidFill>
                    <a:schemeClr val="bg1"/>
                  </a:solidFill>
                  <a:effectLst/>
                  <a:uLnTx/>
                  <a:uFillTx/>
                  <a:latin typeface="隶书" panose="02010509060101010101" pitchFamily="49" charset="-122"/>
                  <a:ea typeface="隶书" panose="02010509060101010101" pitchFamily="49" charset="-122"/>
                  <a:cs typeface="+mn-cs"/>
                </a:rPr>
                <a:t>项目应用</a:t>
              </a:r>
              <a:endParaRPr kumimoji="0" lang="zh-CN" altLang="en-US" sz="4000" b="0" i="0" u="none" strike="noStrike" kern="1200" cap="none" spc="0" normalizeH="0" baseline="0" noProof="0" dirty="0">
                <a:ln>
                  <a:noFill/>
                </a:ln>
                <a:solidFill>
                  <a:schemeClr val="bg1"/>
                </a:solidFill>
                <a:effectLst/>
                <a:uLnTx/>
                <a:uFillTx/>
                <a:latin typeface="隶书" panose="02010509060101010101" pitchFamily="49" charset="-122"/>
                <a:ea typeface="隶书" panose="02010509060101010101" pitchFamily="49" charset="-122"/>
                <a:cs typeface="+mn-cs"/>
              </a:endParaRPr>
            </a:p>
          </p:txBody>
        </p:sp>
        <p:cxnSp>
          <p:nvCxnSpPr>
            <p:cNvPr id="25" name="直接连接符 24"/>
            <p:cNvCxnSpPr/>
            <p:nvPr/>
          </p:nvCxnSpPr>
          <p:spPr>
            <a:xfrm>
              <a:off x="678180" y="728663"/>
              <a:ext cx="202692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6" name="任意多边形: 形状 25"/>
            <p:cNvSpPr/>
            <p:nvPr/>
          </p:nvSpPr>
          <p:spPr>
            <a:xfrm>
              <a:off x="678179" y="773906"/>
              <a:ext cx="2026920" cy="45719"/>
            </a:xfrm>
            <a:custGeom>
              <a:avLst/>
              <a:gdLst>
                <a:gd name="connsiteX0" fmla="*/ 1978819 w 2026920"/>
                <a:gd name="connsiteY0" fmla="*/ 0 h 45719"/>
                <a:gd name="connsiteX1" fmla="*/ 2026920 w 2026920"/>
                <a:gd name="connsiteY1" fmla="*/ 0 h 45719"/>
                <a:gd name="connsiteX2" fmla="*/ 2026920 w 2026920"/>
                <a:gd name="connsiteY2" fmla="*/ 45719 h 45719"/>
                <a:gd name="connsiteX3" fmla="*/ 1978819 w 2026920"/>
                <a:gd name="connsiteY3" fmla="*/ 45719 h 45719"/>
                <a:gd name="connsiteX4" fmla="*/ 1887560 w 2026920"/>
                <a:gd name="connsiteY4" fmla="*/ 0 h 45719"/>
                <a:gd name="connsiteX5" fmla="*/ 1935661 w 2026920"/>
                <a:gd name="connsiteY5" fmla="*/ 0 h 45719"/>
                <a:gd name="connsiteX6" fmla="*/ 1935661 w 2026920"/>
                <a:gd name="connsiteY6" fmla="*/ 45719 h 45719"/>
                <a:gd name="connsiteX7" fmla="*/ 1887560 w 2026920"/>
                <a:gd name="connsiteY7" fmla="*/ 45719 h 45719"/>
                <a:gd name="connsiteX8" fmla="*/ 1796302 w 2026920"/>
                <a:gd name="connsiteY8" fmla="*/ 0 h 45719"/>
                <a:gd name="connsiteX9" fmla="*/ 1844403 w 2026920"/>
                <a:gd name="connsiteY9" fmla="*/ 0 h 45719"/>
                <a:gd name="connsiteX10" fmla="*/ 1844403 w 2026920"/>
                <a:gd name="connsiteY10" fmla="*/ 45719 h 45719"/>
                <a:gd name="connsiteX11" fmla="*/ 1796302 w 2026920"/>
                <a:gd name="connsiteY11" fmla="*/ 45719 h 45719"/>
                <a:gd name="connsiteX12" fmla="*/ 1705043 w 2026920"/>
                <a:gd name="connsiteY12" fmla="*/ 0 h 45719"/>
                <a:gd name="connsiteX13" fmla="*/ 1753144 w 2026920"/>
                <a:gd name="connsiteY13" fmla="*/ 0 h 45719"/>
                <a:gd name="connsiteX14" fmla="*/ 1753144 w 2026920"/>
                <a:gd name="connsiteY14" fmla="*/ 45719 h 45719"/>
                <a:gd name="connsiteX15" fmla="*/ 1705043 w 2026920"/>
                <a:gd name="connsiteY15" fmla="*/ 45719 h 45719"/>
                <a:gd name="connsiteX16" fmla="*/ 1613785 w 2026920"/>
                <a:gd name="connsiteY16" fmla="*/ 0 h 45719"/>
                <a:gd name="connsiteX17" fmla="*/ 1661886 w 2026920"/>
                <a:gd name="connsiteY17" fmla="*/ 0 h 45719"/>
                <a:gd name="connsiteX18" fmla="*/ 1661886 w 2026920"/>
                <a:gd name="connsiteY18" fmla="*/ 45719 h 45719"/>
                <a:gd name="connsiteX19" fmla="*/ 1613785 w 2026920"/>
                <a:gd name="connsiteY19" fmla="*/ 45719 h 45719"/>
                <a:gd name="connsiteX20" fmla="*/ 1522526 w 2026920"/>
                <a:gd name="connsiteY20" fmla="*/ 0 h 45719"/>
                <a:gd name="connsiteX21" fmla="*/ 1570627 w 2026920"/>
                <a:gd name="connsiteY21" fmla="*/ 0 h 45719"/>
                <a:gd name="connsiteX22" fmla="*/ 1570627 w 2026920"/>
                <a:gd name="connsiteY22" fmla="*/ 45719 h 45719"/>
                <a:gd name="connsiteX23" fmla="*/ 1522526 w 2026920"/>
                <a:gd name="connsiteY23" fmla="*/ 45719 h 45719"/>
                <a:gd name="connsiteX24" fmla="*/ 1431267 w 2026920"/>
                <a:gd name="connsiteY24" fmla="*/ 0 h 45719"/>
                <a:gd name="connsiteX25" fmla="*/ 1479368 w 2026920"/>
                <a:gd name="connsiteY25" fmla="*/ 0 h 45719"/>
                <a:gd name="connsiteX26" fmla="*/ 1479368 w 2026920"/>
                <a:gd name="connsiteY26" fmla="*/ 45719 h 45719"/>
                <a:gd name="connsiteX27" fmla="*/ 1431267 w 2026920"/>
                <a:gd name="connsiteY27" fmla="*/ 45719 h 45719"/>
                <a:gd name="connsiteX28" fmla="*/ 1340009 w 2026920"/>
                <a:gd name="connsiteY28" fmla="*/ 0 h 45719"/>
                <a:gd name="connsiteX29" fmla="*/ 1388110 w 2026920"/>
                <a:gd name="connsiteY29" fmla="*/ 0 h 45719"/>
                <a:gd name="connsiteX30" fmla="*/ 1388110 w 2026920"/>
                <a:gd name="connsiteY30" fmla="*/ 45719 h 45719"/>
                <a:gd name="connsiteX31" fmla="*/ 1340009 w 2026920"/>
                <a:gd name="connsiteY31" fmla="*/ 45719 h 45719"/>
                <a:gd name="connsiteX32" fmla="*/ 1248750 w 2026920"/>
                <a:gd name="connsiteY32" fmla="*/ 0 h 45719"/>
                <a:gd name="connsiteX33" fmla="*/ 1296851 w 2026920"/>
                <a:gd name="connsiteY33" fmla="*/ 0 h 45719"/>
                <a:gd name="connsiteX34" fmla="*/ 1296851 w 2026920"/>
                <a:gd name="connsiteY34" fmla="*/ 45719 h 45719"/>
                <a:gd name="connsiteX35" fmla="*/ 1248750 w 2026920"/>
                <a:gd name="connsiteY35" fmla="*/ 45719 h 45719"/>
                <a:gd name="connsiteX36" fmla="*/ 1157491 w 2026920"/>
                <a:gd name="connsiteY36" fmla="*/ 0 h 45719"/>
                <a:gd name="connsiteX37" fmla="*/ 1205592 w 2026920"/>
                <a:gd name="connsiteY37" fmla="*/ 0 h 45719"/>
                <a:gd name="connsiteX38" fmla="*/ 1205592 w 2026920"/>
                <a:gd name="connsiteY38" fmla="*/ 45719 h 45719"/>
                <a:gd name="connsiteX39" fmla="*/ 1157491 w 2026920"/>
                <a:gd name="connsiteY39" fmla="*/ 45719 h 45719"/>
                <a:gd name="connsiteX40" fmla="*/ 1066233 w 2026920"/>
                <a:gd name="connsiteY40" fmla="*/ 0 h 45719"/>
                <a:gd name="connsiteX41" fmla="*/ 1114334 w 2026920"/>
                <a:gd name="connsiteY41" fmla="*/ 0 h 45719"/>
                <a:gd name="connsiteX42" fmla="*/ 1114334 w 2026920"/>
                <a:gd name="connsiteY42" fmla="*/ 45719 h 45719"/>
                <a:gd name="connsiteX43" fmla="*/ 1066233 w 2026920"/>
                <a:gd name="connsiteY43" fmla="*/ 45719 h 45719"/>
                <a:gd name="connsiteX44" fmla="*/ 974974 w 2026920"/>
                <a:gd name="connsiteY44" fmla="*/ 0 h 45719"/>
                <a:gd name="connsiteX45" fmla="*/ 1023075 w 2026920"/>
                <a:gd name="connsiteY45" fmla="*/ 0 h 45719"/>
                <a:gd name="connsiteX46" fmla="*/ 1023075 w 2026920"/>
                <a:gd name="connsiteY46" fmla="*/ 45719 h 45719"/>
                <a:gd name="connsiteX47" fmla="*/ 974974 w 2026920"/>
                <a:gd name="connsiteY47" fmla="*/ 45719 h 45719"/>
                <a:gd name="connsiteX48" fmla="*/ 883716 w 2026920"/>
                <a:gd name="connsiteY48" fmla="*/ 0 h 45719"/>
                <a:gd name="connsiteX49" fmla="*/ 931817 w 2026920"/>
                <a:gd name="connsiteY49" fmla="*/ 0 h 45719"/>
                <a:gd name="connsiteX50" fmla="*/ 931817 w 2026920"/>
                <a:gd name="connsiteY50" fmla="*/ 45719 h 45719"/>
                <a:gd name="connsiteX51" fmla="*/ 883716 w 2026920"/>
                <a:gd name="connsiteY51" fmla="*/ 45719 h 45719"/>
                <a:gd name="connsiteX52" fmla="*/ 792457 w 2026920"/>
                <a:gd name="connsiteY52" fmla="*/ 0 h 45719"/>
                <a:gd name="connsiteX53" fmla="*/ 840558 w 2026920"/>
                <a:gd name="connsiteY53" fmla="*/ 0 h 45719"/>
                <a:gd name="connsiteX54" fmla="*/ 840558 w 2026920"/>
                <a:gd name="connsiteY54" fmla="*/ 45719 h 45719"/>
                <a:gd name="connsiteX55" fmla="*/ 792457 w 2026920"/>
                <a:gd name="connsiteY55" fmla="*/ 45719 h 45719"/>
                <a:gd name="connsiteX56" fmla="*/ 701198 w 2026920"/>
                <a:gd name="connsiteY56" fmla="*/ 0 h 45719"/>
                <a:gd name="connsiteX57" fmla="*/ 749299 w 2026920"/>
                <a:gd name="connsiteY57" fmla="*/ 0 h 45719"/>
                <a:gd name="connsiteX58" fmla="*/ 749299 w 2026920"/>
                <a:gd name="connsiteY58" fmla="*/ 45719 h 45719"/>
                <a:gd name="connsiteX59" fmla="*/ 701198 w 2026920"/>
                <a:gd name="connsiteY59" fmla="*/ 45719 h 45719"/>
                <a:gd name="connsiteX60" fmla="*/ 609940 w 2026920"/>
                <a:gd name="connsiteY60" fmla="*/ 0 h 45719"/>
                <a:gd name="connsiteX61" fmla="*/ 658041 w 2026920"/>
                <a:gd name="connsiteY61" fmla="*/ 0 h 45719"/>
                <a:gd name="connsiteX62" fmla="*/ 658041 w 2026920"/>
                <a:gd name="connsiteY62" fmla="*/ 45719 h 45719"/>
                <a:gd name="connsiteX63" fmla="*/ 609940 w 2026920"/>
                <a:gd name="connsiteY63" fmla="*/ 45719 h 45719"/>
                <a:gd name="connsiteX64" fmla="*/ 518681 w 2026920"/>
                <a:gd name="connsiteY64" fmla="*/ 0 h 45719"/>
                <a:gd name="connsiteX65" fmla="*/ 566782 w 2026920"/>
                <a:gd name="connsiteY65" fmla="*/ 0 h 45719"/>
                <a:gd name="connsiteX66" fmla="*/ 566782 w 2026920"/>
                <a:gd name="connsiteY66" fmla="*/ 45719 h 45719"/>
                <a:gd name="connsiteX67" fmla="*/ 518681 w 2026920"/>
                <a:gd name="connsiteY67" fmla="*/ 45719 h 45719"/>
                <a:gd name="connsiteX68" fmla="*/ 427422 w 2026920"/>
                <a:gd name="connsiteY68" fmla="*/ 0 h 45719"/>
                <a:gd name="connsiteX69" fmla="*/ 475523 w 2026920"/>
                <a:gd name="connsiteY69" fmla="*/ 0 h 45719"/>
                <a:gd name="connsiteX70" fmla="*/ 475523 w 2026920"/>
                <a:gd name="connsiteY70" fmla="*/ 45719 h 45719"/>
                <a:gd name="connsiteX71" fmla="*/ 427422 w 2026920"/>
                <a:gd name="connsiteY71" fmla="*/ 45719 h 45719"/>
                <a:gd name="connsiteX72" fmla="*/ 336164 w 2026920"/>
                <a:gd name="connsiteY72" fmla="*/ 0 h 45719"/>
                <a:gd name="connsiteX73" fmla="*/ 384265 w 2026920"/>
                <a:gd name="connsiteY73" fmla="*/ 0 h 45719"/>
                <a:gd name="connsiteX74" fmla="*/ 384265 w 2026920"/>
                <a:gd name="connsiteY74" fmla="*/ 45719 h 45719"/>
                <a:gd name="connsiteX75" fmla="*/ 336164 w 2026920"/>
                <a:gd name="connsiteY75" fmla="*/ 45719 h 45719"/>
                <a:gd name="connsiteX76" fmla="*/ 244905 w 2026920"/>
                <a:gd name="connsiteY76" fmla="*/ 0 h 45719"/>
                <a:gd name="connsiteX77" fmla="*/ 293006 w 2026920"/>
                <a:gd name="connsiteY77" fmla="*/ 0 h 45719"/>
                <a:gd name="connsiteX78" fmla="*/ 293006 w 2026920"/>
                <a:gd name="connsiteY78" fmla="*/ 45719 h 45719"/>
                <a:gd name="connsiteX79" fmla="*/ 244905 w 2026920"/>
                <a:gd name="connsiteY79" fmla="*/ 45719 h 45719"/>
                <a:gd name="connsiteX80" fmla="*/ 153647 w 2026920"/>
                <a:gd name="connsiteY80" fmla="*/ 0 h 45719"/>
                <a:gd name="connsiteX81" fmla="*/ 201748 w 2026920"/>
                <a:gd name="connsiteY81" fmla="*/ 0 h 45719"/>
                <a:gd name="connsiteX82" fmla="*/ 201748 w 2026920"/>
                <a:gd name="connsiteY82" fmla="*/ 45719 h 45719"/>
                <a:gd name="connsiteX83" fmla="*/ 153647 w 2026920"/>
                <a:gd name="connsiteY83" fmla="*/ 45719 h 45719"/>
                <a:gd name="connsiteX84" fmla="*/ 62388 w 2026920"/>
                <a:gd name="connsiteY84" fmla="*/ 0 h 45719"/>
                <a:gd name="connsiteX85" fmla="*/ 110489 w 2026920"/>
                <a:gd name="connsiteY85" fmla="*/ 0 h 45719"/>
                <a:gd name="connsiteX86" fmla="*/ 110489 w 2026920"/>
                <a:gd name="connsiteY86" fmla="*/ 45719 h 45719"/>
                <a:gd name="connsiteX87" fmla="*/ 62388 w 2026920"/>
                <a:gd name="connsiteY87" fmla="*/ 45719 h 45719"/>
                <a:gd name="connsiteX88" fmla="*/ 0 w 2026920"/>
                <a:gd name="connsiteY88" fmla="*/ 0 h 45719"/>
                <a:gd name="connsiteX89" fmla="*/ 48101 w 2026920"/>
                <a:gd name="connsiteY89" fmla="*/ 0 h 45719"/>
                <a:gd name="connsiteX90" fmla="*/ 48101 w 2026920"/>
                <a:gd name="connsiteY90" fmla="*/ 45719 h 45719"/>
                <a:gd name="connsiteX91" fmla="*/ 0 w 2026920"/>
                <a:gd name="connsiteY91"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2026920" h="45719">
                  <a:moveTo>
                    <a:pt x="1978819" y="0"/>
                  </a:moveTo>
                  <a:lnTo>
                    <a:pt x="2026920" y="0"/>
                  </a:lnTo>
                  <a:lnTo>
                    <a:pt x="2026920" y="45719"/>
                  </a:lnTo>
                  <a:lnTo>
                    <a:pt x="1978819" y="45719"/>
                  </a:lnTo>
                  <a:close/>
                  <a:moveTo>
                    <a:pt x="1887560" y="0"/>
                  </a:moveTo>
                  <a:lnTo>
                    <a:pt x="1935661" y="0"/>
                  </a:lnTo>
                  <a:lnTo>
                    <a:pt x="1935661" y="45719"/>
                  </a:lnTo>
                  <a:lnTo>
                    <a:pt x="1887560" y="45719"/>
                  </a:lnTo>
                  <a:close/>
                  <a:moveTo>
                    <a:pt x="1796302" y="0"/>
                  </a:moveTo>
                  <a:lnTo>
                    <a:pt x="1844403" y="0"/>
                  </a:lnTo>
                  <a:lnTo>
                    <a:pt x="1844403" y="45719"/>
                  </a:lnTo>
                  <a:lnTo>
                    <a:pt x="1796302" y="45719"/>
                  </a:lnTo>
                  <a:close/>
                  <a:moveTo>
                    <a:pt x="1705043" y="0"/>
                  </a:moveTo>
                  <a:lnTo>
                    <a:pt x="1753144" y="0"/>
                  </a:lnTo>
                  <a:lnTo>
                    <a:pt x="1753144" y="45719"/>
                  </a:lnTo>
                  <a:lnTo>
                    <a:pt x="1705043" y="45719"/>
                  </a:lnTo>
                  <a:close/>
                  <a:moveTo>
                    <a:pt x="1613785" y="0"/>
                  </a:moveTo>
                  <a:lnTo>
                    <a:pt x="1661886" y="0"/>
                  </a:lnTo>
                  <a:lnTo>
                    <a:pt x="1661886" y="45719"/>
                  </a:lnTo>
                  <a:lnTo>
                    <a:pt x="1613785" y="45719"/>
                  </a:lnTo>
                  <a:close/>
                  <a:moveTo>
                    <a:pt x="1522526" y="0"/>
                  </a:moveTo>
                  <a:lnTo>
                    <a:pt x="1570627" y="0"/>
                  </a:lnTo>
                  <a:lnTo>
                    <a:pt x="1570627" y="45719"/>
                  </a:lnTo>
                  <a:lnTo>
                    <a:pt x="1522526" y="45719"/>
                  </a:lnTo>
                  <a:close/>
                  <a:moveTo>
                    <a:pt x="1431267" y="0"/>
                  </a:moveTo>
                  <a:lnTo>
                    <a:pt x="1479368" y="0"/>
                  </a:lnTo>
                  <a:lnTo>
                    <a:pt x="1479368" y="45719"/>
                  </a:lnTo>
                  <a:lnTo>
                    <a:pt x="1431267" y="45719"/>
                  </a:lnTo>
                  <a:close/>
                  <a:moveTo>
                    <a:pt x="1340009" y="0"/>
                  </a:moveTo>
                  <a:lnTo>
                    <a:pt x="1388110" y="0"/>
                  </a:lnTo>
                  <a:lnTo>
                    <a:pt x="1388110" y="45719"/>
                  </a:lnTo>
                  <a:lnTo>
                    <a:pt x="1340009" y="45719"/>
                  </a:lnTo>
                  <a:close/>
                  <a:moveTo>
                    <a:pt x="1248750" y="0"/>
                  </a:moveTo>
                  <a:lnTo>
                    <a:pt x="1296851" y="0"/>
                  </a:lnTo>
                  <a:lnTo>
                    <a:pt x="1296851" y="45719"/>
                  </a:lnTo>
                  <a:lnTo>
                    <a:pt x="1248750" y="45719"/>
                  </a:lnTo>
                  <a:close/>
                  <a:moveTo>
                    <a:pt x="1157491" y="0"/>
                  </a:moveTo>
                  <a:lnTo>
                    <a:pt x="1205592" y="0"/>
                  </a:lnTo>
                  <a:lnTo>
                    <a:pt x="1205592" y="45719"/>
                  </a:lnTo>
                  <a:lnTo>
                    <a:pt x="1157491" y="45719"/>
                  </a:lnTo>
                  <a:close/>
                  <a:moveTo>
                    <a:pt x="1066233" y="0"/>
                  </a:moveTo>
                  <a:lnTo>
                    <a:pt x="1114334" y="0"/>
                  </a:lnTo>
                  <a:lnTo>
                    <a:pt x="1114334" y="45719"/>
                  </a:lnTo>
                  <a:lnTo>
                    <a:pt x="1066233" y="45719"/>
                  </a:lnTo>
                  <a:close/>
                  <a:moveTo>
                    <a:pt x="974974" y="0"/>
                  </a:moveTo>
                  <a:lnTo>
                    <a:pt x="1023075" y="0"/>
                  </a:lnTo>
                  <a:lnTo>
                    <a:pt x="1023075" y="45719"/>
                  </a:lnTo>
                  <a:lnTo>
                    <a:pt x="974974" y="45719"/>
                  </a:lnTo>
                  <a:close/>
                  <a:moveTo>
                    <a:pt x="883716" y="0"/>
                  </a:moveTo>
                  <a:lnTo>
                    <a:pt x="931817" y="0"/>
                  </a:lnTo>
                  <a:lnTo>
                    <a:pt x="931817" y="45719"/>
                  </a:lnTo>
                  <a:lnTo>
                    <a:pt x="883716" y="45719"/>
                  </a:lnTo>
                  <a:close/>
                  <a:moveTo>
                    <a:pt x="792457" y="0"/>
                  </a:moveTo>
                  <a:lnTo>
                    <a:pt x="840558" y="0"/>
                  </a:lnTo>
                  <a:lnTo>
                    <a:pt x="840558" y="45719"/>
                  </a:lnTo>
                  <a:lnTo>
                    <a:pt x="792457" y="45719"/>
                  </a:lnTo>
                  <a:close/>
                  <a:moveTo>
                    <a:pt x="701198" y="0"/>
                  </a:moveTo>
                  <a:lnTo>
                    <a:pt x="749299" y="0"/>
                  </a:lnTo>
                  <a:lnTo>
                    <a:pt x="749299" y="45719"/>
                  </a:lnTo>
                  <a:lnTo>
                    <a:pt x="701198" y="45719"/>
                  </a:lnTo>
                  <a:close/>
                  <a:moveTo>
                    <a:pt x="609940" y="0"/>
                  </a:moveTo>
                  <a:lnTo>
                    <a:pt x="658041" y="0"/>
                  </a:lnTo>
                  <a:lnTo>
                    <a:pt x="658041" y="45719"/>
                  </a:lnTo>
                  <a:lnTo>
                    <a:pt x="609940" y="45719"/>
                  </a:lnTo>
                  <a:close/>
                  <a:moveTo>
                    <a:pt x="518681" y="0"/>
                  </a:moveTo>
                  <a:lnTo>
                    <a:pt x="566782" y="0"/>
                  </a:lnTo>
                  <a:lnTo>
                    <a:pt x="566782" y="45719"/>
                  </a:lnTo>
                  <a:lnTo>
                    <a:pt x="518681" y="45719"/>
                  </a:lnTo>
                  <a:close/>
                  <a:moveTo>
                    <a:pt x="427422" y="0"/>
                  </a:moveTo>
                  <a:lnTo>
                    <a:pt x="475523" y="0"/>
                  </a:lnTo>
                  <a:lnTo>
                    <a:pt x="475523" y="45719"/>
                  </a:lnTo>
                  <a:lnTo>
                    <a:pt x="427422" y="45719"/>
                  </a:lnTo>
                  <a:close/>
                  <a:moveTo>
                    <a:pt x="336164" y="0"/>
                  </a:moveTo>
                  <a:lnTo>
                    <a:pt x="384265" y="0"/>
                  </a:lnTo>
                  <a:lnTo>
                    <a:pt x="384265" y="45719"/>
                  </a:lnTo>
                  <a:lnTo>
                    <a:pt x="336164" y="45719"/>
                  </a:lnTo>
                  <a:close/>
                  <a:moveTo>
                    <a:pt x="244905" y="0"/>
                  </a:moveTo>
                  <a:lnTo>
                    <a:pt x="293006" y="0"/>
                  </a:lnTo>
                  <a:lnTo>
                    <a:pt x="293006" y="45719"/>
                  </a:lnTo>
                  <a:lnTo>
                    <a:pt x="244905" y="45719"/>
                  </a:lnTo>
                  <a:close/>
                  <a:moveTo>
                    <a:pt x="153647" y="0"/>
                  </a:moveTo>
                  <a:lnTo>
                    <a:pt x="201748" y="0"/>
                  </a:lnTo>
                  <a:lnTo>
                    <a:pt x="201748" y="45719"/>
                  </a:lnTo>
                  <a:lnTo>
                    <a:pt x="153647" y="45719"/>
                  </a:lnTo>
                  <a:close/>
                  <a:moveTo>
                    <a:pt x="62388" y="0"/>
                  </a:moveTo>
                  <a:lnTo>
                    <a:pt x="110489" y="0"/>
                  </a:lnTo>
                  <a:lnTo>
                    <a:pt x="110489" y="45719"/>
                  </a:lnTo>
                  <a:lnTo>
                    <a:pt x="62388" y="45719"/>
                  </a:lnTo>
                  <a:close/>
                  <a:moveTo>
                    <a:pt x="0" y="0"/>
                  </a:moveTo>
                  <a:lnTo>
                    <a:pt x="48101" y="0"/>
                  </a:lnTo>
                  <a:lnTo>
                    <a:pt x="48101" y="45719"/>
                  </a:lnTo>
                  <a:lnTo>
                    <a:pt x="0" y="45719"/>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11" name="平行四边形 10"/>
          <p:cNvSpPr/>
          <p:nvPr/>
        </p:nvSpPr>
        <p:spPr>
          <a:xfrm flipH="1">
            <a:off x="6769696" y="98629"/>
            <a:ext cx="1319982" cy="501446"/>
          </a:xfrm>
          <a:prstGeom prst="parallelogram">
            <a:avLst/>
          </a:prstGeom>
          <a:solidFill>
            <a:schemeClr val="accent4"/>
          </a:solid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12" name="平行四边形 11"/>
          <p:cNvSpPr/>
          <p:nvPr/>
        </p:nvSpPr>
        <p:spPr>
          <a:xfrm flipH="1">
            <a:off x="2723224" y="118621"/>
            <a:ext cx="1319982" cy="501446"/>
          </a:xfrm>
          <a:prstGeom prst="parallelogram">
            <a:avLst/>
          </a:prstGeom>
          <a:no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8" name="文本框 7"/>
          <p:cNvSpPr txBox="1"/>
          <p:nvPr/>
        </p:nvSpPr>
        <p:spPr>
          <a:xfrm>
            <a:off x="2852084" y="196641"/>
            <a:ext cx="1120740"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项目背景</a:t>
            </a:r>
            <a:endParaRPr lang="zh-CN" altLang="en-US" sz="1600" dirty="0">
              <a:solidFill>
                <a:schemeClr val="bg1"/>
              </a:solidFill>
              <a:latin typeface="思源黑体" panose="020B0800000000000000" pitchFamily="34" charset="-122"/>
              <a:ea typeface="思源黑体" panose="020B0800000000000000" pitchFamily="34" charset="-122"/>
            </a:endParaRPr>
          </a:p>
        </p:txBody>
      </p:sp>
      <p:sp>
        <p:nvSpPr>
          <p:cNvPr id="15" name="文本框 14"/>
          <p:cNvSpPr txBox="1"/>
          <p:nvPr/>
        </p:nvSpPr>
        <p:spPr>
          <a:xfrm>
            <a:off x="6873782" y="181932"/>
            <a:ext cx="1070927"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项目应用</a:t>
            </a:r>
            <a:endParaRPr lang="zh-CN" altLang="en-US" sz="1600" dirty="0">
              <a:solidFill>
                <a:schemeClr val="bg1"/>
              </a:solidFill>
              <a:latin typeface="思源黑体" panose="020B0800000000000000" pitchFamily="34" charset="-122"/>
              <a:ea typeface="思源黑体" panose="020B0800000000000000" pitchFamily="34" charset="-122"/>
            </a:endParaRPr>
          </a:p>
        </p:txBody>
      </p:sp>
      <p:grpSp>
        <p:nvGrpSpPr>
          <p:cNvPr id="2" name="组合 1"/>
          <p:cNvGrpSpPr/>
          <p:nvPr/>
        </p:nvGrpSpPr>
        <p:grpSpPr>
          <a:xfrm>
            <a:off x="986155" y="5996940"/>
            <a:ext cx="10096500" cy="502285"/>
            <a:chOff x="1315" y="9444"/>
            <a:chExt cx="15900" cy="791"/>
          </a:xfrm>
        </p:grpSpPr>
        <p:sp>
          <p:nvSpPr>
            <p:cNvPr id="185" name="矩形 184"/>
            <p:cNvSpPr/>
            <p:nvPr/>
          </p:nvSpPr>
          <p:spPr>
            <a:xfrm>
              <a:off x="1315" y="9444"/>
              <a:ext cx="15900" cy="791"/>
            </a:xfrm>
            <a:prstGeom prst="rect">
              <a:avLst/>
            </a:prstGeom>
            <a:solidFill>
              <a:schemeClr val="tx2">
                <a:lumMod val="25000"/>
                <a:lumOff val="75000"/>
              </a:schemeClr>
            </a:solidFill>
            <a:ln>
              <a:noFill/>
            </a:ln>
            <a:effectLst>
              <a:glow rad="63500">
                <a:schemeClr val="bg2">
                  <a:alpha val="40000"/>
                </a:schemeClr>
              </a:glow>
              <a:reflection blurRad="6350" stA="50000" endA="300" endPos="55000" dir="5400000" sy="-100000" algn="bl" rotWithShape="0"/>
              <a:softEdge rad="3175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6" name="文本框 185"/>
            <p:cNvSpPr txBox="1"/>
            <p:nvPr/>
          </p:nvSpPr>
          <p:spPr>
            <a:xfrm>
              <a:off x="1519" y="9553"/>
              <a:ext cx="15696" cy="628"/>
            </a:xfrm>
            <a:prstGeom prst="rect">
              <a:avLst/>
            </a:prstGeom>
            <a:noFill/>
          </p:spPr>
          <p:txBody>
            <a:bodyPr wrap="square" rtlCol="0">
              <a:spAutoFit/>
            </a:bodyPr>
            <a:p>
              <a:r>
                <a:rPr lang="zh-CN" altLang="en-US" sz="2000" b="1">
                  <a:solidFill>
                    <a:schemeClr val="accent1">
                      <a:lumMod val="75000"/>
                    </a:schemeClr>
                  </a:solidFill>
                </a:rPr>
                <a:t>实验环境</a:t>
              </a:r>
              <a:r>
                <a:rPr lang="zh-CN" altLang="en-US" b="1">
                  <a:solidFill>
                    <a:schemeClr val="accent1">
                      <a:lumMod val="75000"/>
                    </a:schemeClr>
                  </a:solidFill>
                </a:rPr>
                <a:t>：为高维遥感特征处理与复杂的群智能算法寻优提供充足的</a:t>
              </a:r>
              <a:r>
                <a:rPr lang="zh-CN" altLang="en-US" sz="2000" b="1" dirty="0">
                  <a:solidFill>
                    <a:schemeClr val="accent2">
                      <a:lumMod val="75000"/>
                    </a:schemeClr>
                  </a:solidFill>
                  <a:latin typeface="+mn-ea"/>
                  <a:cs typeface="+mn-ea"/>
                </a:rPr>
                <a:t>物理算力</a:t>
              </a:r>
              <a:r>
                <a:rPr lang="zh-CN" altLang="en-US" b="1">
                  <a:solidFill>
                    <a:schemeClr val="accent1">
                      <a:lumMod val="75000"/>
                    </a:schemeClr>
                  </a:solidFill>
                </a:rPr>
                <a:t>与</a:t>
              </a:r>
              <a:r>
                <a:rPr lang="zh-CN" altLang="en-US" sz="2000" b="1" dirty="0">
                  <a:solidFill>
                    <a:schemeClr val="accent2">
                      <a:lumMod val="75000"/>
                    </a:schemeClr>
                  </a:solidFill>
                  <a:latin typeface="+mn-ea"/>
                  <a:cs typeface="+mn-ea"/>
                </a:rPr>
                <a:t>软件生态保障</a:t>
              </a:r>
              <a:endParaRPr lang="zh-CN" altLang="en-US" b="1">
                <a:solidFill>
                  <a:schemeClr val="accent1">
                    <a:lumMod val="75000"/>
                  </a:schemeClr>
                </a:solidFill>
              </a:endParaRPr>
            </a:p>
          </p:txBody>
        </p:sp>
      </p:grpSp>
      <p:sp>
        <p:nvSpPr>
          <p:cNvPr id="184" name="文本框 183"/>
          <p:cNvSpPr txBox="1"/>
          <p:nvPr/>
        </p:nvSpPr>
        <p:spPr>
          <a:xfrm>
            <a:off x="198755" y="833755"/>
            <a:ext cx="3985260" cy="583565"/>
          </a:xfrm>
          <a:prstGeom prst="rect">
            <a:avLst/>
          </a:prstGeom>
          <a:noFill/>
        </p:spPr>
        <p:txBody>
          <a:bodyPr wrap="square" rtlCol="0" anchor="t">
            <a:spAutoFit/>
          </a:bodyPr>
          <a:p>
            <a:pPr algn="l"/>
            <a:r>
              <a:rPr lang="zh-CN" altLang="en-US" sz="3200" b="1" dirty="0">
                <a:latin typeface="华文隶书" panose="02010800040101010101" charset="-122"/>
                <a:ea typeface="华文隶书" panose="02010800040101010101" charset="-122"/>
                <a:sym typeface="+mn-ea"/>
              </a:rPr>
              <a:t>测试验证方案</a:t>
            </a:r>
            <a:endParaRPr lang="zh-CN" altLang="en-US" sz="3200" b="1" dirty="0">
              <a:latin typeface="华文隶书" panose="02010800040101010101" charset="-122"/>
              <a:ea typeface="华文隶书" panose="02010800040101010101" charset="-122"/>
              <a:sym typeface="+mn-ea"/>
            </a:endParaRPr>
          </a:p>
        </p:txBody>
      </p:sp>
      <p:graphicFrame>
        <p:nvGraphicFramePr>
          <p:cNvPr id="30" name="表格 29"/>
          <p:cNvGraphicFramePr/>
          <p:nvPr>
            <p:custDataLst>
              <p:tags r:id="rId2"/>
            </p:custDataLst>
          </p:nvPr>
        </p:nvGraphicFramePr>
        <p:xfrm>
          <a:off x="426085" y="2179955"/>
          <a:ext cx="5107305" cy="3444240"/>
        </p:xfrm>
        <a:graphic>
          <a:graphicData uri="http://schemas.openxmlformats.org/drawingml/2006/table">
            <a:tbl>
              <a:tblPr firstRow="1" bandRow="1">
                <a:tableStyleId>{5C22544A-7EE6-4342-B048-85BDC9FD1C3A}</a:tableStyleId>
              </a:tblPr>
              <a:tblGrid>
                <a:gridCol w="1127125"/>
                <a:gridCol w="1412875"/>
                <a:gridCol w="2567305"/>
              </a:tblGrid>
              <a:tr h="323215">
                <a:tc>
                  <a:txBody>
                    <a:bodyPr/>
                    <a:p>
                      <a:pPr algn="ctr">
                        <a:buNone/>
                      </a:pPr>
                      <a:r>
                        <a:rPr lang="zh-CN" altLang="en-US">
                          <a:solidFill>
                            <a:schemeClr val="tx1"/>
                          </a:solidFill>
                          <a:latin typeface="楷体" panose="02010609060101010101" charset="-122"/>
                          <a:ea typeface="楷体" panose="02010609060101010101" charset="-122"/>
                        </a:rPr>
                        <a:t>任务类型</a:t>
                      </a:r>
                      <a:endParaRPr lang="zh-CN" altLang="en-US">
                        <a:solidFill>
                          <a:schemeClr val="tx1"/>
                        </a:solidFill>
                        <a:latin typeface="楷体" panose="02010609060101010101" charset="-122"/>
                        <a:ea typeface="楷体" panose="02010609060101010101" charset="-122"/>
                      </a:endParaRPr>
                    </a:p>
                  </a:txBody>
                  <a:tcPr>
                    <a:noFill/>
                  </a:tcPr>
                </a:tc>
                <a:tc>
                  <a:txBody>
                    <a:bodyPr/>
                    <a:p>
                      <a:pPr algn="ctr">
                        <a:buNone/>
                      </a:pPr>
                      <a:r>
                        <a:rPr lang="zh-CN" altLang="en-US">
                          <a:solidFill>
                            <a:schemeClr val="tx1"/>
                          </a:solidFill>
                          <a:latin typeface="楷体" panose="02010609060101010101" charset="-122"/>
                          <a:ea typeface="楷体" panose="02010609060101010101" charset="-122"/>
                        </a:rPr>
                        <a:t>评价指标</a:t>
                      </a:r>
                      <a:endParaRPr lang="zh-CN" altLang="en-US">
                        <a:solidFill>
                          <a:schemeClr val="tx1"/>
                        </a:solidFill>
                        <a:latin typeface="楷体" panose="02010609060101010101" charset="-122"/>
                        <a:ea typeface="楷体" panose="02010609060101010101" charset="-122"/>
                      </a:endParaRPr>
                    </a:p>
                  </a:txBody>
                  <a:tcPr>
                    <a:noFill/>
                  </a:tcPr>
                </a:tc>
                <a:tc>
                  <a:txBody>
                    <a:bodyPr/>
                    <a:p>
                      <a:pPr algn="ctr">
                        <a:buNone/>
                      </a:pPr>
                      <a:r>
                        <a:rPr lang="zh-CN" altLang="en-US">
                          <a:solidFill>
                            <a:schemeClr val="tx1"/>
                          </a:solidFill>
                          <a:latin typeface="楷体" panose="02010609060101010101" charset="-122"/>
                          <a:ea typeface="楷体" panose="02010609060101010101" charset="-122"/>
                          <a:cs typeface="楷体" panose="02010609060101010101" charset="-122"/>
                        </a:rPr>
                        <a:t>公式</a:t>
                      </a:r>
                      <a:endParaRPr lang="zh-CN" altLang="en-US">
                        <a:solidFill>
                          <a:schemeClr val="tx1"/>
                        </a:solidFill>
                        <a:latin typeface="楷体" panose="02010609060101010101" charset="-122"/>
                        <a:ea typeface="楷体" panose="02010609060101010101" charset="-122"/>
                        <a:cs typeface="楷体" panose="02010609060101010101" charset="-122"/>
                      </a:endParaRPr>
                    </a:p>
                  </a:txBody>
                  <a:tcPr>
                    <a:noFill/>
                  </a:tcPr>
                </a:tc>
              </a:tr>
              <a:tr h="1198245">
                <a:tc>
                  <a:txBody>
                    <a:bodyPr/>
                    <a:p>
                      <a:pPr algn="ctr">
                        <a:buNone/>
                      </a:pPr>
                      <a:r>
                        <a:rPr lang="zh-CN" altLang="en-US">
                          <a:solidFill>
                            <a:schemeClr val="tx1"/>
                          </a:solidFill>
                          <a:latin typeface="楷体" panose="02010609060101010101" charset="-122"/>
                          <a:ea typeface="楷体" panose="02010609060101010101" charset="-122"/>
                        </a:rPr>
                        <a:t>像素级空间分割</a:t>
                      </a:r>
                      <a:endParaRPr lang="zh-CN" altLang="en-US">
                        <a:solidFill>
                          <a:schemeClr val="tx1"/>
                        </a:solidFill>
                        <a:latin typeface="楷体" panose="02010609060101010101" charset="-122"/>
                        <a:ea typeface="楷体" panose="02010609060101010101" charset="-122"/>
                      </a:endParaRPr>
                    </a:p>
                  </a:txBody>
                  <a:tcPr>
                    <a:noFill/>
                  </a:tcPr>
                </a:tc>
                <a:tc>
                  <a:txBody>
                    <a:bodyPr/>
                    <a:p>
                      <a:pPr algn="ctr">
                        <a:buNone/>
                      </a:pPr>
                      <a:r>
                        <a:rPr lang="zh-CN" altLang="en-US">
                          <a:solidFill>
                            <a:schemeClr val="tx1"/>
                          </a:solidFill>
                          <a:latin typeface="楷体" panose="02010609060101010101" charset="-122"/>
                          <a:ea typeface="楷体" panose="02010609060101010101" charset="-122"/>
                        </a:rPr>
                        <a:t>平均交并比（</a:t>
                      </a:r>
                      <a:r>
                        <a:rPr lang="en-US" altLang="zh-CN">
                          <a:solidFill>
                            <a:schemeClr val="tx1"/>
                          </a:solidFill>
                          <a:latin typeface="楷体" panose="02010609060101010101" charset="-122"/>
                          <a:ea typeface="楷体" panose="02010609060101010101" charset="-122"/>
                        </a:rPr>
                        <a:t>mIoU</a:t>
                      </a:r>
                      <a:r>
                        <a:rPr lang="zh-CN" altLang="en-US">
                          <a:solidFill>
                            <a:schemeClr val="tx1"/>
                          </a:solidFill>
                          <a:latin typeface="楷体" panose="02010609060101010101" charset="-122"/>
                          <a:ea typeface="楷体" panose="02010609060101010101" charset="-122"/>
                        </a:rPr>
                        <a:t>）与</a:t>
                      </a:r>
                      <a:r>
                        <a:rPr lang="en-US" altLang="zh-CN">
                          <a:solidFill>
                            <a:schemeClr val="tx1"/>
                          </a:solidFill>
                          <a:latin typeface="楷体" panose="02010609060101010101" charset="-122"/>
                          <a:ea typeface="楷体" panose="02010609060101010101" charset="-122"/>
                        </a:rPr>
                        <a:t>F1</a:t>
                      </a:r>
                      <a:r>
                        <a:rPr lang="zh-CN" altLang="en-US">
                          <a:solidFill>
                            <a:schemeClr val="tx1"/>
                          </a:solidFill>
                          <a:latin typeface="楷体" panose="02010609060101010101" charset="-122"/>
                          <a:ea typeface="楷体" panose="02010609060101010101" charset="-122"/>
                        </a:rPr>
                        <a:t>分数</a:t>
                      </a:r>
                      <a:endParaRPr lang="zh-CN" altLang="en-US">
                        <a:solidFill>
                          <a:schemeClr val="tx1"/>
                        </a:solidFill>
                        <a:latin typeface="楷体" panose="02010609060101010101" charset="-122"/>
                        <a:ea typeface="楷体" panose="02010609060101010101" charset="-122"/>
                      </a:endParaRPr>
                    </a:p>
                  </a:txBody>
                  <a:tcPr>
                    <a:noFill/>
                  </a:tcPr>
                </a:tc>
                <a:tc>
                  <a:txBody>
                    <a:bodyPr/>
                    <a:p>
                      <a:pPr algn="ctr">
                        <a:buNone/>
                      </a:pPr>
                      <a:endParaRPr lang="zh-CN" altLang="en-US">
                        <a:solidFill>
                          <a:schemeClr val="tx1"/>
                        </a:solidFill>
                        <a:latin typeface="楷体" panose="02010609060101010101" charset="-122"/>
                        <a:ea typeface="楷体" panose="02010609060101010101" charset="-122"/>
                      </a:endParaRPr>
                    </a:p>
                  </a:txBody>
                  <a:tcPr>
                    <a:noFill/>
                  </a:tcPr>
                </a:tc>
              </a:tr>
              <a:tr h="691515">
                <a:tc>
                  <a:txBody>
                    <a:bodyPr/>
                    <a:p>
                      <a:pPr algn="ctr">
                        <a:buNone/>
                      </a:pPr>
                      <a:r>
                        <a:rPr lang="zh-CN" altLang="en-US">
                          <a:solidFill>
                            <a:schemeClr val="tx1"/>
                          </a:solidFill>
                          <a:latin typeface="楷体" panose="02010609060101010101" charset="-122"/>
                          <a:ea typeface="楷体" panose="02010609060101010101" charset="-122"/>
                        </a:rPr>
                        <a:t>实例级目标定位</a:t>
                      </a:r>
                      <a:endParaRPr lang="zh-CN" altLang="en-US">
                        <a:solidFill>
                          <a:schemeClr val="tx1"/>
                        </a:solidFill>
                        <a:latin typeface="楷体" panose="02010609060101010101" charset="-122"/>
                        <a:ea typeface="楷体" panose="02010609060101010101" charset="-122"/>
                      </a:endParaRPr>
                    </a:p>
                  </a:txBody>
                  <a:tcPr>
                    <a:noFill/>
                  </a:tcPr>
                </a:tc>
                <a:tc>
                  <a:txBody>
                    <a:bodyPr/>
                    <a:p>
                      <a:pPr algn="ctr">
                        <a:buNone/>
                      </a:pPr>
                      <a:r>
                        <a:rPr lang="zh-CN" altLang="en-US">
                          <a:solidFill>
                            <a:schemeClr val="tx1"/>
                          </a:solidFill>
                          <a:latin typeface="楷体" panose="02010609060101010101" charset="-122"/>
                          <a:ea typeface="楷体" panose="02010609060101010101" charset="-122"/>
                        </a:rPr>
                        <a:t>平均精度均值（</a:t>
                      </a:r>
                      <a:r>
                        <a:rPr lang="en-US" altLang="zh-CN">
                          <a:solidFill>
                            <a:schemeClr val="tx1"/>
                          </a:solidFill>
                          <a:latin typeface="楷体" panose="02010609060101010101" charset="-122"/>
                          <a:ea typeface="楷体" panose="02010609060101010101" charset="-122"/>
                        </a:rPr>
                        <a:t>mAP</a:t>
                      </a:r>
                      <a:r>
                        <a:rPr lang="zh-CN" altLang="en-US">
                          <a:solidFill>
                            <a:schemeClr val="tx1"/>
                          </a:solidFill>
                          <a:latin typeface="楷体" panose="02010609060101010101" charset="-122"/>
                          <a:ea typeface="楷体" panose="02010609060101010101" charset="-122"/>
                        </a:rPr>
                        <a:t>）</a:t>
                      </a:r>
                      <a:endParaRPr lang="zh-CN" altLang="en-US">
                        <a:solidFill>
                          <a:schemeClr val="tx1"/>
                        </a:solidFill>
                        <a:latin typeface="楷体" panose="02010609060101010101" charset="-122"/>
                        <a:ea typeface="楷体" panose="02010609060101010101" charset="-122"/>
                      </a:endParaRPr>
                    </a:p>
                  </a:txBody>
                  <a:tcPr>
                    <a:noFill/>
                  </a:tcPr>
                </a:tc>
                <a:tc>
                  <a:txBody>
                    <a:bodyPr/>
                    <a:p>
                      <a:pPr algn="ctr">
                        <a:buNone/>
                      </a:pPr>
                      <a:endParaRPr lang="zh-CN" altLang="en-US">
                        <a:solidFill>
                          <a:schemeClr val="tx1"/>
                        </a:solidFill>
                        <a:latin typeface="楷体" panose="02010609060101010101" charset="-122"/>
                        <a:ea typeface="楷体" panose="02010609060101010101" charset="-122"/>
                      </a:endParaRPr>
                    </a:p>
                  </a:txBody>
                  <a:tcPr>
                    <a:noFill/>
                  </a:tcPr>
                </a:tc>
              </a:tr>
              <a:tr h="691515">
                <a:tc>
                  <a:txBody>
                    <a:bodyPr/>
                    <a:p>
                      <a:pPr algn="ctr">
                        <a:buNone/>
                      </a:pPr>
                      <a:r>
                        <a:rPr lang="zh-CN" altLang="en-US">
                          <a:solidFill>
                            <a:schemeClr val="tx1"/>
                          </a:solidFill>
                          <a:latin typeface="楷体" panose="02010609060101010101" charset="-122"/>
                          <a:ea typeface="楷体" panose="02010609060101010101" charset="-122"/>
                        </a:rPr>
                        <a:t>整体群智能算法寻优</a:t>
                      </a:r>
                      <a:endParaRPr lang="zh-CN" altLang="en-US">
                        <a:solidFill>
                          <a:schemeClr val="tx1"/>
                        </a:solidFill>
                        <a:latin typeface="楷体" panose="02010609060101010101" charset="-122"/>
                        <a:ea typeface="楷体" panose="02010609060101010101" charset="-122"/>
                      </a:endParaRPr>
                    </a:p>
                  </a:txBody>
                  <a:tcPr>
                    <a:noFill/>
                  </a:tcPr>
                </a:tc>
                <a:tc>
                  <a:txBody>
                    <a:bodyPr/>
                    <a:p>
                      <a:pPr algn="ctr">
                        <a:buNone/>
                      </a:pPr>
                      <a:r>
                        <a:rPr lang="zh-CN" altLang="en-US">
                          <a:solidFill>
                            <a:schemeClr val="tx1"/>
                          </a:solidFill>
                          <a:latin typeface="楷体" panose="02010609060101010101" charset="-122"/>
                          <a:ea typeface="楷体" panose="02010609060101010101" charset="-122"/>
                        </a:rPr>
                        <a:t>归一化均方根误差（</a:t>
                      </a:r>
                      <a:r>
                        <a:rPr lang="en-US" altLang="zh-CN">
                          <a:solidFill>
                            <a:schemeClr val="tx1"/>
                          </a:solidFill>
                          <a:latin typeface="楷体" panose="02010609060101010101" charset="-122"/>
                          <a:ea typeface="楷体" panose="02010609060101010101" charset="-122"/>
                        </a:rPr>
                        <a:t>NRMSE</a:t>
                      </a:r>
                      <a:r>
                        <a:rPr lang="zh-CN" altLang="en-US">
                          <a:solidFill>
                            <a:schemeClr val="tx1"/>
                          </a:solidFill>
                          <a:latin typeface="楷体" panose="02010609060101010101" charset="-122"/>
                          <a:ea typeface="楷体" panose="02010609060101010101" charset="-122"/>
                        </a:rPr>
                        <a:t>）</a:t>
                      </a:r>
                      <a:endParaRPr lang="zh-CN" altLang="en-US">
                        <a:solidFill>
                          <a:schemeClr val="tx1"/>
                        </a:solidFill>
                        <a:latin typeface="楷体" panose="02010609060101010101" charset="-122"/>
                        <a:ea typeface="楷体" panose="02010609060101010101" charset="-122"/>
                      </a:endParaRPr>
                    </a:p>
                  </a:txBody>
                  <a:tcPr>
                    <a:noFill/>
                  </a:tcPr>
                </a:tc>
                <a:tc>
                  <a:txBody>
                    <a:bodyPr/>
                    <a:p>
                      <a:pPr algn="ctr">
                        <a:buNone/>
                      </a:pPr>
                      <a:r>
                        <a:rPr lang="en-US" altLang="zh-CN">
                          <a:solidFill>
                            <a:schemeClr val="tx1"/>
                          </a:solidFill>
                          <a:latin typeface="楷体" panose="02010609060101010101" charset="-122"/>
                          <a:ea typeface="楷体" panose="02010609060101010101" charset="-122"/>
                        </a:rPr>
                        <a:t> </a:t>
                      </a:r>
                      <a:endParaRPr lang="en-US" altLang="zh-CN">
                        <a:solidFill>
                          <a:schemeClr val="tx1"/>
                        </a:solidFill>
                        <a:latin typeface="楷体" panose="02010609060101010101" charset="-122"/>
                        <a:ea typeface="楷体" panose="02010609060101010101" charset="-122"/>
                      </a:endParaRPr>
                    </a:p>
                  </a:txBody>
                  <a:tcPr>
                    <a:noFill/>
                  </a:tcPr>
                </a:tc>
              </a:tr>
            </a:tbl>
          </a:graphicData>
        </a:graphic>
      </p:graphicFrame>
      <p:grpSp>
        <p:nvGrpSpPr>
          <p:cNvPr id="29" name="组合 28"/>
          <p:cNvGrpSpPr/>
          <p:nvPr/>
        </p:nvGrpSpPr>
        <p:grpSpPr>
          <a:xfrm>
            <a:off x="3064510" y="2625090"/>
            <a:ext cx="2176780" cy="2499360"/>
            <a:chOff x="14115" y="4040"/>
            <a:chExt cx="3428" cy="3936"/>
          </a:xfrm>
        </p:grpSpPr>
        <p:pic>
          <p:nvPicPr>
            <p:cNvPr id="5" name="图片 4"/>
            <p:cNvPicPr>
              <a:picLocks noChangeAspect="1"/>
            </p:cNvPicPr>
            <p:nvPr/>
          </p:nvPicPr>
          <p:blipFill>
            <a:blip r:embed="rId3"/>
            <a:stretch>
              <a:fillRect/>
            </a:stretch>
          </p:blipFill>
          <p:spPr>
            <a:xfrm>
              <a:off x="14115" y="4040"/>
              <a:ext cx="2090" cy="755"/>
            </a:xfrm>
            <a:prstGeom prst="rect">
              <a:avLst/>
            </a:prstGeom>
          </p:spPr>
        </p:pic>
        <p:pic>
          <p:nvPicPr>
            <p:cNvPr id="13" name="图片 12"/>
            <p:cNvPicPr>
              <a:picLocks noChangeAspect="1"/>
            </p:cNvPicPr>
            <p:nvPr/>
          </p:nvPicPr>
          <p:blipFill>
            <a:blip r:embed="rId4"/>
            <a:stretch>
              <a:fillRect/>
            </a:stretch>
          </p:blipFill>
          <p:spPr>
            <a:xfrm>
              <a:off x="14115" y="4826"/>
              <a:ext cx="2712" cy="876"/>
            </a:xfrm>
            <a:prstGeom prst="rect">
              <a:avLst/>
            </a:prstGeom>
          </p:spPr>
        </p:pic>
        <p:pic>
          <p:nvPicPr>
            <p:cNvPr id="14" name="图片 13"/>
            <p:cNvPicPr>
              <a:picLocks noChangeAspect="1"/>
            </p:cNvPicPr>
            <p:nvPr/>
          </p:nvPicPr>
          <p:blipFill>
            <a:blip r:embed="rId5"/>
            <a:stretch>
              <a:fillRect/>
            </a:stretch>
          </p:blipFill>
          <p:spPr>
            <a:xfrm>
              <a:off x="14115" y="7016"/>
              <a:ext cx="2820" cy="960"/>
            </a:xfrm>
            <a:prstGeom prst="rect">
              <a:avLst/>
            </a:prstGeom>
          </p:spPr>
        </p:pic>
        <p:pic>
          <p:nvPicPr>
            <p:cNvPr id="27" name="图片 26"/>
            <p:cNvPicPr>
              <a:picLocks noChangeAspect="1"/>
            </p:cNvPicPr>
            <p:nvPr/>
          </p:nvPicPr>
          <p:blipFill>
            <a:blip r:embed="rId6"/>
            <a:stretch>
              <a:fillRect/>
            </a:stretch>
          </p:blipFill>
          <p:spPr>
            <a:xfrm>
              <a:off x="14115" y="5999"/>
              <a:ext cx="1668" cy="720"/>
            </a:xfrm>
            <a:prstGeom prst="rect">
              <a:avLst/>
            </a:prstGeom>
          </p:spPr>
        </p:pic>
        <p:pic>
          <p:nvPicPr>
            <p:cNvPr id="28" name="图片 27"/>
            <p:cNvPicPr>
              <a:picLocks noChangeAspect="1"/>
            </p:cNvPicPr>
            <p:nvPr/>
          </p:nvPicPr>
          <p:blipFill>
            <a:blip r:embed="rId7"/>
            <a:stretch>
              <a:fillRect/>
            </a:stretch>
          </p:blipFill>
          <p:spPr>
            <a:xfrm>
              <a:off x="15917" y="6084"/>
              <a:ext cx="1626" cy="521"/>
            </a:xfrm>
            <a:prstGeom prst="rect">
              <a:avLst/>
            </a:prstGeom>
          </p:spPr>
        </p:pic>
      </p:grpSp>
      <p:grpSp>
        <p:nvGrpSpPr>
          <p:cNvPr id="61" name="周小周PPT设计"/>
          <p:cNvGrpSpPr/>
          <p:nvPr/>
        </p:nvGrpSpPr>
        <p:grpSpPr>
          <a:xfrm>
            <a:off x="6278245" y="1255128"/>
            <a:ext cx="4943123" cy="518464"/>
            <a:chOff x="1170425" y="1758884"/>
            <a:chExt cx="2445749" cy="518464"/>
          </a:xfrm>
        </p:grpSpPr>
        <p:sp>
          <p:nvSpPr>
            <p:cNvPr id="62" name="周小周PPT设计-1"/>
            <p:cNvSpPr/>
            <p:nvPr/>
          </p:nvSpPr>
          <p:spPr>
            <a:xfrm>
              <a:off x="1170425" y="1758884"/>
              <a:ext cx="2445749" cy="518464"/>
            </a:xfrm>
            <a:prstGeom prst="rect">
              <a:avLst/>
            </a:prstGeom>
            <a:gradFill flip="none" rotWithShape="1">
              <a:gsLst>
                <a:gs pos="0">
                  <a:schemeClr val="accent1">
                    <a:lumMod val="20000"/>
                    <a:lumOff val="80000"/>
                    <a:alpha val="0"/>
                  </a:schemeClr>
                </a:gs>
                <a:gs pos="100000">
                  <a:schemeClr val="accent1">
                    <a:lumMod val="20000"/>
                    <a:lumOff val="80000"/>
                    <a:alpha val="0"/>
                  </a:schemeClr>
                </a:gs>
                <a:gs pos="55000">
                  <a:schemeClr val="accent1">
                    <a:lumMod val="20000"/>
                    <a:lumOff val="80000"/>
                  </a:schemeClr>
                </a:gs>
              </a:gsLst>
              <a:lin ang="0" scaled="1"/>
              <a:tileRect/>
            </a:gradFill>
            <a:ln>
              <a:gradFill flip="none" rotWithShape="1">
                <a:gsLst>
                  <a:gs pos="52400">
                    <a:schemeClr val="accent1"/>
                  </a:gs>
                  <a:gs pos="0">
                    <a:schemeClr val="accent1">
                      <a:alpha val="0"/>
                    </a:schemeClr>
                  </a:gs>
                  <a:gs pos="100000">
                    <a:schemeClr val="accent1">
                      <a:alpha val="0"/>
                    </a:schemeClr>
                  </a:gs>
                </a:gsLst>
                <a:lin ang="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p>
          </p:txBody>
        </p:sp>
        <p:sp>
          <p:nvSpPr>
            <p:cNvPr id="63" name="周小周PPT设计-2"/>
            <p:cNvSpPr txBox="1"/>
            <p:nvPr/>
          </p:nvSpPr>
          <p:spPr>
            <a:xfrm>
              <a:off x="1277321" y="1789661"/>
              <a:ext cx="2272071" cy="460375"/>
            </a:xfrm>
            <a:prstGeom prst="rect">
              <a:avLst/>
            </a:prstGeom>
            <a:noFill/>
          </p:spPr>
          <p:txBody>
            <a:bodyPr wrap="square">
              <a:spAutoFit/>
            </a:bodyPr>
            <a:lstStyle/>
            <a:p>
              <a:r>
                <a:rPr lang="zh-CN" altLang="en-US" sz="2400" dirty="0">
                  <a:solidFill>
                    <a:schemeClr val="tx2"/>
                  </a:solidFill>
                  <a:effectLst/>
                  <a:latin typeface="+mj-ea"/>
                  <a:ea typeface="+mj-ea"/>
                </a:rPr>
                <a:t>对比与消融实验</a:t>
              </a:r>
              <a:endParaRPr lang="zh-CN" altLang="en-US" sz="2400" dirty="0">
                <a:solidFill>
                  <a:schemeClr val="tx2"/>
                </a:solidFill>
                <a:effectLst/>
                <a:latin typeface="+mj-ea"/>
                <a:ea typeface="+mj-ea"/>
              </a:endParaRPr>
            </a:p>
          </p:txBody>
        </p:sp>
      </p:grpSp>
      <p:grpSp>
        <p:nvGrpSpPr>
          <p:cNvPr id="92" name="周小周PPT设计"/>
          <p:cNvGrpSpPr/>
          <p:nvPr/>
        </p:nvGrpSpPr>
        <p:grpSpPr>
          <a:xfrm>
            <a:off x="6528221" y="1910863"/>
            <a:ext cx="5091685" cy="1023482"/>
            <a:chOff x="753531" y="2247625"/>
            <a:chExt cx="5091685" cy="1023482"/>
          </a:xfrm>
        </p:grpSpPr>
        <p:cxnSp>
          <p:nvCxnSpPr>
            <p:cNvPr id="67" name="周小周PPT设计-1"/>
            <p:cNvCxnSpPr/>
            <p:nvPr/>
          </p:nvCxnSpPr>
          <p:spPr>
            <a:xfrm>
              <a:off x="915338" y="3271107"/>
              <a:ext cx="4929878" cy="0"/>
            </a:xfrm>
            <a:prstGeom prst="line">
              <a:avLst/>
            </a:prstGeom>
            <a:ln w="9525">
              <a:solidFill>
                <a:schemeClr val="accent1">
                  <a:alpha val="4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84" name="组合 83"/>
            <p:cNvGrpSpPr/>
            <p:nvPr/>
          </p:nvGrpSpPr>
          <p:grpSpPr>
            <a:xfrm>
              <a:off x="753531" y="2247625"/>
              <a:ext cx="4998340" cy="974119"/>
              <a:chOff x="753531" y="2247625"/>
              <a:chExt cx="4998340" cy="974119"/>
            </a:xfrm>
          </p:grpSpPr>
          <p:sp>
            <p:nvSpPr>
              <p:cNvPr id="82" name="周小周PPT设计-3"/>
              <p:cNvSpPr txBox="1"/>
              <p:nvPr/>
            </p:nvSpPr>
            <p:spPr>
              <a:xfrm>
                <a:off x="753531" y="2247625"/>
                <a:ext cx="4998340" cy="386080"/>
              </a:xfrm>
              <a:prstGeom prst="rect">
                <a:avLst/>
              </a:prstGeom>
              <a:noFill/>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200" b="0" i="0" u="none" strike="noStrike" cap="none" spc="0" normalizeH="0" baseline="0">
                    <a:ln>
                      <a:noFill/>
                    </a:ln>
                    <a:solidFill>
                      <a:srgbClr val="44546A">
                        <a:lumMod val="75000"/>
                      </a:srgbClr>
                    </a:solidFill>
                    <a:effectLst/>
                    <a:uLnTx/>
                    <a:uFillTx/>
                    <a:latin typeface="OPPOSans L" panose="00020600040101010101" charset="-122"/>
                    <a:ea typeface="OPPOSans L" panose="00020600040101010101" charset="-122"/>
                  </a:defRPr>
                </a:lvl1pPr>
              </a:lstStyle>
              <a:p>
                <a:pPr algn="l">
                  <a:lnSpc>
                    <a:spcPct val="120000"/>
                  </a:lnSpc>
                  <a:buClr>
                    <a:schemeClr val="accent1"/>
                  </a:buClr>
                </a:pPr>
                <a:r>
                  <a:rPr lang="zh-CN" altLang="en-US" sz="1600" b="1">
                    <a:solidFill>
                      <a:schemeClr val="accent1"/>
                    </a:solidFill>
                    <a:effectLst/>
                    <a:latin typeface="+mj-ea"/>
                    <a:ea typeface="+mj-ea"/>
                  </a:rPr>
                  <a:t>对比实验设计</a:t>
                </a:r>
                <a:endParaRPr lang="zh-CN" altLang="en-US" sz="1600" b="1">
                  <a:solidFill>
                    <a:schemeClr val="accent1"/>
                  </a:solidFill>
                  <a:effectLst/>
                  <a:latin typeface="+mj-ea"/>
                  <a:ea typeface="+mj-ea"/>
                </a:endParaRPr>
              </a:p>
            </p:txBody>
          </p:sp>
          <p:sp>
            <p:nvSpPr>
              <p:cNvPr id="83" name="周小周PPT设计-4"/>
              <p:cNvSpPr txBox="1"/>
              <p:nvPr/>
            </p:nvSpPr>
            <p:spPr>
              <a:xfrm>
                <a:off x="753531" y="2614049"/>
                <a:ext cx="4998340" cy="607695"/>
              </a:xfrm>
              <a:prstGeom prst="rect">
                <a:avLst/>
              </a:prstGeom>
              <a:noFill/>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200" b="0" i="0" u="none" strike="noStrike" cap="none" spc="0" normalizeH="0" baseline="0">
                    <a:ln>
                      <a:noFill/>
                    </a:ln>
                    <a:solidFill>
                      <a:srgbClr val="44546A">
                        <a:lumMod val="75000"/>
                      </a:srgbClr>
                    </a:solidFill>
                    <a:effectLst/>
                    <a:uLnTx/>
                    <a:uFillTx/>
                    <a:latin typeface="OPPOSans L" panose="00020600040101010101" charset="-122"/>
                    <a:ea typeface="OPPOSans L" panose="00020600040101010101" charset="-122"/>
                  </a:defRPr>
                </a:lvl1pPr>
              </a:lstStyle>
              <a:p>
                <a:pPr algn="l">
                  <a:lnSpc>
                    <a:spcPct val="120000"/>
                  </a:lnSpc>
                  <a:buClr>
                    <a:schemeClr val="accent1"/>
                  </a:buClr>
                </a:pPr>
                <a:r>
                  <a:rPr lang="zh-CN" altLang="en-US" sz="1400">
                    <a:solidFill>
                      <a:srgbClr val="333F50"/>
                    </a:solidFill>
                    <a:effectLst/>
                    <a:latin typeface="OPPOSans L" panose="00020600040101010101" charset="-122"/>
                    <a:ea typeface="OPPOSans L" panose="00020600040101010101" charset="-122"/>
                  </a:rPr>
                  <a:t>选取</a:t>
                </a:r>
                <a:r>
                  <a:rPr lang="en-US" altLang="zh-CN" sz="1400">
                    <a:solidFill>
                      <a:srgbClr val="333F50"/>
                    </a:solidFill>
                    <a:effectLst/>
                    <a:latin typeface="OPPOSans L" panose="00020600040101010101" charset="-122"/>
                    <a:ea typeface="OPPOSans L" panose="00020600040101010101" charset="-122"/>
                  </a:rPr>
                  <a:t>CNN</a:t>
                </a:r>
                <a:r>
                  <a:rPr lang="zh-CN" altLang="en-US" sz="1400">
                    <a:solidFill>
                      <a:srgbClr val="333F50"/>
                    </a:solidFill>
                    <a:effectLst/>
                    <a:latin typeface="OPPOSans L" panose="00020600040101010101" charset="-122"/>
                    <a:ea typeface="OPPOSans L" panose="00020600040101010101" charset="-122"/>
                  </a:rPr>
                  <a:t>、</a:t>
                </a:r>
                <a:r>
                  <a:rPr lang="en-US" altLang="zh-CN" sz="1400">
                    <a:solidFill>
                      <a:srgbClr val="333F50"/>
                    </a:solidFill>
                    <a:effectLst/>
                    <a:latin typeface="OPPOSans L" panose="00020600040101010101" charset="-122"/>
                    <a:ea typeface="OPPOSans L" panose="00020600040101010101" charset="-122"/>
                  </a:rPr>
                  <a:t>ViT</a:t>
                </a:r>
                <a:r>
                  <a:rPr lang="zh-CN" altLang="en-US" sz="1400">
                    <a:solidFill>
                      <a:srgbClr val="333F50"/>
                    </a:solidFill>
                    <a:effectLst/>
                    <a:latin typeface="OPPOSans L" panose="00020600040101010101" charset="-122"/>
                    <a:ea typeface="OPPOSans L" panose="00020600040101010101" charset="-122"/>
                  </a:rPr>
                  <a:t>、</a:t>
                </a:r>
                <a:r>
                  <a:rPr lang="en-US" altLang="zh-CN" sz="1400">
                    <a:solidFill>
                      <a:srgbClr val="333F50"/>
                    </a:solidFill>
                    <a:effectLst/>
                    <a:latin typeface="OPPOSans L" panose="00020600040101010101" charset="-122"/>
                    <a:ea typeface="OPPOSans L" panose="00020600040101010101" charset="-122"/>
                  </a:rPr>
                  <a:t>SVM</a:t>
                </a:r>
                <a:r>
                  <a:rPr lang="zh-CN" altLang="en-US" sz="1400">
                    <a:solidFill>
                      <a:srgbClr val="333F50"/>
                    </a:solidFill>
                    <a:effectLst/>
                    <a:latin typeface="OPPOSans L" panose="00020600040101010101" charset="-122"/>
                    <a:ea typeface="OPPOSans L" panose="00020600040101010101" charset="-122"/>
                  </a:rPr>
                  <a:t>、随机森林等基线模型，与</a:t>
                </a:r>
                <a:r>
                  <a:rPr lang="en-US" altLang="zh-CN" sz="1400">
                    <a:solidFill>
                      <a:srgbClr val="333F50"/>
                    </a:solidFill>
                    <a:effectLst/>
                    <a:latin typeface="OPPOSans L" panose="00020600040101010101" charset="-122"/>
                    <a:ea typeface="OPPOSans L" panose="00020600040101010101" charset="-122"/>
                  </a:rPr>
                  <a:t>SSA-XRFM</a:t>
                </a:r>
                <a:r>
                  <a:rPr lang="zh-CN" altLang="en-US" sz="1400">
                    <a:solidFill>
                      <a:srgbClr val="333F50"/>
                    </a:solidFill>
                    <a:effectLst/>
                    <a:latin typeface="OPPOSans L" panose="00020600040101010101" charset="-122"/>
                    <a:ea typeface="OPPOSans L" panose="00020600040101010101" charset="-122"/>
                  </a:rPr>
                  <a:t>模型使用相同训练集</a:t>
                </a:r>
                <a:endParaRPr lang="zh-CN" altLang="en-US" sz="1400">
                  <a:solidFill>
                    <a:srgbClr val="333F50"/>
                  </a:solidFill>
                  <a:effectLst/>
                  <a:latin typeface="OPPOSans L" panose="00020600040101010101" charset="-122"/>
                  <a:ea typeface="OPPOSans L" panose="00020600040101010101" charset="-122"/>
                </a:endParaRPr>
              </a:p>
            </p:txBody>
          </p:sp>
        </p:grpSp>
      </p:grpSp>
      <p:grpSp>
        <p:nvGrpSpPr>
          <p:cNvPr id="32" name="周小周PPT设计"/>
          <p:cNvGrpSpPr/>
          <p:nvPr/>
        </p:nvGrpSpPr>
        <p:grpSpPr>
          <a:xfrm>
            <a:off x="6528349" y="3085480"/>
            <a:ext cx="5091430" cy="1238880"/>
            <a:chOff x="753531" y="2031625"/>
            <a:chExt cx="5091685" cy="1239482"/>
          </a:xfrm>
        </p:grpSpPr>
        <p:cxnSp>
          <p:nvCxnSpPr>
            <p:cNvPr id="33" name="周小周PPT设计-1"/>
            <p:cNvCxnSpPr/>
            <p:nvPr/>
          </p:nvCxnSpPr>
          <p:spPr>
            <a:xfrm>
              <a:off x="915338" y="3271107"/>
              <a:ext cx="4929878" cy="0"/>
            </a:xfrm>
            <a:prstGeom prst="line">
              <a:avLst/>
            </a:prstGeom>
            <a:ln w="9525">
              <a:solidFill>
                <a:schemeClr val="accent1">
                  <a:alpha val="4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34" name="组合 33"/>
            <p:cNvGrpSpPr/>
            <p:nvPr/>
          </p:nvGrpSpPr>
          <p:grpSpPr>
            <a:xfrm>
              <a:off x="753531" y="2031625"/>
              <a:ext cx="4998340" cy="1232985"/>
              <a:chOff x="753531" y="2031625"/>
              <a:chExt cx="4998340" cy="1232985"/>
            </a:xfrm>
          </p:grpSpPr>
          <p:sp>
            <p:nvSpPr>
              <p:cNvPr id="35" name="周小周PPT设计-3"/>
              <p:cNvSpPr txBox="1"/>
              <p:nvPr/>
            </p:nvSpPr>
            <p:spPr>
              <a:xfrm>
                <a:off x="753531" y="2031625"/>
                <a:ext cx="4998340" cy="386268"/>
              </a:xfrm>
              <a:prstGeom prst="rect">
                <a:avLst/>
              </a:prstGeom>
              <a:noFill/>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200" b="0" i="0" u="none" strike="noStrike" cap="none" spc="0" normalizeH="0" baseline="0">
                    <a:ln>
                      <a:noFill/>
                    </a:ln>
                    <a:solidFill>
                      <a:srgbClr val="44546A">
                        <a:lumMod val="75000"/>
                      </a:srgbClr>
                    </a:solidFill>
                    <a:effectLst/>
                    <a:uLnTx/>
                    <a:uFillTx/>
                    <a:latin typeface="OPPOSans L" panose="00020600040101010101" charset="-122"/>
                    <a:ea typeface="OPPOSans L" panose="00020600040101010101" charset="-122"/>
                  </a:defRPr>
                </a:lvl1pPr>
              </a:lstStyle>
              <a:p>
                <a:pPr algn="l">
                  <a:lnSpc>
                    <a:spcPct val="120000"/>
                  </a:lnSpc>
                  <a:buClr>
                    <a:schemeClr val="accent1"/>
                  </a:buClr>
                </a:pPr>
                <a:r>
                  <a:rPr lang="zh-CN" altLang="en-US" sz="1600" b="1">
                    <a:solidFill>
                      <a:schemeClr val="accent1"/>
                    </a:solidFill>
                    <a:effectLst/>
                    <a:latin typeface="+mj-ea"/>
                    <a:ea typeface="+mj-ea"/>
                  </a:rPr>
                  <a:t>消融实验</a:t>
                </a:r>
                <a:r>
                  <a:rPr lang="en-US" altLang="zh-CN" sz="1600" b="1">
                    <a:solidFill>
                      <a:schemeClr val="accent1"/>
                    </a:solidFill>
                    <a:effectLst/>
                    <a:latin typeface="+mj-ea"/>
                    <a:ea typeface="+mj-ea"/>
                  </a:rPr>
                  <a:t>——</a:t>
                </a:r>
                <a:r>
                  <a:rPr lang="zh-CN" altLang="en-US" sz="1600" b="1">
                    <a:solidFill>
                      <a:schemeClr val="accent1"/>
                    </a:solidFill>
                    <a:effectLst/>
                    <a:latin typeface="+mj-ea"/>
                    <a:ea typeface="+mj-ea"/>
                  </a:rPr>
                  <a:t>特征融合维度</a:t>
                </a:r>
                <a:endParaRPr lang="zh-CN" altLang="en-US" sz="1600" b="1">
                  <a:solidFill>
                    <a:schemeClr val="accent1"/>
                  </a:solidFill>
                  <a:effectLst/>
                  <a:latin typeface="+mj-ea"/>
                  <a:ea typeface="+mj-ea"/>
                </a:endParaRPr>
              </a:p>
            </p:txBody>
          </p:sp>
          <p:sp>
            <p:nvSpPr>
              <p:cNvPr id="36" name="周小周PPT设计-4"/>
              <p:cNvSpPr txBox="1"/>
              <p:nvPr/>
            </p:nvSpPr>
            <p:spPr>
              <a:xfrm>
                <a:off x="753531" y="2398049"/>
                <a:ext cx="4998340" cy="866561"/>
              </a:xfrm>
              <a:prstGeom prst="rect">
                <a:avLst/>
              </a:prstGeom>
              <a:noFill/>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200" b="0" i="0" u="none" strike="noStrike" cap="none" spc="0" normalizeH="0" baseline="0">
                    <a:ln>
                      <a:noFill/>
                    </a:ln>
                    <a:solidFill>
                      <a:srgbClr val="44546A">
                        <a:lumMod val="75000"/>
                      </a:srgbClr>
                    </a:solidFill>
                    <a:effectLst/>
                    <a:uLnTx/>
                    <a:uFillTx/>
                    <a:latin typeface="OPPOSans L" panose="00020600040101010101" charset="-122"/>
                    <a:ea typeface="OPPOSans L" panose="00020600040101010101" charset="-122"/>
                  </a:defRPr>
                </a:lvl1pPr>
              </a:lstStyle>
              <a:p>
                <a:pPr algn="l">
                  <a:lnSpc>
                    <a:spcPct val="120000"/>
                  </a:lnSpc>
                  <a:buClr>
                    <a:schemeClr val="accent1"/>
                  </a:buClr>
                </a:pPr>
                <a:r>
                  <a:rPr lang="zh-CN" altLang="en-US" sz="1400">
                    <a:solidFill>
                      <a:srgbClr val="333F50"/>
                    </a:solidFill>
                    <a:effectLst/>
                    <a:latin typeface="OPPOSans L" panose="00020600040101010101" charset="-122"/>
                    <a:ea typeface="OPPOSans L" panose="00020600040101010101" charset="-122"/>
                  </a:rPr>
                  <a:t>构建仅深度特征与仅传统特征两个变体，对比完整双分支模型。量化验证深度语义与浅层物理特征在</a:t>
                </a:r>
                <a:r>
                  <a:rPr lang="en-US" altLang="zh-CN" sz="1400">
                    <a:solidFill>
                      <a:srgbClr val="333F50"/>
                    </a:solidFill>
                    <a:effectLst/>
                    <a:latin typeface="OPPOSans L" panose="00020600040101010101" charset="-122"/>
                    <a:ea typeface="OPPOSans L" panose="00020600040101010101" charset="-122"/>
                  </a:rPr>
                  <a:t>“</a:t>
                </a:r>
                <a:r>
                  <a:rPr lang="zh-CN" altLang="en-US" sz="1400">
                    <a:solidFill>
                      <a:srgbClr val="333F50"/>
                    </a:solidFill>
                    <a:effectLst/>
                    <a:latin typeface="OPPOSans L" panose="00020600040101010101" charset="-122"/>
                    <a:ea typeface="OPPOSans L" panose="00020600040101010101" charset="-122"/>
                  </a:rPr>
                  <a:t>同物异谱</a:t>
                </a:r>
                <a:r>
                  <a:rPr lang="en-US" altLang="zh-CN" sz="1400">
                    <a:solidFill>
                      <a:srgbClr val="333F50"/>
                    </a:solidFill>
                    <a:effectLst/>
                    <a:latin typeface="OPPOSans L" panose="00020600040101010101" charset="-122"/>
                    <a:ea typeface="OPPOSans L" panose="00020600040101010101" charset="-122"/>
                  </a:rPr>
                  <a:t>/</a:t>
                </a:r>
                <a:r>
                  <a:rPr lang="zh-CN" altLang="en-US" sz="1400">
                    <a:solidFill>
                      <a:srgbClr val="333F50"/>
                    </a:solidFill>
                    <a:effectLst/>
                    <a:latin typeface="OPPOSans L" panose="00020600040101010101" charset="-122"/>
                    <a:ea typeface="OPPOSans L" panose="00020600040101010101" charset="-122"/>
                  </a:rPr>
                  <a:t>异物同谱</a:t>
                </a:r>
                <a:r>
                  <a:rPr lang="en-US" altLang="zh-CN" sz="1400">
                    <a:solidFill>
                      <a:srgbClr val="333F50"/>
                    </a:solidFill>
                    <a:effectLst/>
                    <a:latin typeface="OPPOSans L" panose="00020600040101010101" charset="-122"/>
                    <a:ea typeface="OPPOSans L" panose="00020600040101010101" charset="-122"/>
                  </a:rPr>
                  <a:t>”</a:t>
                </a:r>
                <a:r>
                  <a:rPr lang="zh-CN" altLang="en-US" sz="1400">
                    <a:solidFill>
                      <a:srgbClr val="333F50"/>
                    </a:solidFill>
                    <a:effectLst/>
                    <a:latin typeface="OPPOSans L" panose="00020600040101010101" charset="-122"/>
                    <a:ea typeface="OPPOSans L" panose="00020600040101010101" charset="-122"/>
                  </a:rPr>
                  <a:t>场景下的互补价值。</a:t>
                </a:r>
                <a:endParaRPr lang="zh-CN" altLang="en-US" sz="1400">
                  <a:solidFill>
                    <a:srgbClr val="333F50"/>
                  </a:solidFill>
                  <a:effectLst/>
                  <a:latin typeface="OPPOSans L" panose="00020600040101010101" charset="-122"/>
                  <a:ea typeface="OPPOSans L" panose="00020600040101010101" charset="-122"/>
                </a:endParaRPr>
              </a:p>
            </p:txBody>
          </p:sp>
        </p:grpSp>
      </p:grpSp>
      <p:grpSp>
        <p:nvGrpSpPr>
          <p:cNvPr id="37" name="周小周PPT设计"/>
          <p:cNvGrpSpPr/>
          <p:nvPr/>
        </p:nvGrpSpPr>
        <p:grpSpPr>
          <a:xfrm>
            <a:off x="6528349" y="4486289"/>
            <a:ext cx="5091430" cy="979806"/>
            <a:chOff x="753531" y="2064025"/>
            <a:chExt cx="5091685" cy="980282"/>
          </a:xfrm>
        </p:grpSpPr>
        <p:cxnSp>
          <p:nvCxnSpPr>
            <p:cNvPr id="38" name="周小周PPT设计-1"/>
            <p:cNvCxnSpPr/>
            <p:nvPr/>
          </p:nvCxnSpPr>
          <p:spPr>
            <a:xfrm>
              <a:off x="915338" y="3044307"/>
              <a:ext cx="4929878" cy="0"/>
            </a:xfrm>
            <a:prstGeom prst="line">
              <a:avLst/>
            </a:prstGeom>
            <a:ln w="9525">
              <a:solidFill>
                <a:schemeClr val="accent1">
                  <a:alpha val="4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39" name="组合 38"/>
            <p:cNvGrpSpPr/>
            <p:nvPr/>
          </p:nvGrpSpPr>
          <p:grpSpPr>
            <a:xfrm>
              <a:off x="753531" y="2064025"/>
              <a:ext cx="4998340" cy="951169"/>
              <a:chOff x="753531" y="2064025"/>
              <a:chExt cx="4998340" cy="951169"/>
            </a:xfrm>
          </p:grpSpPr>
          <p:sp>
            <p:nvSpPr>
              <p:cNvPr id="40" name="周小周PPT设计-3"/>
              <p:cNvSpPr txBox="1"/>
              <p:nvPr/>
            </p:nvSpPr>
            <p:spPr>
              <a:xfrm>
                <a:off x="753531" y="2064025"/>
                <a:ext cx="4998340" cy="386268"/>
              </a:xfrm>
              <a:prstGeom prst="rect">
                <a:avLst/>
              </a:prstGeom>
              <a:noFill/>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200" b="0" i="0" u="none" strike="noStrike" cap="none" spc="0" normalizeH="0" baseline="0">
                    <a:ln>
                      <a:noFill/>
                    </a:ln>
                    <a:solidFill>
                      <a:srgbClr val="44546A">
                        <a:lumMod val="75000"/>
                      </a:srgbClr>
                    </a:solidFill>
                    <a:effectLst/>
                    <a:uLnTx/>
                    <a:uFillTx/>
                    <a:latin typeface="OPPOSans L" panose="00020600040101010101" charset="-122"/>
                    <a:ea typeface="OPPOSans L" panose="00020600040101010101" charset="-122"/>
                  </a:defRPr>
                </a:lvl1pPr>
              </a:lstStyle>
              <a:p>
                <a:pPr algn="l">
                  <a:lnSpc>
                    <a:spcPct val="120000"/>
                  </a:lnSpc>
                  <a:buClr>
                    <a:schemeClr val="accent1"/>
                  </a:buClr>
                </a:pPr>
                <a:r>
                  <a:rPr lang="zh-CN" altLang="en-US" sz="1600" b="1">
                    <a:solidFill>
                      <a:schemeClr val="accent1"/>
                    </a:solidFill>
                    <a:effectLst/>
                    <a:latin typeface="+mj-ea"/>
                    <a:ea typeface="+mj-ea"/>
                  </a:rPr>
                  <a:t>消融实验</a:t>
                </a:r>
                <a:r>
                  <a:rPr lang="en-US" altLang="zh-CN" sz="1600" b="1">
                    <a:solidFill>
                      <a:schemeClr val="accent1"/>
                    </a:solidFill>
                    <a:effectLst/>
                    <a:latin typeface="+mj-ea"/>
                    <a:ea typeface="+mj-ea"/>
                  </a:rPr>
                  <a:t>——</a:t>
                </a:r>
                <a:r>
                  <a:rPr lang="zh-CN" altLang="en-US" sz="1600" b="1">
                    <a:solidFill>
                      <a:schemeClr val="accent1"/>
                    </a:solidFill>
                    <a:effectLst/>
                    <a:latin typeface="+mj-ea"/>
                    <a:ea typeface="+mj-ea"/>
                  </a:rPr>
                  <a:t>参数寻优维度</a:t>
                </a:r>
                <a:endParaRPr lang="zh-CN" altLang="en-US" sz="1600" b="1">
                  <a:solidFill>
                    <a:schemeClr val="accent1"/>
                  </a:solidFill>
                  <a:effectLst/>
                  <a:latin typeface="+mj-ea"/>
                  <a:ea typeface="+mj-ea"/>
                </a:endParaRPr>
              </a:p>
            </p:txBody>
          </p:sp>
          <p:sp>
            <p:nvSpPr>
              <p:cNvPr id="41" name="周小周PPT设计-4"/>
              <p:cNvSpPr txBox="1"/>
              <p:nvPr/>
            </p:nvSpPr>
            <p:spPr>
              <a:xfrm>
                <a:off x="753531" y="2407204"/>
                <a:ext cx="4998340" cy="607990"/>
              </a:xfrm>
              <a:prstGeom prst="rect">
                <a:avLst/>
              </a:prstGeom>
              <a:noFill/>
            </p:spPr>
            <p:txBody>
              <a:bodyPr wrap="square" rtlCol="0">
                <a:spAutoFit/>
              </a:bodyPr>
              <a:lstStyle>
                <a:defPPr>
                  <a:defRPr lang="zh-CN"/>
                </a:defPPr>
                <a:lvl1pPr marR="0" lvl="0" indent="0" algn="ctr" fontAlgn="auto">
                  <a:lnSpc>
                    <a:spcPct val="100000"/>
                  </a:lnSpc>
                  <a:spcBef>
                    <a:spcPts val="0"/>
                  </a:spcBef>
                  <a:spcAft>
                    <a:spcPts val="0"/>
                  </a:spcAft>
                  <a:buClrTx/>
                  <a:buSzTx/>
                  <a:buFontTx/>
                  <a:buNone/>
                  <a:defRPr kumimoji="0" sz="1200" b="0" i="0" u="none" strike="noStrike" cap="none" spc="0" normalizeH="0" baseline="0">
                    <a:ln>
                      <a:noFill/>
                    </a:ln>
                    <a:solidFill>
                      <a:srgbClr val="44546A">
                        <a:lumMod val="75000"/>
                      </a:srgbClr>
                    </a:solidFill>
                    <a:effectLst/>
                    <a:uLnTx/>
                    <a:uFillTx/>
                    <a:latin typeface="OPPOSans L" panose="00020600040101010101" charset="-122"/>
                    <a:ea typeface="OPPOSans L" panose="00020600040101010101" charset="-122"/>
                  </a:defRPr>
                </a:lvl1pPr>
              </a:lstStyle>
              <a:p>
                <a:pPr algn="l">
                  <a:lnSpc>
                    <a:spcPct val="120000"/>
                  </a:lnSpc>
                  <a:buClr>
                    <a:schemeClr val="accent1"/>
                  </a:buClr>
                </a:pPr>
                <a:r>
                  <a:rPr lang="zh-CN" altLang="en-US" sz="1400">
                    <a:solidFill>
                      <a:srgbClr val="333F50"/>
                    </a:solidFill>
                    <a:effectLst/>
                    <a:latin typeface="OPPOSans L" panose="00020600040101010101" charset="-122"/>
                    <a:ea typeface="OPPOSans L" panose="00020600040101010101" charset="-122"/>
                  </a:rPr>
                  <a:t>保持特征融合结构不变，替换寻优策略为人工经验、网格搜索及原始</a:t>
                </a:r>
                <a:r>
                  <a:rPr lang="en-US" altLang="zh-CN" sz="1400">
                    <a:solidFill>
                      <a:srgbClr val="333F50"/>
                    </a:solidFill>
                    <a:effectLst/>
                    <a:latin typeface="OPPOSans L" panose="00020600040101010101" charset="-122"/>
                    <a:ea typeface="OPPOSans L" panose="00020600040101010101" charset="-122"/>
                  </a:rPr>
                  <a:t>SSA</a:t>
                </a:r>
                <a:endParaRPr lang="en-US" altLang="zh-CN" sz="1400">
                  <a:solidFill>
                    <a:srgbClr val="333F50"/>
                  </a:solidFill>
                  <a:effectLst/>
                  <a:latin typeface="OPPOSans L" panose="00020600040101010101" charset="-122"/>
                  <a:ea typeface="OPPOSans L" panose="00020600040101010101" charset="-122"/>
                </a:endParaRPr>
              </a:p>
            </p:txBody>
          </p:sp>
        </p:grpSp>
      </p:grpSp>
      <p:grpSp>
        <p:nvGrpSpPr>
          <p:cNvPr id="741" name="成组"/>
          <p:cNvGrpSpPr/>
          <p:nvPr/>
        </p:nvGrpSpPr>
        <p:grpSpPr>
          <a:xfrm>
            <a:off x="434340" y="1582420"/>
            <a:ext cx="1917700" cy="387350"/>
            <a:chOff x="-7307769" y="-149281"/>
            <a:chExt cx="3845375" cy="793514"/>
          </a:xfrm>
        </p:grpSpPr>
        <p:sp>
          <p:nvSpPr>
            <p:cNvPr id="739" name="圆角矩形"/>
            <p:cNvSpPr/>
            <p:nvPr/>
          </p:nvSpPr>
          <p:spPr>
            <a:xfrm>
              <a:off x="-7307769" y="-149281"/>
              <a:ext cx="3845375" cy="793514"/>
            </a:xfrm>
            <a:prstGeom prst="roundRect">
              <a:avLst>
                <a:gd name="adj" fmla="val 50000"/>
              </a:avLst>
            </a:prstGeom>
            <a:gradFill flip="none" rotWithShape="1">
              <a:gsLst>
                <a:gs pos="0">
                  <a:schemeClr val="tx2">
                    <a:lumMod val="10000"/>
                    <a:lumOff val="90000"/>
                  </a:schemeClr>
                </a:gs>
                <a:gs pos="67000">
                  <a:schemeClr val="tx2">
                    <a:lumMod val="75000"/>
                    <a:lumOff val="25000"/>
                  </a:schemeClr>
                </a:gs>
              </a:gsLst>
              <a:lin ang="2700000" scaled="1"/>
              <a:tileRect/>
            </a:gradFill>
            <a:ln w="12700" cap="flat" cmpd="sng" algn="ctr">
              <a:noFill/>
              <a:prstDash val="solid"/>
              <a:miter lim="800000"/>
            </a:ln>
            <a:effectLst/>
          </p:spPr>
          <p:txBody>
            <a:bodyPr rtlCol="0" anchor="ctr"/>
            <a:lstStyle/>
            <a:p>
              <a:pPr algn="ctr"/>
              <a:endParaRPr b="1" kern="0">
                <a:solidFill>
                  <a:prstClr val="white"/>
                </a:solidFill>
                <a:latin typeface="微软雅黑" panose="020B0503020204020204" pitchFamily="34" charset="-122"/>
                <a:ea typeface="微软雅黑" panose="020B0503020204020204" pitchFamily="34" charset="-122"/>
                <a:sym typeface="+mn-lt"/>
              </a:endParaRPr>
            </a:p>
          </p:txBody>
        </p:sp>
        <p:sp>
          <p:nvSpPr>
            <p:cNvPr id="740" name="云仓备货模式，农特产品保证24h内发货！"/>
            <p:cNvSpPr txBox="1"/>
            <p:nvPr/>
          </p:nvSpPr>
          <p:spPr>
            <a:xfrm>
              <a:off x="-7070935" y="-38711"/>
              <a:ext cx="3372980" cy="564566"/>
            </a:xfrm>
            <a:prstGeom prst="rect">
              <a:avLst/>
            </a:prstGeom>
            <a:noFill/>
            <a:ln w="12700" cap="flat" cmpd="sng" algn="ctr">
              <a:noFill/>
              <a:prstDash val="solid"/>
              <a:miter lim="800000"/>
            </a:ln>
            <a:effectLst/>
          </p:spPr>
          <p:txBody>
            <a:bodyPr rtlCol="0" anchor="ctr"/>
            <a:lstStyle>
              <a:defPPr>
                <a:defRPr lang="zh-CN"/>
              </a:defPPr>
              <a:lvl1pPr algn="ctr">
                <a:defRPr b="1" kern="0">
                  <a:solidFill>
                    <a:prstClr val="white"/>
                  </a:solidFill>
                  <a:latin typeface="微软雅黑" panose="020B0503020204020204" pitchFamily="34" charset="-122"/>
                  <a:ea typeface="微软雅黑" panose="020B0503020204020204" pitchFamily="34" charset="-122"/>
                </a:defRPr>
              </a:lvl1pPr>
            </a:lstStyle>
            <a:p>
              <a:r>
                <a:rPr lang="zh-CN" altLang="en-US">
                  <a:latin typeface="楷体" panose="02010609060101010101" charset="-122"/>
                  <a:ea typeface="楷体" panose="02010609060101010101" charset="-122"/>
                  <a:sym typeface="+mn-ea"/>
                </a:rPr>
                <a:t>核心评价指标</a:t>
              </a:r>
              <a:endParaRPr lang="zh-CN" altLang="en-US" dirty="0">
                <a:sym typeface="+mn-lt"/>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p:cNvPicPr>
            <a:picLocks noChangeAspect="1"/>
          </p:cNvPicPr>
          <p:nvPr/>
        </p:nvPicPr>
        <p:blipFill rotWithShape="1">
          <a:blip r:embed="rId1"/>
          <a:srcRect l="22337" t="1288"/>
          <a:stretch>
            <a:fillRect/>
          </a:stretch>
        </p:blipFill>
        <p:spPr>
          <a:xfrm flipH="1">
            <a:off x="-1" y="-1"/>
            <a:ext cx="12191999" cy="733425"/>
          </a:xfrm>
          <a:custGeom>
            <a:avLst/>
            <a:gdLst>
              <a:gd name="connsiteX0" fmla="*/ 8756888 w 8756888"/>
              <a:gd name="connsiteY0" fmla="*/ 0 h 6857999"/>
              <a:gd name="connsiteX1" fmla="*/ 0 w 8756888"/>
              <a:gd name="connsiteY1" fmla="*/ 0 h 6857999"/>
              <a:gd name="connsiteX2" fmla="*/ 0 w 8756888"/>
              <a:gd name="connsiteY2" fmla="*/ 6857999 h 6857999"/>
              <a:gd name="connsiteX3" fmla="*/ 8756888 w 8756888"/>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8756888" h="6857999">
                <a:moveTo>
                  <a:pt x="8756888" y="0"/>
                </a:moveTo>
                <a:lnTo>
                  <a:pt x="0" y="0"/>
                </a:lnTo>
                <a:lnTo>
                  <a:pt x="0" y="6857999"/>
                </a:lnTo>
                <a:lnTo>
                  <a:pt x="8756888" y="6857999"/>
                </a:lnTo>
                <a:close/>
              </a:path>
            </a:pathLst>
          </a:custGeom>
        </p:spPr>
      </p:pic>
      <p:sp>
        <p:nvSpPr>
          <p:cNvPr id="3" name="平行四边形 2"/>
          <p:cNvSpPr/>
          <p:nvPr/>
        </p:nvSpPr>
        <p:spPr>
          <a:xfrm flipH="1">
            <a:off x="4043389" y="117986"/>
            <a:ext cx="1319982" cy="501446"/>
          </a:xfrm>
          <a:prstGeom prst="parallelogram">
            <a:avLst/>
          </a:prstGeom>
          <a:no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4" name="平行四边形 3"/>
          <p:cNvSpPr/>
          <p:nvPr/>
        </p:nvSpPr>
        <p:spPr>
          <a:xfrm flipH="1">
            <a:off x="5396322" y="108154"/>
            <a:ext cx="1319982" cy="501446"/>
          </a:xfrm>
          <a:prstGeom prst="parallelogram">
            <a:avLst/>
          </a:prstGeom>
          <a:no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6" name="平行四边形 5"/>
          <p:cNvSpPr/>
          <p:nvPr/>
        </p:nvSpPr>
        <p:spPr>
          <a:xfrm flipH="1">
            <a:off x="8089952" y="108154"/>
            <a:ext cx="1319982" cy="501446"/>
          </a:xfrm>
          <a:prstGeom prst="parallelogram">
            <a:avLst/>
          </a:prstGeom>
          <a:no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7" name="平行四边形 6"/>
          <p:cNvSpPr/>
          <p:nvPr/>
        </p:nvSpPr>
        <p:spPr>
          <a:xfrm flipH="1">
            <a:off x="9442885" y="117986"/>
            <a:ext cx="1319982" cy="501446"/>
          </a:xfrm>
          <a:prstGeom prst="parallelogram">
            <a:avLst/>
          </a:prstGeom>
          <a:no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9" name="文本框 8"/>
          <p:cNvSpPr txBox="1"/>
          <p:nvPr/>
        </p:nvSpPr>
        <p:spPr>
          <a:xfrm>
            <a:off x="4184520" y="186216"/>
            <a:ext cx="1037720"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方案设计</a:t>
            </a:r>
            <a:endParaRPr lang="zh-CN" altLang="en-US" sz="1600" dirty="0">
              <a:solidFill>
                <a:schemeClr val="bg1"/>
              </a:solidFill>
              <a:latin typeface="思源黑体" panose="020B0800000000000000" pitchFamily="34" charset="-122"/>
              <a:ea typeface="思源黑体" panose="020B0800000000000000" pitchFamily="34" charset="-122"/>
            </a:endParaRPr>
          </a:p>
        </p:txBody>
      </p:sp>
      <p:sp>
        <p:nvSpPr>
          <p:cNvPr id="10" name="文本框 9"/>
          <p:cNvSpPr txBox="1"/>
          <p:nvPr/>
        </p:nvSpPr>
        <p:spPr>
          <a:xfrm>
            <a:off x="5533553" y="196641"/>
            <a:ext cx="1070927"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核心技术</a:t>
            </a:r>
            <a:endParaRPr lang="zh-CN" altLang="en-US" sz="1600" dirty="0">
              <a:solidFill>
                <a:schemeClr val="bg1"/>
              </a:solidFill>
              <a:latin typeface="思源黑体" panose="020B0800000000000000" pitchFamily="34" charset="-122"/>
              <a:ea typeface="思源黑体" panose="020B0800000000000000" pitchFamily="34" charset="-122"/>
            </a:endParaRPr>
          </a:p>
        </p:txBody>
      </p:sp>
      <p:sp>
        <p:nvSpPr>
          <p:cNvPr id="16" name="文本框 15"/>
          <p:cNvSpPr txBox="1"/>
          <p:nvPr/>
        </p:nvSpPr>
        <p:spPr>
          <a:xfrm>
            <a:off x="8230827" y="189600"/>
            <a:ext cx="1070927"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社会价值</a:t>
            </a:r>
            <a:endParaRPr lang="zh-CN" altLang="en-US" sz="1600" dirty="0">
              <a:solidFill>
                <a:schemeClr val="bg1"/>
              </a:solidFill>
              <a:latin typeface="思源黑体" panose="020B0800000000000000" pitchFamily="34" charset="-122"/>
              <a:ea typeface="思源黑体" panose="020B0800000000000000" pitchFamily="34" charset="-122"/>
            </a:endParaRPr>
          </a:p>
        </p:txBody>
      </p:sp>
      <p:sp>
        <p:nvSpPr>
          <p:cNvPr id="17" name="文本框 16"/>
          <p:cNvSpPr txBox="1"/>
          <p:nvPr/>
        </p:nvSpPr>
        <p:spPr>
          <a:xfrm>
            <a:off x="9605816" y="186216"/>
            <a:ext cx="1079229"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团队介绍</a:t>
            </a:r>
            <a:endParaRPr lang="zh-CN" altLang="en-US" sz="1600" dirty="0">
              <a:solidFill>
                <a:schemeClr val="bg1"/>
              </a:solidFill>
              <a:latin typeface="思源黑体" panose="020B0800000000000000" pitchFamily="34" charset="-122"/>
              <a:ea typeface="思源黑体" panose="020B0800000000000000" pitchFamily="34" charset="-122"/>
            </a:endParaRPr>
          </a:p>
        </p:txBody>
      </p:sp>
      <p:sp>
        <p:nvSpPr>
          <p:cNvPr id="18" name="平行四边形 17"/>
          <p:cNvSpPr/>
          <p:nvPr/>
        </p:nvSpPr>
        <p:spPr>
          <a:xfrm flipH="1">
            <a:off x="10795818" y="117986"/>
            <a:ext cx="1319982" cy="501446"/>
          </a:xfrm>
          <a:prstGeom prst="parallelogram">
            <a:avLst/>
          </a:prstGeom>
          <a:no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19" name="文本框 18"/>
          <p:cNvSpPr txBox="1"/>
          <p:nvPr/>
        </p:nvSpPr>
        <p:spPr>
          <a:xfrm>
            <a:off x="10953551" y="189600"/>
            <a:ext cx="1004516"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未来展望</a:t>
            </a:r>
            <a:endParaRPr lang="zh-CN" altLang="en-US" sz="1600" dirty="0">
              <a:solidFill>
                <a:schemeClr val="bg1"/>
              </a:solidFill>
              <a:latin typeface="思源黑体" panose="020B0800000000000000" pitchFamily="34" charset="-122"/>
              <a:ea typeface="思源黑体" panose="020B0800000000000000" pitchFamily="34" charset="-122"/>
            </a:endParaRPr>
          </a:p>
        </p:txBody>
      </p:sp>
      <p:sp>
        <p:nvSpPr>
          <p:cNvPr id="21" name="标题 20"/>
          <p:cNvSpPr>
            <a:spLocks noGrp="1"/>
          </p:cNvSpPr>
          <p:nvPr>
            <p:ph type="ctrTitle"/>
          </p:nvPr>
        </p:nvSpPr>
        <p:spPr/>
        <p:txBody>
          <a:bodyPr/>
          <a:lstStyle/>
          <a:p>
            <a:r>
              <a:rPr lang="en-US" altLang="zh-CN" dirty="0"/>
              <a:t> </a:t>
            </a:r>
            <a:endParaRPr lang="en-US" altLang="zh-CN" dirty="0"/>
          </a:p>
        </p:txBody>
      </p:sp>
      <p:grpSp>
        <p:nvGrpSpPr>
          <p:cNvPr id="23" name="组合 22"/>
          <p:cNvGrpSpPr/>
          <p:nvPr/>
        </p:nvGrpSpPr>
        <p:grpSpPr>
          <a:xfrm>
            <a:off x="198553" y="-113494"/>
            <a:ext cx="2214880" cy="732926"/>
            <a:chOff x="565150" y="86699"/>
            <a:chExt cx="2214880" cy="732926"/>
          </a:xfrm>
        </p:grpSpPr>
        <p:sp>
          <p:nvSpPr>
            <p:cNvPr id="24" name="文本框 23"/>
            <p:cNvSpPr txBox="1"/>
            <p:nvPr/>
          </p:nvSpPr>
          <p:spPr>
            <a:xfrm>
              <a:off x="565150" y="86699"/>
              <a:ext cx="2214880" cy="7067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0" normalizeH="0" baseline="0" noProof="0" dirty="0">
                  <a:ln>
                    <a:noFill/>
                  </a:ln>
                  <a:solidFill>
                    <a:schemeClr val="bg1"/>
                  </a:solidFill>
                  <a:effectLst/>
                  <a:uLnTx/>
                  <a:uFillTx/>
                  <a:latin typeface="隶书" panose="02010509060101010101" pitchFamily="49" charset="-122"/>
                  <a:ea typeface="隶书" panose="02010509060101010101" pitchFamily="49" charset="-122"/>
                  <a:cs typeface="+mn-cs"/>
                </a:rPr>
                <a:t>项目应用</a:t>
              </a:r>
              <a:endParaRPr kumimoji="0" lang="zh-CN" altLang="en-US" sz="4000" b="0" i="0" u="none" strike="noStrike" kern="1200" cap="none" spc="0" normalizeH="0" baseline="0" noProof="0" dirty="0">
                <a:ln>
                  <a:noFill/>
                </a:ln>
                <a:solidFill>
                  <a:schemeClr val="bg1"/>
                </a:solidFill>
                <a:effectLst/>
                <a:uLnTx/>
                <a:uFillTx/>
                <a:latin typeface="隶书" panose="02010509060101010101" pitchFamily="49" charset="-122"/>
                <a:ea typeface="隶书" panose="02010509060101010101" pitchFamily="49" charset="-122"/>
                <a:cs typeface="+mn-cs"/>
              </a:endParaRPr>
            </a:p>
          </p:txBody>
        </p:sp>
        <p:cxnSp>
          <p:nvCxnSpPr>
            <p:cNvPr id="25" name="直接连接符 24"/>
            <p:cNvCxnSpPr/>
            <p:nvPr/>
          </p:nvCxnSpPr>
          <p:spPr>
            <a:xfrm>
              <a:off x="678180" y="728663"/>
              <a:ext cx="202692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6" name="任意多边形: 形状 25"/>
            <p:cNvSpPr/>
            <p:nvPr/>
          </p:nvSpPr>
          <p:spPr>
            <a:xfrm>
              <a:off x="678179" y="773906"/>
              <a:ext cx="2026920" cy="45719"/>
            </a:xfrm>
            <a:custGeom>
              <a:avLst/>
              <a:gdLst>
                <a:gd name="connsiteX0" fmla="*/ 1978819 w 2026920"/>
                <a:gd name="connsiteY0" fmla="*/ 0 h 45719"/>
                <a:gd name="connsiteX1" fmla="*/ 2026920 w 2026920"/>
                <a:gd name="connsiteY1" fmla="*/ 0 h 45719"/>
                <a:gd name="connsiteX2" fmla="*/ 2026920 w 2026920"/>
                <a:gd name="connsiteY2" fmla="*/ 45719 h 45719"/>
                <a:gd name="connsiteX3" fmla="*/ 1978819 w 2026920"/>
                <a:gd name="connsiteY3" fmla="*/ 45719 h 45719"/>
                <a:gd name="connsiteX4" fmla="*/ 1887560 w 2026920"/>
                <a:gd name="connsiteY4" fmla="*/ 0 h 45719"/>
                <a:gd name="connsiteX5" fmla="*/ 1935661 w 2026920"/>
                <a:gd name="connsiteY5" fmla="*/ 0 h 45719"/>
                <a:gd name="connsiteX6" fmla="*/ 1935661 w 2026920"/>
                <a:gd name="connsiteY6" fmla="*/ 45719 h 45719"/>
                <a:gd name="connsiteX7" fmla="*/ 1887560 w 2026920"/>
                <a:gd name="connsiteY7" fmla="*/ 45719 h 45719"/>
                <a:gd name="connsiteX8" fmla="*/ 1796302 w 2026920"/>
                <a:gd name="connsiteY8" fmla="*/ 0 h 45719"/>
                <a:gd name="connsiteX9" fmla="*/ 1844403 w 2026920"/>
                <a:gd name="connsiteY9" fmla="*/ 0 h 45719"/>
                <a:gd name="connsiteX10" fmla="*/ 1844403 w 2026920"/>
                <a:gd name="connsiteY10" fmla="*/ 45719 h 45719"/>
                <a:gd name="connsiteX11" fmla="*/ 1796302 w 2026920"/>
                <a:gd name="connsiteY11" fmla="*/ 45719 h 45719"/>
                <a:gd name="connsiteX12" fmla="*/ 1705043 w 2026920"/>
                <a:gd name="connsiteY12" fmla="*/ 0 h 45719"/>
                <a:gd name="connsiteX13" fmla="*/ 1753144 w 2026920"/>
                <a:gd name="connsiteY13" fmla="*/ 0 h 45719"/>
                <a:gd name="connsiteX14" fmla="*/ 1753144 w 2026920"/>
                <a:gd name="connsiteY14" fmla="*/ 45719 h 45719"/>
                <a:gd name="connsiteX15" fmla="*/ 1705043 w 2026920"/>
                <a:gd name="connsiteY15" fmla="*/ 45719 h 45719"/>
                <a:gd name="connsiteX16" fmla="*/ 1613785 w 2026920"/>
                <a:gd name="connsiteY16" fmla="*/ 0 h 45719"/>
                <a:gd name="connsiteX17" fmla="*/ 1661886 w 2026920"/>
                <a:gd name="connsiteY17" fmla="*/ 0 h 45719"/>
                <a:gd name="connsiteX18" fmla="*/ 1661886 w 2026920"/>
                <a:gd name="connsiteY18" fmla="*/ 45719 h 45719"/>
                <a:gd name="connsiteX19" fmla="*/ 1613785 w 2026920"/>
                <a:gd name="connsiteY19" fmla="*/ 45719 h 45719"/>
                <a:gd name="connsiteX20" fmla="*/ 1522526 w 2026920"/>
                <a:gd name="connsiteY20" fmla="*/ 0 h 45719"/>
                <a:gd name="connsiteX21" fmla="*/ 1570627 w 2026920"/>
                <a:gd name="connsiteY21" fmla="*/ 0 h 45719"/>
                <a:gd name="connsiteX22" fmla="*/ 1570627 w 2026920"/>
                <a:gd name="connsiteY22" fmla="*/ 45719 h 45719"/>
                <a:gd name="connsiteX23" fmla="*/ 1522526 w 2026920"/>
                <a:gd name="connsiteY23" fmla="*/ 45719 h 45719"/>
                <a:gd name="connsiteX24" fmla="*/ 1431267 w 2026920"/>
                <a:gd name="connsiteY24" fmla="*/ 0 h 45719"/>
                <a:gd name="connsiteX25" fmla="*/ 1479368 w 2026920"/>
                <a:gd name="connsiteY25" fmla="*/ 0 h 45719"/>
                <a:gd name="connsiteX26" fmla="*/ 1479368 w 2026920"/>
                <a:gd name="connsiteY26" fmla="*/ 45719 h 45719"/>
                <a:gd name="connsiteX27" fmla="*/ 1431267 w 2026920"/>
                <a:gd name="connsiteY27" fmla="*/ 45719 h 45719"/>
                <a:gd name="connsiteX28" fmla="*/ 1340009 w 2026920"/>
                <a:gd name="connsiteY28" fmla="*/ 0 h 45719"/>
                <a:gd name="connsiteX29" fmla="*/ 1388110 w 2026920"/>
                <a:gd name="connsiteY29" fmla="*/ 0 h 45719"/>
                <a:gd name="connsiteX30" fmla="*/ 1388110 w 2026920"/>
                <a:gd name="connsiteY30" fmla="*/ 45719 h 45719"/>
                <a:gd name="connsiteX31" fmla="*/ 1340009 w 2026920"/>
                <a:gd name="connsiteY31" fmla="*/ 45719 h 45719"/>
                <a:gd name="connsiteX32" fmla="*/ 1248750 w 2026920"/>
                <a:gd name="connsiteY32" fmla="*/ 0 h 45719"/>
                <a:gd name="connsiteX33" fmla="*/ 1296851 w 2026920"/>
                <a:gd name="connsiteY33" fmla="*/ 0 h 45719"/>
                <a:gd name="connsiteX34" fmla="*/ 1296851 w 2026920"/>
                <a:gd name="connsiteY34" fmla="*/ 45719 h 45719"/>
                <a:gd name="connsiteX35" fmla="*/ 1248750 w 2026920"/>
                <a:gd name="connsiteY35" fmla="*/ 45719 h 45719"/>
                <a:gd name="connsiteX36" fmla="*/ 1157491 w 2026920"/>
                <a:gd name="connsiteY36" fmla="*/ 0 h 45719"/>
                <a:gd name="connsiteX37" fmla="*/ 1205592 w 2026920"/>
                <a:gd name="connsiteY37" fmla="*/ 0 h 45719"/>
                <a:gd name="connsiteX38" fmla="*/ 1205592 w 2026920"/>
                <a:gd name="connsiteY38" fmla="*/ 45719 h 45719"/>
                <a:gd name="connsiteX39" fmla="*/ 1157491 w 2026920"/>
                <a:gd name="connsiteY39" fmla="*/ 45719 h 45719"/>
                <a:gd name="connsiteX40" fmla="*/ 1066233 w 2026920"/>
                <a:gd name="connsiteY40" fmla="*/ 0 h 45719"/>
                <a:gd name="connsiteX41" fmla="*/ 1114334 w 2026920"/>
                <a:gd name="connsiteY41" fmla="*/ 0 h 45719"/>
                <a:gd name="connsiteX42" fmla="*/ 1114334 w 2026920"/>
                <a:gd name="connsiteY42" fmla="*/ 45719 h 45719"/>
                <a:gd name="connsiteX43" fmla="*/ 1066233 w 2026920"/>
                <a:gd name="connsiteY43" fmla="*/ 45719 h 45719"/>
                <a:gd name="connsiteX44" fmla="*/ 974974 w 2026920"/>
                <a:gd name="connsiteY44" fmla="*/ 0 h 45719"/>
                <a:gd name="connsiteX45" fmla="*/ 1023075 w 2026920"/>
                <a:gd name="connsiteY45" fmla="*/ 0 h 45719"/>
                <a:gd name="connsiteX46" fmla="*/ 1023075 w 2026920"/>
                <a:gd name="connsiteY46" fmla="*/ 45719 h 45719"/>
                <a:gd name="connsiteX47" fmla="*/ 974974 w 2026920"/>
                <a:gd name="connsiteY47" fmla="*/ 45719 h 45719"/>
                <a:gd name="connsiteX48" fmla="*/ 883716 w 2026920"/>
                <a:gd name="connsiteY48" fmla="*/ 0 h 45719"/>
                <a:gd name="connsiteX49" fmla="*/ 931817 w 2026920"/>
                <a:gd name="connsiteY49" fmla="*/ 0 h 45719"/>
                <a:gd name="connsiteX50" fmla="*/ 931817 w 2026920"/>
                <a:gd name="connsiteY50" fmla="*/ 45719 h 45719"/>
                <a:gd name="connsiteX51" fmla="*/ 883716 w 2026920"/>
                <a:gd name="connsiteY51" fmla="*/ 45719 h 45719"/>
                <a:gd name="connsiteX52" fmla="*/ 792457 w 2026920"/>
                <a:gd name="connsiteY52" fmla="*/ 0 h 45719"/>
                <a:gd name="connsiteX53" fmla="*/ 840558 w 2026920"/>
                <a:gd name="connsiteY53" fmla="*/ 0 h 45719"/>
                <a:gd name="connsiteX54" fmla="*/ 840558 w 2026920"/>
                <a:gd name="connsiteY54" fmla="*/ 45719 h 45719"/>
                <a:gd name="connsiteX55" fmla="*/ 792457 w 2026920"/>
                <a:gd name="connsiteY55" fmla="*/ 45719 h 45719"/>
                <a:gd name="connsiteX56" fmla="*/ 701198 w 2026920"/>
                <a:gd name="connsiteY56" fmla="*/ 0 h 45719"/>
                <a:gd name="connsiteX57" fmla="*/ 749299 w 2026920"/>
                <a:gd name="connsiteY57" fmla="*/ 0 h 45719"/>
                <a:gd name="connsiteX58" fmla="*/ 749299 w 2026920"/>
                <a:gd name="connsiteY58" fmla="*/ 45719 h 45719"/>
                <a:gd name="connsiteX59" fmla="*/ 701198 w 2026920"/>
                <a:gd name="connsiteY59" fmla="*/ 45719 h 45719"/>
                <a:gd name="connsiteX60" fmla="*/ 609940 w 2026920"/>
                <a:gd name="connsiteY60" fmla="*/ 0 h 45719"/>
                <a:gd name="connsiteX61" fmla="*/ 658041 w 2026920"/>
                <a:gd name="connsiteY61" fmla="*/ 0 h 45719"/>
                <a:gd name="connsiteX62" fmla="*/ 658041 w 2026920"/>
                <a:gd name="connsiteY62" fmla="*/ 45719 h 45719"/>
                <a:gd name="connsiteX63" fmla="*/ 609940 w 2026920"/>
                <a:gd name="connsiteY63" fmla="*/ 45719 h 45719"/>
                <a:gd name="connsiteX64" fmla="*/ 518681 w 2026920"/>
                <a:gd name="connsiteY64" fmla="*/ 0 h 45719"/>
                <a:gd name="connsiteX65" fmla="*/ 566782 w 2026920"/>
                <a:gd name="connsiteY65" fmla="*/ 0 h 45719"/>
                <a:gd name="connsiteX66" fmla="*/ 566782 w 2026920"/>
                <a:gd name="connsiteY66" fmla="*/ 45719 h 45719"/>
                <a:gd name="connsiteX67" fmla="*/ 518681 w 2026920"/>
                <a:gd name="connsiteY67" fmla="*/ 45719 h 45719"/>
                <a:gd name="connsiteX68" fmla="*/ 427422 w 2026920"/>
                <a:gd name="connsiteY68" fmla="*/ 0 h 45719"/>
                <a:gd name="connsiteX69" fmla="*/ 475523 w 2026920"/>
                <a:gd name="connsiteY69" fmla="*/ 0 h 45719"/>
                <a:gd name="connsiteX70" fmla="*/ 475523 w 2026920"/>
                <a:gd name="connsiteY70" fmla="*/ 45719 h 45719"/>
                <a:gd name="connsiteX71" fmla="*/ 427422 w 2026920"/>
                <a:gd name="connsiteY71" fmla="*/ 45719 h 45719"/>
                <a:gd name="connsiteX72" fmla="*/ 336164 w 2026920"/>
                <a:gd name="connsiteY72" fmla="*/ 0 h 45719"/>
                <a:gd name="connsiteX73" fmla="*/ 384265 w 2026920"/>
                <a:gd name="connsiteY73" fmla="*/ 0 h 45719"/>
                <a:gd name="connsiteX74" fmla="*/ 384265 w 2026920"/>
                <a:gd name="connsiteY74" fmla="*/ 45719 h 45719"/>
                <a:gd name="connsiteX75" fmla="*/ 336164 w 2026920"/>
                <a:gd name="connsiteY75" fmla="*/ 45719 h 45719"/>
                <a:gd name="connsiteX76" fmla="*/ 244905 w 2026920"/>
                <a:gd name="connsiteY76" fmla="*/ 0 h 45719"/>
                <a:gd name="connsiteX77" fmla="*/ 293006 w 2026920"/>
                <a:gd name="connsiteY77" fmla="*/ 0 h 45719"/>
                <a:gd name="connsiteX78" fmla="*/ 293006 w 2026920"/>
                <a:gd name="connsiteY78" fmla="*/ 45719 h 45719"/>
                <a:gd name="connsiteX79" fmla="*/ 244905 w 2026920"/>
                <a:gd name="connsiteY79" fmla="*/ 45719 h 45719"/>
                <a:gd name="connsiteX80" fmla="*/ 153647 w 2026920"/>
                <a:gd name="connsiteY80" fmla="*/ 0 h 45719"/>
                <a:gd name="connsiteX81" fmla="*/ 201748 w 2026920"/>
                <a:gd name="connsiteY81" fmla="*/ 0 h 45719"/>
                <a:gd name="connsiteX82" fmla="*/ 201748 w 2026920"/>
                <a:gd name="connsiteY82" fmla="*/ 45719 h 45719"/>
                <a:gd name="connsiteX83" fmla="*/ 153647 w 2026920"/>
                <a:gd name="connsiteY83" fmla="*/ 45719 h 45719"/>
                <a:gd name="connsiteX84" fmla="*/ 62388 w 2026920"/>
                <a:gd name="connsiteY84" fmla="*/ 0 h 45719"/>
                <a:gd name="connsiteX85" fmla="*/ 110489 w 2026920"/>
                <a:gd name="connsiteY85" fmla="*/ 0 h 45719"/>
                <a:gd name="connsiteX86" fmla="*/ 110489 w 2026920"/>
                <a:gd name="connsiteY86" fmla="*/ 45719 h 45719"/>
                <a:gd name="connsiteX87" fmla="*/ 62388 w 2026920"/>
                <a:gd name="connsiteY87" fmla="*/ 45719 h 45719"/>
                <a:gd name="connsiteX88" fmla="*/ 0 w 2026920"/>
                <a:gd name="connsiteY88" fmla="*/ 0 h 45719"/>
                <a:gd name="connsiteX89" fmla="*/ 48101 w 2026920"/>
                <a:gd name="connsiteY89" fmla="*/ 0 h 45719"/>
                <a:gd name="connsiteX90" fmla="*/ 48101 w 2026920"/>
                <a:gd name="connsiteY90" fmla="*/ 45719 h 45719"/>
                <a:gd name="connsiteX91" fmla="*/ 0 w 2026920"/>
                <a:gd name="connsiteY91"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2026920" h="45719">
                  <a:moveTo>
                    <a:pt x="1978819" y="0"/>
                  </a:moveTo>
                  <a:lnTo>
                    <a:pt x="2026920" y="0"/>
                  </a:lnTo>
                  <a:lnTo>
                    <a:pt x="2026920" y="45719"/>
                  </a:lnTo>
                  <a:lnTo>
                    <a:pt x="1978819" y="45719"/>
                  </a:lnTo>
                  <a:close/>
                  <a:moveTo>
                    <a:pt x="1887560" y="0"/>
                  </a:moveTo>
                  <a:lnTo>
                    <a:pt x="1935661" y="0"/>
                  </a:lnTo>
                  <a:lnTo>
                    <a:pt x="1935661" y="45719"/>
                  </a:lnTo>
                  <a:lnTo>
                    <a:pt x="1887560" y="45719"/>
                  </a:lnTo>
                  <a:close/>
                  <a:moveTo>
                    <a:pt x="1796302" y="0"/>
                  </a:moveTo>
                  <a:lnTo>
                    <a:pt x="1844403" y="0"/>
                  </a:lnTo>
                  <a:lnTo>
                    <a:pt x="1844403" y="45719"/>
                  </a:lnTo>
                  <a:lnTo>
                    <a:pt x="1796302" y="45719"/>
                  </a:lnTo>
                  <a:close/>
                  <a:moveTo>
                    <a:pt x="1705043" y="0"/>
                  </a:moveTo>
                  <a:lnTo>
                    <a:pt x="1753144" y="0"/>
                  </a:lnTo>
                  <a:lnTo>
                    <a:pt x="1753144" y="45719"/>
                  </a:lnTo>
                  <a:lnTo>
                    <a:pt x="1705043" y="45719"/>
                  </a:lnTo>
                  <a:close/>
                  <a:moveTo>
                    <a:pt x="1613785" y="0"/>
                  </a:moveTo>
                  <a:lnTo>
                    <a:pt x="1661886" y="0"/>
                  </a:lnTo>
                  <a:lnTo>
                    <a:pt x="1661886" y="45719"/>
                  </a:lnTo>
                  <a:lnTo>
                    <a:pt x="1613785" y="45719"/>
                  </a:lnTo>
                  <a:close/>
                  <a:moveTo>
                    <a:pt x="1522526" y="0"/>
                  </a:moveTo>
                  <a:lnTo>
                    <a:pt x="1570627" y="0"/>
                  </a:lnTo>
                  <a:lnTo>
                    <a:pt x="1570627" y="45719"/>
                  </a:lnTo>
                  <a:lnTo>
                    <a:pt x="1522526" y="45719"/>
                  </a:lnTo>
                  <a:close/>
                  <a:moveTo>
                    <a:pt x="1431267" y="0"/>
                  </a:moveTo>
                  <a:lnTo>
                    <a:pt x="1479368" y="0"/>
                  </a:lnTo>
                  <a:lnTo>
                    <a:pt x="1479368" y="45719"/>
                  </a:lnTo>
                  <a:lnTo>
                    <a:pt x="1431267" y="45719"/>
                  </a:lnTo>
                  <a:close/>
                  <a:moveTo>
                    <a:pt x="1340009" y="0"/>
                  </a:moveTo>
                  <a:lnTo>
                    <a:pt x="1388110" y="0"/>
                  </a:lnTo>
                  <a:lnTo>
                    <a:pt x="1388110" y="45719"/>
                  </a:lnTo>
                  <a:lnTo>
                    <a:pt x="1340009" y="45719"/>
                  </a:lnTo>
                  <a:close/>
                  <a:moveTo>
                    <a:pt x="1248750" y="0"/>
                  </a:moveTo>
                  <a:lnTo>
                    <a:pt x="1296851" y="0"/>
                  </a:lnTo>
                  <a:lnTo>
                    <a:pt x="1296851" y="45719"/>
                  </a:lnTo>
                  <a:lnTo>
                    <a:pt x="1248750" y="45719"/>
                  </a:lnTo>
                  <a:close/>
                  <a:moveTo>
                    <a:pt x="1157491" y="0"/>
                  </a:moveTo>
                  <a:lnTo>
                    <a:pt x="1205592" y="0"/>
                  </a:lnTo>
                  <a:lnTo>
                    <a:pt x="1205592" y="45719"/>
                  </a:lnTo>
                  <a:lnTo>
                    <a:pt x="1157491" y="45719"/>
                  </a:lnTo>
                  <a:close/>
                  <a:moveTo>
                    <a:pt x="1066233" y="0"/>
                  </a:moveTo>
                  <a:lnTo>
                    <a:pt x="1114334" y="0"/>
                  </a:lnTo>
                  <a:lnTo>
                    <a:pt x="1114334" y="45719"/>
                  </a:lnTo>
                  <a:lnTo>
                    <a:pt x="1066233" y="45719"/>
                  </a:lnTo>
                  <a:close/>
                  <a:moveTo>
                    <a:pt x="974974" y="0"/>
                  </a:moveTo>
                  <a:lnTo>
                    <a:pt x="1023075" y="0"/>
                  </a:lnTo>
                  <a:lnTo>
                    <a:pt x="1023075" y="45719"/>
                  </a:lnTo>
                  <a:lnTo>
                    <a:pt x="974974" y="45719"/>
                  </a:lnTo>
                  <a:close/>
                  <a:moveTo>
                    <a:pt x="883716" y="0"/>
                  </a:moveTo>
                  <a:lnTo>
                    <a:pt x="931817" y="0"/>
                  </a:lnTo>
                  <a:lnTo>
                    <a:pt x="931817" y="45719"/>
                  </a:lnTo>
                  <a:lnTo>
                    <a:pt x="883716" y="45719"/>
                  </a:lnTo>
                  <a:close/>
                  <a:moveTo>
                    <a:pt x="792457" y="0"/>
                  </a:moveTo>
                  <a:lnTo>
                    <a:pt x="840558" y="0"/>
                  </a:lnTo>
                  <a:lnTo>
                    <a:pt x="840558" y="45719"/>
                  </a:lnTo>
                  <a:lnTo>
                    <a:pt x="792457" y="45719"/>
                  </a:lnTo>
                  <a:close/>
                  <a:moveTo>
                    <a:pt x="701198" y="0"/>
                  </a:moveTo>
                  <a:lnTo>
                    <a:pt x="749299" y="0"/>
                  </a:lnTo>
                  <a:lnTo>
                    <a:pt x="749299" y="45719"/>
                  </a:lnTo>
                  <a:lnTo>
                    <a:pt x="701198" y="45719"/>
                  </a:lnTo>
                  <a:close/>
                  <a:moveTo>
                    <a:pt x="609940" y="0"/>
                  </a:moveTo>
                  <a:lnTo>
                    <a:pt x="658041" y="0"/>
                  </a:lnTo>
                  <a:lnTo>
                    <a:pt x="658041" y="45719"/>
                  </a:lnTo>
                  <a:lnTo>
                    <a:pt x="609940" y="45719"/>
                  </a:lnTo>
                  <a:close/>
                  <a:moveTo>
                    <a:pt x="518681" y="0"/>
                  </a:moveTo>
                  <a:lnTo>
                    <a:pt x="566782" y="0"/>
                  </a:lnTo>
                  <a:lnTo>
                    <a:pt x="566782" y="45719"/>
                  </a:lnTo>
                  <a:lnTo>
                    <a:pt x="518681" y="45719"/>
                  </a:lnTo>
                  <a:close/>
                  <a:moveTo>
                    <a:pt x="427422" y="0"/>
                  </a:moveTo>
                  <a:lnTo>
                    <a:pt x="475523" y="0"/>
                  </a:lnTo>
                  <a:lnTo>
                    <a:pt x="475523" y="45719"/>
                  </a:lnTo>
                  <a:lnTo>
                    <a:pt x="427422" y="45719"/>
                  </a:lnTo>
                  <a:close/>
                  <a:moveTo>
                    <a:pt x="336164" y="0"/>
                  </a:moveTo>
                  <a:lnTo>
                    <a:pt x="384265" y="0"/>
                  </a:lnTo>
                  <a:lnTo>
                    <a:pt x="384265" y="45719"/>
                  </a:lnTo>
                  <a:lnTo>
                    <a:pt x="336164" y="45719"/>
                  </a:lnTo>
                  <a:close/>
                  <a:moveTo>
                    <a:pt x="244905" y="0"/>
                  </a:moveTo>
                  <a:lnTo>
                    <a:pt x="293006" y="0"/>
                  </a:lnTo>
                  <a:lnTo>
                    <a:pt x="293006" y="45719"/>
                  </a:lnTo>
                  <a:lnTo>
                    <a:pt x="244905" y="45719"/>
                  </a:lnTo>
                  <a:close/>
                  <a:moveTo>
                    <a:pt x="153647" y="0"/>
                  </a:moveTo>
                  <a:lnTo>
                    <a:pt x="201748" y="0"/>
                  </a:lnTo>
                  <a:lnTo>
                    <a:pt x="201748" y="45719"/>
                  </a:lnTo>
                  <a:lnTo>
                    <a:pt x="153647" y="45719"/>
                  </a:lnTo>
                  <a:close/>
                  <a:moveTo>
                    <a:pt x="62388" y="0"/>
                  </a:moveTo>
                  <a:lnTo>
                    <a:pt x="110489" y="0"/>
                  </a:lnTo>
                  <a:lnTo>
                    <a:pt x="110489" y="45719"/>
                  </a:lnTo>
                  <a:lnTo>
                    <a:pt x="62388" y="45719"/>
                  </a:lnTo>
                  <a:close/>
                  <a:moveTo>
                    <a:pt x="0" y="0"/>
                  </a:moveTo>
                  <a:lnTo>
                    <a:pt x="48101" y="0"/>
                  </a:lnTo>
                  <a:lnTo>
                    <a:pt x="48101" y="45719"/>
                  </a:lnTo>
                  <a:lnTo>
                    <a:pt x="0" y="45719"/>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11" name="平行四边形 10"/>
          <p:cNvSpPr/>
          <p:nvPr/>
        </p:nvSpPr>
        <p:spPr>
          <a:xfrm flipH="1">
            <a:off x="6769696" y="98629"/>
            <a:ext cx="1319982" cy="501446"/>
          </a:xfrm>
          <a:prstGeom prst="parallelogram">
            <a:avLst/>
          </a:prstGeom>
          <a:solidFill>
            <a:schemeClr val="accent4"/>
          </a:solid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12" name="平行四边形 11"/>
          <p:cNvSpPr/>
          <p:nvPr/>
        </p:nvSpPr>
        <p:spPr>
          <a:xfrm flipH="1">
            <a:off x="2723224" y="118621"/>
            <a:ext cx="1319982" cy="501446"/>
          </a:xfrm>
          <a:prstGeom prst="parallelogram">
            <a:avLst/>
          </a:prstGeom>
          <a:no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8" name="文本框 7"/>
          <p:cNvSpPr txBox="1"/>
          <p:nvPr/>
        </p:nvSpPr>
        <p:spPr>
          <a:xfrm>
            <a:off x="2852084" y="196641"/>
            <a:ext cx="1120740"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项目背景</a:t>
            </a:r>
            <a:endParaRPr lang="zh-CN" altLang="en-US" sz="1600" dirty="0">
              <a:solidFill>
                <a:schemeClr val="bg1"/>
              </a:solidFill>
              <a:latin typeface="思源黑体" panose="020B0800000000000000" pitchFamily="34" charset="-122"/>
              <a:ea typeface="思源黑体" panose="020B0800000000000000" pitchFamily="34" charset="-122"/>
            </a:endParaRPr>
          </a:p>
        </p:txBody>
      </p:sp>
      <p:sp>
        <p:nvSpPr>
          <p:cNvPr id="15" name="文本框 14"/>
          <p:cNvSpPr txBox="1"/>
          <p:nvPr/>
        </p:nvSpPr>
        <p:spPr>
          <a:xfrm>
            <a:off x="6873782" y="181932"/>
            <a:ext cx="1070927"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项目应用</a:t>
            </a:r>
            <a:endParaRPr lang="zh-CN" altLang="en-US" sz="1600" dirty="0">
              <a:solidFill>
                <a:schemeClr val="bg1"/>
              </a:solidFill>
              <a:latin typeface="思源黑体" panose="020B0800000000000000" pitchFamily="34" charset="-122"/>
              <a:ea typeface="思源黑体" panose="020B0800000000000000" pitchFamily="34" charset="-122"/>
            </a:endParaRPr>
          </a:p>
        </p:txBody>
      </p:sp>
      <p:sp>
        <p:nvSpPr>
          <p:cNvPr id="184" name="文本框 183"/>
          <p:cNvSpPr txBox="1"/>
          <p:nvPr/>
        </p:nvSpPr>
        <p:spPr>
          <a:xfrm>
            <a:off x="198755" y="833755"/>
            <a:ext cx="3234690" cy="583565"/>
          </a:xfrm>
          <a:prstGeom prst="rect">
            <a:avLst/>
          </a:prstGeom>
          <a:noFill/>
        </p:spPr>
        <p:txBody>
          <a:bodyPr wrap="square" rtlCol="0" anchor="t">
            <a:spAutoFit/>
          </a:bodyPr>
          <a:p>
            <a:pPr algn="l"/>
            <a:r>
              <a:rPr lang="zh-CN" altLang="en-US" sz="3200" b="1" dirty="0">
                <a:latin typeface="华文隶书" panose="02010800040101010101" charset="-122"/>
                <a:ea typeface="华文隶书" panose="02010800040101010101" charset="-122"/>
                <a:sym typeface="+mn-ea"/>
              </a:rPr>
              <a:t>实验结果与分析</a:t>
            </a:r>
            <a:endParaRPr lang="zh-CN" altLang="en-US" sz="3200" b="1" dirty="0">
              <a:latin typeface="华文隶书" panose="02010800040101010101" charset="-122"/>
              <a:ea typeface="华文隶书" panose="02010800040101010101" charset="-122"/>
              <a:sym typeface="+mn-ea"/>
            </a:endParaRPr>
          </a:p>
        </p:txBody>
      </p:sp>
      <p:sp>
        <p:nvSpPr>
          <p:cNvPr id="709" name="圆角矩形"/>
          <p:cNvSpPr/>
          <p:nvPr/>
        </p:nvSpPr>
        <p:spPr>
          <a:xfrm>
            <a:off x="584200" y="1417320"/>
            <a:ext cx="10943590" cy="2908935"/>
          </a:xfrm>
          <a:prstGeom prst="roundRect">
            <a:avLst>
              <a:gd name="adj" fmla="val 4384"/>
            </a:avLst>
          </a:prstGeom>
          <a:solidFill>
            <a:srgbClr val="FFFFFF"/>
          </a:solidFill>
          <a:ln w="3175">
            <a:solidFill>
              <a:srgbClr val="D6D6D6"/>
            </a:solidFill>
            <a:miter lim="400000"/>
          </a:ln>
          <a:effectLst>
            <a:outerShdw blurRad="241300" dist="61139" dir="2700000" rotWithShape="0">
              <a:schemeClr val="accent3">
                <a:lumMod val="75000"/>
                <a:alpha val="14000"/>
              </a:schemeClr>
            </a:outerShdw>
          </a:effectLst>
        </p:spPr>
        <p:txBody>
          <a:bodyPr lIns="25400" tIns="25400" rIns="25400" bIns="25400" anchor="ctr"/>
          <a:lstStyle/>
          <a:p>
            <a:pPr algn="ctr" defTabSz="412750" hangingPunct="0"/>
            <a:endParaRPr sz="1600" kern="0">
              <a:solidFill>
                <a:srgbClr val="FFFFFF"/>
              </a:solidFill>
              <a:latin typeface="Helvetica Neue Medium"/>
              <a:ea typeface="Helvetica Neue Medium"/>
              <a:cs typeface="Helvetica Neue Medium"/>
              <a:sym typeface="+mn-lt"/>
            </a:endParaRPr>
          </a:p>
        </p:txBody>
      </p:sp>
      <p:grpSp>
        <p:nvGrpSpPr>
          <p:cNvPr id="741" name="成组"/>
          <p:cNvGrpSpPr/>
          <p:nvPr/>
        </p:nvGrpSpPr>
        <p:grpSpPr>
          <a:xfrm>
            <a:off x="736600" y="1496060"/>
            <a:ext cx="1804670" cy="387350"/>
            <a:chOff x="-7307769" y="-149281"/>
            <a:chExt cx="3618727" cy="793514"/>
          </a:xfrm>
        </p:grpSpPr>
        <p:sp>
          <p:nvSpPr>
            <p:cNvPr id="739" name="圆角矩形"/>
            <p:cNvSpPr/>
            <p:nvPr/>
          </p:nvSpPr>
          <p:spPr>
            <a:xfrm>
              <a:off x="-7307769" y="-149281"/>
              <a:ext cx="3618727" cy="793514"/>
            </a:xfrm>
            <a:prstGeom prst="roundRect">
              <a:avLst>
                <a:gd name="adj" fmla="val 50000"/>
              </a:avLst>
            </a:prstGeom>
            <a:gradFill flip="none" rotWithShape="1">
              <a:gsLst>
                <a:gs pos="0">
                  <a:schemeClr val="tx2">
                    <a:lumMod val="10000"/>
                    <a:lumOff val="90000"/>
                  </a:schemeClr>
                </a:gs>
                <a:gs pos="67000">
                  <a:schemeClr val="tx2">
                    <a:lumMod val="75000"/>
                    <a:lumOff val="25000"/>
                  </a:schemeClr>
                </a:gs>
              </a:gsLst>
              <a:lin ang="2700000" scaled="1"/>
              <a:tileRect/>
            </a:gradFill>
            <a:ln w="12700" cap="flat" cmpd="sng" algn="ctr">
              <a:noFill/>
              <a:prstDash val="solid"/>
              <a:miter lim="800000"/>
            </a:ln>
            <a:effectLst/>
          </p:spPr>
          <p:txBody>
            <a:bodyPr rtlCol="0" anchor="ctr"/>
            <a:lstStyle/>
            <a:p>
              <a:pPr algn="ctr"/>
              <a:endParaRPr b="1" kern="0">
                <a:solidFill>
                  <a:prstClr val="white"/>
                </a:solidFill>
                <a:latin typeface="微软雅黑" panose="020B0503020204020204" pitchFamily="34" charset="-122"/>
                <a:ea typeface="微软雅黑" panose="020B0503020204020204" pitchFamily="34" charset="-122"/>
                <a:sym typeface="+mn-lt"/>
              </a:endParaRPr>
            </a:p>
          </p:txBody>
        </p:sp>
        <p:sp>
          <p:nvSpPr>
            <p:cNvPr id="740" name="云仓备货模式，农特产品保证24h内发货！"/>
            <p:cNvSpPr txBox="1"/>
            <p:nvPr/>
          </p:nvSpPr>
          <p:spPr>
            <a:xfrm>
              <a:off x="-6835372" y="-34807"/>
              <a:ext cx="2685396" cy="564566"/>
            </a:xfrm>
            <a:prstGeom prst="rect">
              <a:avLst/>
            </a:prstGeom>
            <a:noFill/>
            <a:ln w="12700" cap="flat" cmpd="sng" algn="ctr">
              <a:noFill/>
              <a:prstDash val="solid"/>
              <a:miter lim="800000"/>
            </a:ln>
            <a:effectLst/>
          </p:spPr>
          <p:txBody>
            <a:bodyPr rtlCol="0" anchor="ctr"/>
            <a:lstStyle>
              <a:defPPr>
                <a:defRPr lang="zh-CN"/>
              </a:defPPr>
              <a:lvl1pPr algn="ctr">
                <a:defRPr b="1" kern="0">
                  <a:solidFill>
                    <a:prstClr val="white"/>
                  </a:solidFill>
                  <a:latin typeface="微软雅黑" panose="020B0503020204020204" pitchFamily="34" charset="-122"/>
                  <a:ea typeface="微软雅黑" panose="020B0503020204020204" pitchFamily="34" charset="-122"/>
                </a:defRPr>
              </a:lvl1pPr>
            </a:lstStyle>
            <a:p>
              <a:r>
                <a:rPr lang="zh-CN" altLang="en-US" dirty="0">
                  <a:sym typeface="+mn-lt"/>
                </a:rPr>
                <a:t>量化结果</a:t>
              </a:r>
              <a:endParaRPr lang="zh-CN" altLang="en-US" dirty="0">
                <a:sym typeface="+mn-lt"/>
              </a:endParaRPr>
            </a:p>
          </p:txBody>
        </p:sp>
      </p:grpSp>
      <p:graphicFrame>
        <p:nvGraphicFramePr>
          <p:cNvPr id="31" name="表格 30"/>
          <p:cNvGraphicFramePr/>
          <p:nvPr>
            <p:custDataLst>
              <p:tags r:id="rId2"/>
            </p:custDataLst>
          </p:nvPr>
        </p:nvGraphicFramePr>
        <p:xfrm>
          <a:off x="972185" y="1962150"/>
          <a:ext cx="5267325" cy="2190750"/>
        </p:xfrm>
        <a:graphic>
          <a:graphicData uri="http://schemas.openxmlformats.org/drawingml/2006/table">
            <a:tbl>
              <a:tblPr/>
              <a:tblGrid>
                <a:gridCol w="1316990"/>
                <a:gridCol w="1316990"/>
                <a:gridCol w="1316355"/>
                <a:gridCol w="1316990"/>
              </a:tblGrid>
              <a:tr h="438150">
                <a:tc>
                  <a:txBody>
                    <a:bodyPr/>
                    <a:p>
                      <a:pPr indent="0" algn="ctr">
                        <a:buNone/>
                      </a:pPr>
                      <a:r>
                        <a:rPr lang="zh-CN" altLang="en-US" sz="1200" b="0" kern="1200" dirty="0">
                          <a:solidFill>
                            <a:schemeClr val="tx1"/>
                          </a:solidFill>
                          <a:latin typeface="微软雅黑" panose="020B0503020204020204" pitchFamily="34" charset="-122"/>
                          <a:ea typeface="微软雅黑" panose="020B0503020204020204" pitchFamily="34" charset="-122"/>
                          <a:cs typeface="+mn-ea"/>
                        </a:rPr>
                        <a:t>任务</a:t>
                      </a:r>
                      <a:endParaRPr lang="zh-CN" altLang="en-US" sz="1200" b="0" kern="1200" dirty="0">
                        <a:solidFill>
                          <a:schemeClr val="tx1"/>
                        </a:solidFill>
                        <a:latin typeface="微软雅黑" panose="020B0503020204020204" pitchFamily="34" charset="-122"/>
                        <a:ea typeface="微软雅黑" panose="020B0503020204020204" pitchFamily="34" charset="-122"/>
                        <a:cs typeface="+mn-ea"/>
                      </a:endParaRPr>
                    </a:p>
                  </a:txBody>
                  <a:tcPr marL="68580" marR="68580" marT="0" marB="0" anchor="ctr">
                    <a:lnL>
                      <a:noFill/>
                    </a:lnL>
                    <a:lnR>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zh-CN" altLang="en-US" sz="1200" b="0" kern="1200" dirty="0">
                          <a:solidFill>
                            <a:schemeClr val="tx1"/>
                          </a:solidFill>
                          <a:latin typeface="微软雅黑" panose="020B0503020204020204" pitchFamily="34" charset="-122"/>
                          <a:ea typeface="微软雅黑" panose="020B0503020204020204" pitchFamily="34" charset="-122"/>
                          <a:cs typeface="+mn-ea"/>
                        </a:rPr>
                        <a:t>核心指标</a:t>
                      </a:r>
                      <a:endParaRPr lang="zh-CN" altLang="en-US" sz="1200" b="0" kern="1200" dirty="0">
                        <a:solidFill>
                          <a:schemeClr val="tx1"/>
                        </a:solidFill>
                        <a:latin typeface="微软雅黑" panose="020B0503020204020204" pitchFamily="34" charset="-122"/>
                        <a:ea typeface="微软雅黑" panose="020B0503020204020204" pitchFamily="34" charset="-122"/>
                        <a:cs typeface="+mn-ea"/>
                      </a:endParaRPr>
                    </a:p>
                  </a:txBody>
                  <a:tcPr marL="68580" marR="68580" marT="0" marB="0" anchor="ctr">
                    <a:lnL>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zh-CN" altLang="en-US" sz="1200" b="0" kern="1200" dirty="0">
                          <a:solidFill>
                            <a:schemeClr val="tx1"/>
                          </a:solidFill>
                          <a:latin typeface="微软雅黑" panose="020B0503020204020204" pitchFamily="34" charset="-122"/>
                          <a:ea typeface="微软雅黑" panose="020B0503020204020204" pitchFamily="34" charset="-122"/>
                          <a:cs typeface="+mn-ea"/>
                        </a:rPr>
                        <a:t>本模型成绩</a:t>
                      </a:r>
                      <a:endParaRPr lang="zh-CN" altLang="en-US" sz="1200" b="0" kern="1200" dirty="0">
                        <a:solidFill>
                          <a:schemeClr val="tx1"/>
                        </a:solidFill>
                        <a:latin typeface="微软雅黑" panose="020B0503020204020204" pitchFamily="34" charset="-122"/>
                        <a:ea typeface="微软雅黑" panose="020B0503020204020204" pitchFamily="34" charset="-122"/>
                        <a:cs typeface="+mn-ea"/>
                      </a:endParaRPr>
                    </a:p>
                  </a:txBody>
                  <a:tcPr marL="68580" marR="68580" marT="0" marB="0" anchor="ctr">
                    <a:lnL>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zh-CN" altLang="en-US" sz="1200" b="0" kern="1200" dirty="0">
                          <a:solidFill>
                            <a:schemeClr val="tx1"/>
                          </a:solidFill>
                          <a:latin typeface="微软雅黑" panose="020B0503020204020204" pitchFamily="34" charset="-122"/>
                          <a:ea typeface="微软雅黑" panose="020B0503020204020204" pitchFamily="34" charset="-122"/>
                          <a:cs typeface="+mn-ea"/>
                        </a:rPr>
                        <a:t>对比基线提升</a:t>
                      </a:r>
                      <a:endParaRPr lang="zh-CN" altLang="en-US" sz="1200" b="0" kern="1200" dirty="0">
                        <a:solidFill>
                          <a:schemeClr val="tx1"/>
                        </a:solidFill>
                        <a:latin typeface="微软雅黑" panose="020B0503020204020204" pitchFamily="34" charset="-122"/>
                        <a:ea typeface="微软雅黑" panose="020B0503020204020204" pitchFamily="34" charset="-122"/>
                        <a:cs typeface="+mn-ea"/>
                      </a:endParaRPr>
                    </a:p>
                  </a:txBody>
                  <a:tcPr marL="68580" marR="68580" marT="0" marB="0" anchor="ctr">
                    <a:lnL>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38150">
                <a:tc>
                  <a:txBody>
                    <a:bodyPr/>
                    <a:p>
                      <a:pPr indent="0" algn="ctr">
                        <a:buNone/>
                      </a:pPr>
                      <a:r>
                        <a:rPr lang="zh-CN" altLang="en-US" sz="1200" b="0" kern="1200" dirty="0">
                          <a:solidFill>
                            <a:schemeClr val="tx1"/>
                          </a:solidFill>
                          <a:latin typeface="微软雅黑" panose="020B0503020204020204" pitchFamily="34" charset="-122"/>
                          <a:ea typeface="微软雅黑" panose="020B0503020204020204" pitchFamily="34" charset="-122"/>
                          <a:cs typeface="+mn-ea"/>
                        </a:rPr>
                        <a:t>土地利用</a:t>
                      </a:r>
                      <a:r>
                        <a:rPr lang="en-US" altLang="zh-CN" sz="1200" b="0" kern="1200" dirty="0">
                          <a:solidFill>
                            <a:schemeClr val="tx1"/>
                          </a:solidFill>
                          <a:latin typeface="微软雅黑" panose="020B0503020204020204" pitchFamily="34" charset="-122"/>
                          <a:ea typeface="微软雅黑" panose="020B0503020204020204" pitchFamily="34" charset="-122"/>
                          <a:cs typeface="+mn-ea"/>
                        </a:rPr>
                        <a:t>/</a:t>
                      </a:r>
                      <a:r>
                        <a:rPr lang="zh-CN" altLang="en-US" sz="1200" b="0" kern="1200" dirty="0">
                          <a:solidFill>
                            <a:schemeClr val="tx1"/>
                          </a:solidFill>
                          <a:latin typeface="微软雅黑" panose="020B0503020204020204" pitchFamily="34" charset="-122"/>
                          <a:ea typeface="微软雅黑" panose="020B0503020204020204" pitchFamily="34" charset="-122"/>
                          <a:cs typeface="+mn-ea"/>
                        </a:rPr>
                        <a:t>覆盖</a:t>
                      </a:r>
                      <a:endParaRPr lang="zh-CN" altLang="en-US" sz="1200" b="0" kern="1200" dirty="0">
                        <a:solidFill>
                          <a:schemeClr val="tx1"/>
                        </a:solidFill>
                        <a:latin typeface="微软雅黑" panose="020B0503020204020204" pitchFamily="34" charset="-122"/>
                        <a:ea typeface="微软雅黑" panose="020B0503020204020204" pitchFamily="34" charset="-122"/>
                        <a:cs typeface="+mn-ea"/>
                      </a:endParaRPr>
                    </a:p>
                  </a:txBody>
                  <a:tcPr marL="68580" marR="68580" marT="0" marB="0" anchor="ctr">
                    <a:lnL>
                      <a:noFill/>
                    </a:lnL>
                    <a:lnR>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altLang="zh-CN" sz="1200" b="0" kern="1200" dirty="0">
                          <a:solidFill>
                            <a:schemeClr val="tx1"/>
                          </a:solidFill>
                          <a:latin typeface="微软雅黑" panose="020B0503020204020204" pitchFamily="34" charset="-122"/>
                          <a:ea typeface="微软雅黑" panose="020B0503020204020204" pitchFamily="34" charset="-122"/>
                          <a:cs typeface="+mn-ea"/>
                        </a:rPr>
                        <a:t>mIoU</a:t>
                      </a:r>
                      <a:endParaRPr lang="en-US" altLang="zh-CN" sz="1200" b="0" kern="1200" dirty="0">
                        <a:solidFill>
                          <a:schemeClr val="tx1"/>
                        </a:solidFill>
                        <a:latin typeface="微软雅黑" panose="020B0503020204020204" pitchFamily="34" charset="-122"/>
                        <a:ea typeface="微软雅黑" panose="020B0503020204020204" pitchFamily="34" charset="-122"/>
                        <a:cs typeface="+mn-ea"/>
                      </a:endParaRPr>
                    </a:p>
                  </a:txBody>
                  <a:tcPr marL="68580" marR="68580" marT="0" marB="0" anchor="ctr">
                    <a:lnL>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altLang="zh-CN" sz="1200" b="0" kern="1200" dirty="0">
                          <a:solidFill>
                            <a:schemeClr val="tx1"/>
                          </a:solidFill>
                          <a:latin typeface="微软雅黑" panose="020B0503020204020204" pitchFamily="34" charset="-122"/>
                          <a:ea typeface="微软雅黑" panose="020B0503020204020204" pitchFamily="34" charset="-122"/>
                          <a:cs typeface="+mn-ea"/>
                        </a:rPr>
                        <a:t>0.876</a:t>
                      </a:r>
                      <a:endParaRPr lang="en-US" altLang="zh-CN" sz="1200" b="0" kern="1200" dirty="0">
                        <a:solidFill>
                          <a:schemeClr val="tx1"/>
                        </a:solidFill>
                        <a:latin typeface="微软雅黑" panose="020B0503020204020204" pitchFamily="34" charset="-122"/>
                        <a:ea typeface="微软雅黑" panose="020B0503020204020204" pitchFamily="34" charset="-122"/>
                        <a:cs typeface="+mn-ea"/>
                      </a:endParaRPr>
                    </a:p>
                  </a:txBody>
                  <a:tcPr marL="68580" marR="68580" marT="0" marB="0" anchor="ctr">
                    <a:lnL>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altLang="zh-CN" sz="1200" b="0" kern="1200" dirty="0">
                          <a:solidFill>
                            <a:schemeClr val="tx1"/>
                          </a:solidFill>
                          <a:latin typeface="微软雅黑" panose="020B0503020204020204" pitchFamily="34" charset="-122"/>
                          <a:ea typeface="微软雅黑" panose="020B0503020204020204" pitchFamily="34" charset="-122"/>
                          <a:cs typeface="+mn-ea"/>
                        </a:rPr>
                        <a:t>+8.2% vs ResNet-50</a:t>
                      </a:r>
                      <a:endParaRPr lang="en-US" altLang="zh-CN" sz="1200" b="0" kern="1200" dirty="0">
                        <a:solidFill>
                          <a:schemeClr val="tx1"/>
                        </a:solidFill>
                        <a:latin typeface="微软雅黑" panose="020B0503020204020204" pitchFamily="34" charset="-122"/>
                        <a:ea typeface="微软雅黑" panose="020B0503020204020204" pitchFamily="34" charset="-122"/>
                        <a:cs typeface="+mn-ea"/>
                      </a:endParaRPr>
                    </a:p>
                  </a:txBody>
                  <a:tcPr marL="68580" marR="68580" marT="0" marB="0" anchor="ctr">
                    <a:lnL>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38150">
                <a:tc>
                  <a:txBody>
                    <a:bodyPr/>
                    <a:p>
                      <a:pPr indent="0" algn="ctr">
                        <a:buNone/>
                      </a:pPr>
                      <a:r>
                        <a:rPr lang="zh-CN" altLang="en-US" sz="1200" b="0" kern="1200" dirty="0">
                          <a:solidFill>
                            <a:schemeClr val="tx1"/>
                          </a:solidFill>
                          <a:latin typeface="微软雅黑" panose="020B0503020204020204" pitchFamily="34" charset="-122"/>
                          <a:ea typeface="微软雅黑" panose="020B0503020204020204" pitchFamily="34" charset="-122"/>
                          <a:cs typeface="+mn-ea"/>
                        </a:rPr>
                        <a:t>耕地检测</a:t>
                      </a:r>
                      <a:endParaRPr lang="zh-CN" altLang="en-US" sz="1200" b="0" kern="1200" dirty="0">
                        <a:solidFill>
                          <a:schemeClr val="tx1"/>
                        </a:solidFill>
                        <a:latin typeface="微软雅黑" panose="020B0503020204020204" pitchFamily="34" charset="-122"/>
                        <a:ea typeface="微软雅黑" panose="020B0503020204020204" pitchFamily="34" charset="-122"/>
                        <a:cs typeface="+mn-ea"/>
                      </a:endParaRPr>
                    </a:p>
                  </a:txBody>
                  <a:tcPr marL="68580" marR="68580" marT="0" marB="0" anchor="ctr">
                    <a:lnL>
                      <a:noFill/>
                    </a:lnL>
                    <a:lnR>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altLang="zh-CN" sz="1200" b="0" kern="1200" dirty="0">
                          <a:solidFill>
                            <a:schemeClr val="tx1"/>
                          </a:solidFill>
                          <a:latin typeface="微软雅黑" panose="020B0503020204020204" pitchFamily="34" charset="-122"/>
                          <a:ea typeface="微软雅黑" panose="020B0503020204020204" pitchFamily="34" charset="-122"/>
                          <a:cs typeface="+mn-ea"/>
                        </a:rPr>
                        <a:t>F1</a:t>
                      </a:r>
                      <a:r>
                        <a:rPr lang="zh-CN" altLang="en-US" sz="1200" b="0" kern="1200" dirty="0">
                          <a:solidFill>
                            <a:schemeClr val="tx1"/>
                          </a:solidFill>
                          <a:latin typeface="微软雅黑" panose="020B0503020204020204" pitchFamily="34" charset="-122"/>
                          <a:ea typeface="微软雅黑" panose="020B0503020204020204" pitchFamily="34" charset="-122"/>
                          <a:cs typeface="+mn-ea"/>
                        </a:rPr>
                        <a:t>分数</a:t>
                      </a:r>
                      <a:endParaRPr lang="zh-CN" altLang="en-US" sz="1200" b="0" kern="1200" dirty="0">
                        <a:solidFill>
                          <a:schemeClr val="tx1"/>
                        </a:solidFill>
                        <a:latin typeface="微软雅黑" panose="020B0503020204020204" pitchFamily="34" charset="-122"/>
                        <a:ea typeface="微软雅黑" panose="020B0503020204020204" pitchFamily="34" charset="-122"/>
                        <a:cs typeface="+mn-ea"/>
                      </a:endParaRPr>
                    </a:p>
                  </a:txBody>
                  <a:tcPr marL="68580" marR="68580" marT="0" marB="0" anchor="ctr">
                    <a:lnL>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altLang="zh-CN" sz="1200" b="0" kern="1200" dirty="0">
                          <a:solidFill>
                            <a:schemeClr val="tx1"/>
                          </a:solidFill>
                          <a:latin typeface="微软雅黑" panose="020B0503020204020204" pitchFamily="34" charset="-122"/>
                          <a:ea typeface="微软雅黑" panose="020B0503020204020204" pitchFamily="34" charset="-122"/>
                          <a:cs typeface="+mn-ea"/>
                        </a:rPr>
                        <a:t>0.898</a:t>
                      </a:r>
                      <a:endParaRPr lang="en-US" altLang="zh-CN" sz="1200" b="0" kern="1200" dirty="0">
                        <a:solidFill>
                          <a:schemeClr val="tx1"/>
                        </a:solidFill>
                        <a:latin typeface="微软雅黑" panose="020B0503020204020204" pitchFamily="34" charset="-122"/>
                        <a:ea typeface="微软雅黑" panose="020B0503020204020204" pitchFamily="34" charset="-122"/>
                        <a:cs typeface="+mn-ea"/>
                      </a:endParaRPr>
                    </a:p>
                  </a:txBody>
                  <a:tcPr marL="68580" marR="68580" marT="0" marB="0" anchor="ctr">
                    <a:lnL>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altLang="zh-CN" sz="1200" b="0" kern="1200" dirty="0">
                          <a:solidFill>
                            <a:schemeClr val="tx1"/>
                          </a:solidFill>
                          <a:latin typeface="微软雅黑" panose="020B0503020204020204" pitchFamily="34" charset="-122"/>
                          <a:ea typeface="微软雅黑" panose="020B0503020204020204" pitchFamily="34" charset="-122"/>
                          <a:cs typeface="+mn-ea"/>
                        </a:rPr>
                        <a:t>+6.5% vs </a:t>
                      </a:r>
                      <a:r>
                        <a:rPr lang="zh-CN" altLang="en-US" sz="1200" b="0" kern="1200" dirty="0">
                          <a:solidFill>
                            <a:schemeClr val="tx1"/>
                          </a:solidFill>
                          <a:latin typeface="微软雅黑" panose="020B0503020204020204" pitchFamily="34" charset="-122"/>
                          <a:ea typeface="微软雅黑" panose="020B0503020204020204" pitchFamily="34" charset="-122"/>
                          <a:cs typeface="+mn-ea"/>
                        </a:rPr>
                        <a:t>纯</a:t>
                      </a:r>
                      <a:r>
                        <a:rPr lang="en-US" altLang="zh-CN" sz="1200" b="0" kern="1200" dirty="0">
                          <a:solidFill>
                            <a:schemeClr val="tx1"/>
                          </a:solidFill>
                          <a:latin typeface="微软雅黑" panose="020B0503020204020204" pitchFamily="34" charset="-122"/>
                          <a:ea typeface="微软雅黑" panose="020B0503020204020204" pitchFamily="34" charset="-122"/>
                          <a:cs typeface="+mn-ea"/>
                        </a:rPr>
                        <a:t>ViT</a:t>
                      </a:r>
                      <a:endParaRPr lang="en-US" altLang="zh-CN" sz="1200" b="0" kern="1200" dirty="0">
                        <a:solidFill>
                          <a:schemeClr val="tx1"/>
                        </a:solidFill>
                        <a:latin typeface="微软雅黑" panose="020B0503020204020204" pitchFamily="34" charset="-122"/>
                        <a:ea typeface="微软雅黑" panose="020B0503020204020204" pitchFamily="34" charset="-122"/>
                        <a:cs typeface="+mn-ea"/>
                      </a:endParaRPr>
                    </a:p>
                  </a:txBody>
                  <a:tcPr marL="68580" marR="68580" marT="0" marB="0" anchor="ctr">
                    <a:lnL>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38150">
                <a:tc>
                  <a:txBody>
                    <a:bodyPr/>
                    <a:p>
                      <a:pPr indent="0" algn="ctr">
                        <a:buNone/>
                      </a:pPr>
                      <a:r>
                        <a:rPr lang="zh-CN" altLang="en-US" sz="1200" b="0" kern="1200" dirty="0">
                          <a:solidFill>
                            <a:schemeClr val="tx1"/>
                          </a:solidFill>
                          <a:latin typeface="微软雅黑" panose="020B0503020204020204" pitchFamily="34" charset="-122"/>
                          <a:ea typeface="微软雅黑" panose="020B0503020204020204" pitchFamily="34" charset="-122"/>
                          <a:cs typeface="+mn-ea"/>
                        </a:rPr>
                        <a:t>受灾区域制图</a:t>
                      </a:r>
                      <a:endParaRPr lang="zh-CN" altLang="en-US" sz="1200" b="0" kern="1200" dirty="0">
                        <a:solidFill>
                          <a:schemeClr val="tx1"/>
                        </a:solidFill>
                        <a:latin typeface="微软雅黑" panose="020B0503020204020204" pitchFamily="34" charset="-122"/>
                        <a:ea typeface="微软雅黑" panose="020B0503020204020204" pitchFamily="34" charset="-122"/>
                        <a:cs typeface="+mn-ea"/>
                      </a:endParaRPr>
                    </a:p>
                  </a:txBody>
                  <a:tcPr marL="68580" marR="68580" marT="0" marB="0" anchor="ctr">
                    <a:lnL>
                      <a:noFill/>
                    </a:lnL>
                    <a:lnR>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altLang="zh-CN" sz="1200" b="0" kern="1200" dirty="0">
                          <a:solidFill>
                            <a:schemeClr val="tx1"/>
                          </a:solidFill>
                          <a:latin typeface="微软雅黑" panose="020B0503020204020204" pitchFamily="34" charset="-122"/>
                          <a:ea typeface="微软雅黑" panose="020B0503020204020204" pitchFamily="34" charset="-122"/>
                          <a:cs typeface="+mn-ea"/>
                        </a:rPr>
                        <a:t>mIoU</a:t>
                      </a:r>
                      <a:endParaRPr lang="en-US" altLang="zh-CN" sz="1200" b="0" kern="1200" dirty="0">
                        <a:solidFill>
                          <a:schemeClr val="tx1"/>
                        </a:solidFill>
                        <a:latin typeface="微软雅黑" panose="020B0503020204020204" pitchFamily="34" charset="-122"/>
                        <a:ea typeface="微软雅黑" panose="020B0503020204020204" pitchFamily="34" charset="-122"/>
                        <a:cs typeface="+mn-ea"/>
                      </a:endParaRPr>
                    </a:p>
                  </a:txBody>
                  <a:tcPr marL="68580" marR="68580" marT="0" marB="0" anchor="ctr">
                    <a:lnL>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altLang="zh-CN" sz="1200" b="0" kern="1200" dirty="0">
                          <a:solidFill>
                            <a:schemeClr val="tx1"/>
                          </a:solidFill>
                          <a:latin typeface="微软雅黑" panose="020B0503020204020204" pitchFamily="34" charset="-122"/>
                          <a:ea typeface="微软雅黑" panose="020B0503020204020204" pitchFamily="34" charset="-122"/>
                          <a:cs typeface="+mn-ea"/>
                        </a:rPr>
                        <a:t>0.885</a:t>
                      </a:r>
                      <a:endParaRPr lang="en-US" altLang="zh-CN" sz="1200" b="0" kern="1200" dirty="0">
                        <a:solidFill>
                          <a:schemeClr val="tx1"/>
                        </a:solidFill>
                        <a:latin typeface="微软雅黑" panose="020B0503020204020204" pitchFamily="34" charset="-122"/>
                        <a:ea typeface="微软雅黑" panose="020B0503020204020204" pitchFamily="34" charset="-122"/>
                        <a:cs typeface="+mn-ea"/>
                      </a:endParaRPr>
                    </a:p>
                  </a:txBody>
                  <a:tcPr marL="68580" marR="68580" marT="0" marB="0" anchor="ctr">
                    <a:lnL>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altLang="zh-CN" sz="1200" b="0" kern="1200" dirty="0">
                          <a:solidFill>
                            <a:schemeClr val="tx1"/>
                          </a:solidFill>
                          <a:latin typeface="微软雅黑" panose="020B0503020204020204" pitchFamily="34" charset="-122"/>
                          <a:ea typeface="微软雅黑" panose="020B0503020204020204" pitchFamily="34" charset="-122"/>
                          <a:cs typeface="+mn-ea"/>
                        </a:rPr>
                        <a:t>+11.3% vs </a:t>
                      </a:r>
                      <a:r>
                        <a:rPr lang="zh-CN" altLang="en-US" sz="1200" b="0" kern="1200" dirty="0">
                          <a:solidFill>
                            <a:schemeClr val="tx1"/>
                          </a:solidFill>
                          <a:latin typeface="微软雅黑" panose="020B0503020204020204" pitchFamily="34" charset="-122"/>
                          <a:ea typeface="微软雅黑" panose="020B0503020204020204" pitchFamily="34" charset="-122"/>
                          <a:cs typeface="+mn-ea"/>
                        </a:rPr>
                        <a:t>像素差值法</a:t>
                      </a:r>
                      <a:endParaRPr lang="zh-CN" altLang="en-US" sz="1200" b="0" kern="1200" dirty="0">
                        <a:solidFill>
                          <a:schemeClr val="tx1"/>
                        </a:solidFill>
                        <a:latin typeface="微软雅黑" panose="020B0503020204020204" pitchFamily="34" charset="-122"/>
                        <a:ea typeface="微软雅黑" panose="020B0503020204020204" pitchFamily="34" charset="-122"/>
                        <a:cs typeface="+mn-ea"/>
                      </a:endParaRPr>
                    </a:p>
                  </a:txBody>
                  <a:tcPr marL="68580" marR="68580" marT="0" marB="0" anchor="ctr">
                    <a:lnL>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38150">
                <a:tc>
                  <a:txBody>
                    <a:bodyPr/>
                    <a:p>
                      <a:pPr indent="0" algn="ctr">
                        <a:buNone/>
                      </a:pPr>
                      <a:r>
                        <a:rPr lang="zh-CN" altLang="en-US" sz="1200" b="0" kern="1200" dirty="0">
                          <a:solidFill>
                            <a:schemeClr val="tx1"/>
                          </a:solidFill>
                          <a:latin typeface="微软雅黑" panose="020B0503020204020204" pitchFamily="34" charset="-122"/>
                          <a:ea typeface="微软雅黑" panose="020B0503020204020204" pitchFamily="34" charset="-122"/>
                          <a:cs typeface="+mn-ea"/>
                        </a:rPr>
                        <a:t>能源设施检测</a:t>
                      </a:r>
                      <a:endParaRPr lang="zh-CN" altLang="en-US" sz="1200" b="0" kern="1200" dirty="0">
                        <a:solidFill>
                          <a:schemeClr val="tx1"/>
                        </a:solidFill>
                        <a:latin typeface="微软雅黑" panose="020B0503020204020204" pitchFamily="34" charset="-122"/>
                        <a:ea typeface="微软雅黑" panose="020B0503020204020204" pitchFamily="34" charset="-122"/>
                        <a:cs typeface="+mn-ea"/>
                      </a:endParaRPr>
                    </a:p>
                  </a:txBody>
                  <a:tcPr marL="68580" marR="68580" marT="0" marB="0" anchor="ctr">
                    <a:lnL>
                      <a:noFill/>
                    </a:lnL>
                    <a:lnR>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altLang="zh-CN" sz="1200" b="0" kern="1200" dirty="0">
                          <a:solidFill>
                            <a:schemeClr val="tx1"/>
                          </a:solidFill>
                          <a:latin typeface="微软雅黑" panose="020B0503020204020204" pitchFamily="34" charset="-122"/>
                          <a:ea typeface="微软雅黑" panose="020B0503020204020204" pitchFamily="34" charset="-122"/>
                          <a:cs typeface="+mn-ea"/>
                        </a:rPr>
                        <a:t>mAP@0.5</a:t>
                      </a:r>
                      <a:endParaRPr lang="en-US" altLang="zh-CN" sz="1200" b="0" kern="1200" dirty="0">
                        <a:solidFill>
                          <a:schemeClr val="tx1"/>
                        </a:solidFill>
                        <a:latin typeface="微软雅黑" panose="020B0503020204020204" pitchFamily="34" charset="-122"/>
                        <a:ea typeface="微软雅黑" panose="020B0503020204020204" pitchFamily="34" charset="-122"/>
                        <a:cs typeface="+mn-ea"/>
                      </a:endParaRPr>
                    </a:p>
                  </a:txBody>
                  <a:tcPr marL="68580" marR="68580" marT="0" marB="0" anchor="ctr">
                    <a:lnL>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en-US" altLang="zh-CN" sz="1200" b="0" kern="1200" dirty="0">
                          <a:solidFill>
                            <a:schemeClr val="tx1"/>
                          </a:solidFill>
                          <a:latin typeface="微软雅黑" panose="020B0503020204020204" pitchFamily="34" charset="-122"/>
                          <a:ea typeface="微软雅黑" panose="020B0503020204020204" pitchFamily="34" charset="-122"/>
                          <a:cs typeface="+mn-ea"/>
                        </a:rPr>
                        <a:t>0.923 (</a:t>
                      </a:r>
                      <a:r>
                        <a:rPr lang="zh-CN" altLang="en-US" sz="1200" b="0" kern="1200" dirty="0">
                          <a:solidFill>
                            <a:schemeClr val="tx1"/>
                          </a:solidFill>
                          <a:latin typeface="微软雅黑" panose="020B0503020204020204" pitchFamily="34" charset="-122"/>
                          <a:ea typeface="微软雅黑" panose="020B0503020204020204" pitchFamily="34" charset="-122"/>
                          <a:cs typeface="+mn-ea"/>
                        </a:rPr>
                        <a:t>风机</a:t>
                      </a:r>
                      <a:r>
                        <a:rPr lang="en-US" altLang="zh-CN" sz="1200" b="0" kern="1200" dirty="0">
                          <a:solidFill>
                            <a:schemeClr val="tx1"/>
                          </a:solidFill>
                          <a:latin typeface="微软雅黑" panose="020B0503020204020204" pitchFamily="34" charset="-122"/>
                          <a:ea typeface="微软雅黑" panose="020B0503020204020204" pitchFamily="34" charset="-122"/>
                          <a:cs typeface="+mn-ea"/>
                        </a:rPr>
                        <a:t>) / 0.941 (</a:t>
                      </a:r>
                      <a:r>
                        <a:rPr lang="zh-CN" altLang="en-US" sz="1200" b="0" kern="1200" dirty="0">
                          <a:solidFill>
                            <a:schemeClr val="tx1"/>
                          </a:solidFill>
                          <a:latin typeface="微软雅黑" panose="020B0503020204020204" pitchFamily="34" charset="-122"/>
                          <a:ea typeface="微软雅黑" panose="020B0503020204020204" pitchFamily="34" charset="-122"/>
                          <a:cs typeface="+mn-ea"/>
                        </a:rPr>
                        <a:t>光伏</a:t>
                      </a:r>
                      <a:r>
                        <a:rPr lang="en-US" altLang="zh-CN" sz="1200" b="0" kern="1200" dirty="0">
                          <a:solidFill>
                            <a:schemeClr val="tx1"/>
                          </a:solidFill>
                          <a:latin typeface="微软雅黑" panose="020B0503020204020204" pitchFamily="34" charset="-122"/>
                          <a:ea typeface="微软雅黑" panose="020B0503020204020204" pitchFamily="34" charset="-122"/>
                          <a:cs typeface="+mn-ea"/>
                        </a:rPr>
                        <a:t>)</a:t>
                      </a:r>
                      <a:endParaRPr lang="en-US" altLang="zh-CN" sz="1200" b="0" kern="1200" dirty="0">
                        <a:solidFill>
                          <a:schemeClr val="tx1"/>
                        </a:solidFill>
                        <a:latin typeface="微软雅黑" panose="020B0503020204020204" pitchFamily="34" charset="-122"/>
                        <a:ea typeface="微软雅黑" panose="020B0503020204020204" pitchFamily="34" charset="-122"/>
                        <a:cs typeface="+mn-ea"/>
                      </a:endParaRPr>
                    </a:p>
                  </a:txBody>
                  <a:tcPr marL="68580" marR="68580" marT="0" marB="0" anchor="ctr">
                    <a:lnL>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p>
                      <a:pPr indent="0" algn="ctr">
                        <a:buNone/>
                      </a:pPr>
                      <a:r>
                        <a:rPr lang="zh-CN" altLang="en-US" sz="1200" b="0" kern="1200" dirty="0">
                          <a:solidFill>
                            <a:schemeClr val="tx1"/>
                          </a:solidFill>
                          <a:latin typeface="微软雅黑" panose="020B0503020204020204" pitchFamily="34" charset="-122"/>
                          <a:ea typeface="微软雅黑" panose="020B0503020204020204" pitchFamily="34" charset="-122"/>
                          <a:cs typeface="+mn-ea"/>
                        </a:rPr>
                        <a:t>漏检率</a:t>
                      </a:r>
                      <a:r>
                        <a:rPr lang="en-US" altLang="zh-CN" sz="1200" b="0" kern="1200" dirty="0">
                          <a:solidFill>
                            <a:schemeClr val="tx1"/>
                          </a:solidFill>
                          <a:latin typeface="微软雅黑" panose="020B0503020204020204" pitchFamily="34" charset="-122"/>
                          <a:ea typeface="微软雅黑" panose="020B0503020204020204" pitchFamily="34" charset="-122"/>
                          <a:cs typeface="+mn-ea"/>
                        </a:rPr>
                        <a:t>&lt;3.5%</a:t>
                      </a:r>
                      <a:endParaRPr lang="en-US" altLang="zh-CN" sz="1200" b="0" kern="1200" dirty="0">
                        <a:solidFill>
                          <a:schemeClr val="tx1"/>
                        </a:solidFill>
                        <a:latin typeface="微软雅黑" panose="020B0503020204020204" pitchFamily="34" charset="-122"/>
                        <a:ea typeface="微软雅黑" panose="020B0503020204020204" pitchFamily="34" charset="-122"/>
                        <a:cs typeface="+mn-ea"/>
                      </a:endParaRPr>
                    </a:p>
                  </a:txBody>
                  <a:tcPr marL="68580" marR="68580" marT="0" marB="0" anchor="ctr">
                    <a:lnL>
                      <a:noFill/>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grpSp>
        <p:nvGrpSpPr>
          <p:cNvPr id="13" name="成组"/>
          <p:cNvGrpSpPr/>
          <p:nvPr/>
        </p:nvGrpSpPr>
        <p:grpSpPr>
          <a:xfrm>
            <a:off x="6716395" y="1496060"/>
            <a:ext cx="1804670" cy="387350"/>
            <a:chOff x="-7307769" y="-149281"/>
            <a:chExt cx="3618727" cy="793514"/>
          </a:xfrm>
        </p:grpSpPr>
        <p:sp>
          <p:nvSpPr>
            <p:cNvPr id="14" name="圆角矩形"/>
            <p:cNvSpPr/>
            <p:nvPr/>
          </p:nvSpPr>
          <p:spPr>
            <a:xfrm>
              <a:off x="-7307769" y="-149281"/>
              <a:ext cx="3618727" cy="793514"/>
            </a:xfrm>
            <a:prstGeom prst="roundRect">
              <a:avLst>
                <a:gd name="adj" fmla="val 50000"/>
              </a:avLst>
            </a:prstGeom>
            <a:gradFill flip="none" rotWithShape="1">
              <a:gsLst>
                <a:gs pos="0">
                  <a:schemeClr val="tx2">
                    <a:lumMod val="10000"/>
                    <a:lumOff val="90000"/>
                  </a:schemeClr>
                </a:gs>
                <a:gs pos="67000">
                  <a:schemeClr val="tx2">
                    <a:lumMod val="75000"/>
                    <a:lumOff val="25000"/>
                  </a:schemeClr>
                </a:gs>
              </a:gsLst>
              <a:lin ang="2700000" scaled="1"/>
              <a:tileRect/>
            </a:gradFill>
            <a:ln w="12700" cap="flat" cmpd="sng" algn="ctr">
              <a:noFill/>
              <a:prstDash val="solid"/>
              <a:miter lim="800000"/>
            </a:ln>
            <a:effectLst/>
          </p:spPr>
          <p:txBody>
            <a:bodyPr rtlCol="0" anchor="ctr"/>
            <a:lstStyle/>
            <a:p>
              <a:pPr algn="ctr"/>
              <a:endParaRPr b="1" kern="0">
                <a:solidFill>
                  <a:prstClr val="white"/>
                </a:solidFill>
                <a:latin typeface="微软雅黑" panose="020B0503020204020204" pitchFamily="34" charset="-122"/>
                <a:ea typeface="微软雅黑" panose="020B0503020204020204" pitchFamily="34" charset="-122"/>
                <a:sym typeface="+mn-lt"/>
              </a:endParaRPr>
            </a:p>
          </p:txBody>
        </p:sp>
        <p:sp>
          <p:nvSpPr>
            <p:cNvPr id="27" name="云仓备货模式，农特产品保证24h内发货！"/>
            <p:cNvSpPr txBox="1"/>
            <p:nvPr/>
          </p:nvSpPr>
          <p:spPr>
            <a:xfrm>
              <a:off x="-6835372" y="-34807"/>
              <a:ext cx="2685396" cy="564566"/>
            </a:xfrm>
            <a:prstGeom prst="rect">
              <a:avLst/>
            </a:prstGeom>
            <a:noFill/>
            <a:ln w="12700" cap="flat" cmpd="sng" algn="ctr">
              <a:noFill/>
              <a:prstDash val="solid"/>
              <a:miter lim="800000"/>
            </a:ln>
            <a:effectLst/>
          </p:spPr>
          <p:txBody>
            <a:bodyPr rtlCol="0" anchor="ctr"/>
            <a:lstStyle>
              <a:defPPr>
                <a:defRPr lang="zh-CN"/>
              </a:defPPr>
              <a:lvl1pPr algn="ctr">
                <a:defRPr b="1" kern="0">
                  <a:solidFill>
                    <a:prstClr val="white"/>
                  </a:solidFill>
                  <a:latin typeface="微软雅黑" panose="020B0503020204020204" pitchFamily="34" charset="-122"/>
                  <a:ea typeface="微软雅黑" panose="020B0503020204020204" pitchFamily="34" charset="-122"/>
                </a:defRPr>
              </a:lvl1pPr>
            </a:lstStyle>
            <a:p>
              <a:r>
                <a:rPr lang="zh-CN" altLang="en-US" dirty="0">
                  <a:sym typeface="+mn-lt"/>
                </a:rPr>
                <a:t>可视化验证</a:t>
              </a:r>
              <a:endParaRPr lang="zh-CN" altLang="en-US" dirty="0">
                <a:sym typeface="+mn-lt"/>
              </a:endParaRPr>
            </a:p>
          </p:txBody>
        </p:sp>
      </p:grpSp>
      <p:sp>
        <p:nvSpPr>
          <p:cNvPr id="28" name="文本框 27"/>
          <p:cNvSpPr txBox="1"/>
          <p:nvPr/>
        </p:nvSpPr>
        <p:spPr>
          <a:xfrm>
            <a:off x="6873875" y="2059940"/>
            <a:ext cx="4079875" cy="1938020"/>
          </a:xfrm>
          <a:prstGeom prst="rect">
            <a:avLst/>
          </a:prstGeom>
          <a:noFill/>
        </p:spPr>
        <p:txBody>
          <a:bodyPr wrap="square" rtlCol="0">
            <a:spAutoFit/>
          </a:bodyPr>
          <a:p>
            <a:r>
              <a:rPr lang="en-US" altLang="zh-CN" sz="2000" b="1" noProof="0" dirty="0">
                <a:ln>
                  <a:noFill/>
                </a:ln>
                <a:effectLst/>
                <a:uLnTx/>
                <a:uFillTx/>
                <a:latin typeface="楷体" panose="02010609060101010101" charset="-122"/>
                <a:ea typeface="楷体" panose="02010609060101010101" charset="-122"/>
                <a:cs typeface="楷体" panose="02010609060101010101" charset="-122"/>
              </a:rPr>
              <a:t>·</a:t>
            </a:r>
            <a:r>
              <a:rPr lang="zh-CN" altLang="en-US" sz="2000" b="1" noProof="0" dirty="0">
                <a:ln>
                  <a:noFill/>
                </a:ln>
                <a:effectLst/>
                <a:uLnTx/>
                <a:uFillTx/>
                <a:latin typeface="楷体" panose="02010609060101010101" charset="-122"/>
                <a:ea typeface="楷体" panose="02010609060101010101" charset="-122"/>
                <a:cs typeface="楷体" panose="02010609060101010101" charset="-122"/>
              </a:rPr>
              <a:t>新疆干旱区</a:t>
            </a:r>
            <a:r>
              <a:rPr lang="zh-CN" altLang="en-US" sz="2000" noProof="0" dirty="0">
                <a:ln>
                  <a:noFill/>
                </a:ln>
                <a:effectLst/>
                <a:uLnTx/>
                <a:uFillTx/>
                <a:latin typeface="楷体" panose="02010609060101010101" charset="-122"/>
                <a:ea typeface="楷体" panose="02010609060101010101" charset="-122"/>
                <a:cs typeface="楷体" panose="02010609060101010101" charset="-122"/>
              </a:rPr>
              <a:t>：绿洲农田边界精确 + 风机高召回</a:t>
            </a:r>
            <a:endParaRPr lang="zh-CN" altLang="en-US" sz="2000" noProof="0" dirty="0">
              <a:ln>
                <a:noFill/>
              </a:ln>
              <a:effectLst/>
              <a:uLnTx/>
              <a:uFillTx/>
              <a:latin typeface="楷体" panose="02010609060101010101" charset="-122"/>
              <a:ea typeface="楷体" panose="02010609060101010101" charset="-122"/>
              <a:cs typeface="楷体" panose="02010609060101010101" charset="-122"/>
            </a:endParaRPr>
          </a:p>
          <a:p>
            <a:r>
              <a:rPr lang="en-US" altLang="zh-CN" sz="2000" b="1" noProof="0" dirty="0">
                <a:ln>
                  <a:noFill/>
                </a:ln>
                <a:effectLst/>
                <a:uLnTx/>
                <a:uFillTx/>
                <a:latin typeface="楷体" panose="02010609060101010101" charset="-122"/>
                <a:ea typeface="楷体" panose="02010609060101010101" charset="-122"/>
                <a:cs typeface="楷体" panose="02010609060101010101" charset="-122"/>
              </a:rPr>
              <a:t>·</a:t>
            </a:r>
            <a:r>
              <a:rPr lang="zh-CN" altLang="en-US" sz="2000" b="1" noProof="0" dirty="0">
                <a:ln>
                  <a:noFill/>
                </a:ln>
                <a:effectLst/>
                <a:uLnTx/>
                <a:uFillTx/>
                <a:latin typeface="楷体" panose="02010609060101010101" charset="-122"/>
                <a:ea typeface="楷体" panose="02010609060101010101" charset="-122"/>
                <a:cs typeface="楷体" panose="02010609060101010101" charset="-122"/>
              </a:rPr>
              <a:t>西藏高寒区</a:t>
            </a:r>
            <a:r>
              <a:rPr lang="zh-CN" altLang="en-US" sz="2000" noProof="0" dirty="0">
                <a:ln>
                  <a:noFill/>
                </a:ln>
                <a:effectLst/>
                <a:uLnTx/>
                <a:uFillTx/>
                <a:latin typeface="楷体" panose="02010609060101010101" charset="-122"/>
                <a:ea typeface="楷体" panose="02010609060101010101" charset="-122"/>
                <a:cs typeface="楷体" panose="02010609060101010101" charset="-122"/>
              </a:rPr>
              <a:t>：冰雪阴影下裸岩/水体无误判，泥石流边界贴合</a:t>
            </a:r>
            <a:endParaRPr lang="zh-CN" altLang="en-US" sz="2000" noProof="0" dirty="0">
              <a:ln>
                <a:noFill/>
              </a:ln>
              <a:effectLst/>
              <a:uLnTx/>
              <a:uFillTx/>
              <a:latin typeface="楷体" panose="02010609060101010101" charset="-122"/>
              <a:ea typeface="楷体" panose="02010609060101010101" charset="-122"/>
              <a:cs typeface="楷体" panose="02010609060101010101" charset="-122"/>
            </a:endParaRPr>
          </a:p>
          <a:p>
            <a:r>
              <a:rPr lang="en-US" altLang="zh-CN" sz="2000" b="1" noProof="0" dirty="0">
                <a:ln>
                  <a:noFill/>
                </a:ln>
                <a:effectLst/>
                <a:uLnTx/>
                <a:uFillTx/>
                <a:latin typeface="楷体" panose="02010609060101010101" charset="-122"/>
                <a:ea typeface="楷体" panose="02010609060101010101" charset="-122"/>
                <a:cs typeface="楷体" panose="02010609060101010101" charset="-122"/>
              </a:rPr>
              <a:t>·</a:t>
            </a:r>
            <a:r>
              <a:rPr lang="zh-CN" altLang="en-US" sz="2000" b="1" noProof="0" dirty="0">
                <a:ln>
                  <a:noFill/>
                </a:ln>
                <a:effectLst/>
                <a:uLnTx/>
                <a:uFillTx/>
                <a:latin typeface="楷体" panose="02010609060101010101" charset="-122"/>
                <a:ea typeface="楷体" panose="02010609060101010101" charset="-122"/>
                <a:cs typeface="楷体" panose="02010609060101010101" charset="-122"/>
              </a:rPr>
              <a:t>内蒙古草原</a:t>
            </a:r>
            <a:r>
              <a:rPr lang="zh-CN" altLang="en-US" sz="2000" noProof="0" dirty="0">
                <a:ln>
                  <a:noFill/>
                </a:ln>
                <a:effectLst/>
                <a:uLnTx/>
                <a:uFillTx/>
                <a:latin typeface="楷体" panose="02010609060101010101" charset="-122"/>
                <a:ea typeface="楷体" panose="02010609060101010101" charset="-122"/>
                <a:cs typeface="楷体" panose="02010609060101010101" charset="-122"/>
              </a:rPr>
              <a:t>：无监督发现非法采矿斑块</a:t>
            </a:r>
            <a:endParaRPr lang="zh-CN" altLang="en-US" sz="2000" noProof="0" dirty="0">
              <a:ln>
                <a:noFill/>
              </a:ln>
              <a:effectLst/>
              <a:uLnTx/>
              <a:uFillTx/>
              <a:latin typeface="楷体" panose="02010609060101010101" charset="-122"/>
              <a:ea typeface="楷体" panose="02010609060101010101" charset="-122"/>
              <a:cs typeface="楷体" panose="02010609060101010101" charset="-122"/>
            </a:endParaRPr>
          </a:p>
        </p:txBody>
      </p:sp>
      <p:sp>
        <p:nvSpPr>
          <p:cNvPr id="47" name="圆角矩形"/>
          <p:cNvSpPr/>
          <p:nvPr/>
        </p:nvSpPr>
        <p:spPr>
          <a:xfrm>
            <a:off x="583565" y="4489450"/>
            <a:ext cx="10944225" cy="2114550"/>
          </a:xfrm>
          <a:prstGeom prst="roundRect">
            <a:avLst>
              <a:gd name="adj" fmla="val 4384"/>
            </a:avLst>
          </a:prstGeom>
          <a:solidFill>
            <a:srgbClr val="FFFFFF"/>
          </a:solidFill>
          <a:ln w="3175">
            <a:solidFill>
              <a:srgbClr val="D6D6D6"/>
            </a:solidFill>
            <a:miter lim="400000"/>
          </a:ln>
          <a:effectLst>
            <a:outerShdw blurRad="241300" dist="61139" dir="2700000" rotWithShape="0">
              <a:schemeClr val="accent3">
                <a:lumMod val="75000"/>
                <a:alpha val="14000"/>
              </a:schemeClr>
            </a:outerShdw>
          </a:effectLst>
        </p:spPr>
        <p:txBody>
          <a:bodyPr lIns="25400" tIns="25400" rIns="25400" bIns="25400" anchor="ctr"/>
          <a:lstStyle/>
          <a:p>
            <a:pPr algn="ctr" defTabSz="412750" hangingPunct="0"/>
            <a:endParaRPr sz="1600" kern="0">
              <a:solidFill>
                <a:srgbClr val="FFFFFF"/>
              </a:solidFill>
              <a:latin typeface="Helvetica Neue Medium"/>
              <a:ea typeface="Helvetica Neue Medium"/>
              <a:cs typeface="Helvetica Neue Medium"/>
              <a:sym typeface="+mn-lt"/>
            </a:endParaRPr>
          </a:p>
        </p:txBody>
      </p:sp>
      <p:grpSp>
        <p:nvGrpSpPr>
          <p:cNvPr id="29" name="成组"/>
          <p:cNvGrpSpPr/>
          <p:nvPr/>
        </p:nvGrpSpPr>
        <p:grpSpPr>
          <a:xfrm>
            <a:off x="809625" y="5381625"/>
            <a:ext cx="2282190" cy="387350"/>
            <a:chOff x="-7307769" y="-149281"/>
            <a:chExt cx="3618727" cy="793514"/>
          </a:xfrm>
        </p:grpSpPr>
        <p:sp>
          <p:nvSpPr>
            <p:cNvPr id="32" name="圆角矩形"/>
            <p:cNvSpPr/>
            <p:nvPr/>
          </p:nvSpPr>
          <p:spPr>
            <a:xfrm>
              <a:off x="-7307769" y="-149281"/>
              <a:ext cx="3618727" cy="793514"/>
            </a:xfrm>
            <a:prstGeom prst="roundRect">
              <a:avLst>
                <a:gd name="adj" fmla="val 50000"/>
              </a:avLst>
            </a:prstGeom>
            <a:gradFill flip="none" rotWithShape="1">
              <a:gsLst>
                <a:gs pos="0">
                  <a:schemeClr val="tx2">
                    <a:lumMod val="10000"/>
                    <a:lumOff val="90000"/>
                  </a:schemeClr>
                </a:gs>
                <a:gs pos="67000">
                  <a:schemeClr val="tx2">
                    <a:lumMod val="75000"/>
                    <a:lumOff val="25000"/>
                  </a:schemeClr>
                </a:gs>
              </a:gsLst>
              <a:lin ang="2700000" scaled="1"/>
              <a:tileRect/>
            </a:gradFill>
            <a:ln w="12700" cap="flat" cmpd="sng" algn="ctr">
              <a:noFill/>
              <a:prstDash val="solid"/>
              <a:miter lim="800000"/>
            </a:ln>
            <a:effectLst/>
          </p:spPr>
          <p:txBody>
            <a:bodyPr rtlCol="0" anchor="ctr"/>
            <a:lstStyle/>
            <a:p>
              <a:pPr algn="ctr"/>
              <a:endParaRPr b="1" kern="0">
                <a:solidFill>
                  <a:prstClr val="white"/>
                </a:solidFill>
                <a:latin typeface="微软雅黑" panose="020B0503020204020204" pitchFamily="34" charset="-122"/>
                <a:ea typeface="微软雅黑" panose="020B0503020204020204" pitchFamily="34" charset="-122"/>
                <a:sym typeface="+mn-lt"/>
              </a:endParaRPr>
            </a:p>
          </p:txBody>
        </p:sp>
        <p:sp>
          <p:nvSpPr>
            <p:cNvPr id="33" name="云仓备货模式，农特产品保证24h内发货！"/>
            <p:cNvSpPr txBox="1"/>
            <p:nvPr/>
          </p:nvSpPr>
          <p:spPr>
            <a:xfrm>
              <a:off x="-7191978" y="-56921"/>
              <a:ext cx="3435475" cy="564566"/>
            </a:xfrm>
            <a:prstGeom prst="rect">
              <a:avLst/>
            </a:prstGeom>
            <a:noFill/>
            <a:ln w="12700" cap="flat" cmpd="sng" algn="ctr">
              <a:noFill/>
              <a:prstDash val="solid"/>
              <a:miter lim="800000"/>
            </a:ln>
            <a:effectLst/>
          </p:spPr>
          <p:txBody>
            <a:bodyPr rtlCol="0" anchor="ctr"/>
            <a:lstStyle>
              <a:defPPr>
                <a:defRPr lang="zh-CN"/>
              </a:defPPr>
              <a:lvl1pPr algn="ctr">
                <a:defRPr b="1" kern="0">
                  <a:solidFill>
                    <a:prstClr val="white"/>
                  </a:solidFill>
                  <a:latin typeface="微软雅黑" panose="020B0503020204020204" pitchFamily="34" charset="-122"/>
                  <a:ea typeface="微软雅黑" panose="020B0503020204020204" pitchFamily="34" charset="-122"/>
                </a:defRPr>
              </a:lvl1pPr>
            </a:lstStyle>
            <a:p>
              <a:r>
                <a:rPr lang="zh-CN" altLang="en-US">
                  <a:sym typeface="+mn-ea"/>
                </a:rPr>
                <a:t>抗干扰鲁棒性</a:t>
              </a:r>
              <a:endParaRPr lang="zh-CN" altLang="en-US" dirty="0">
                <a:sym typeface="+mn-lt"/>
              </a:endParaRPr>
            </a:p>
          </p:txBody>
        </p:sp>
      </p:grpSp>
      <p:sp>
        <p:nvSpPr>
          <p:cNvPr id="35" name="文本框 34"/>
          <p:cNvSpPr txBox="1"/>
          <p:nvPr/>
        </p:nvSpPr>
        <p:spPr>
          <a:xfrm>
            <a:off x="3285490" y="4642485"/>
            <a:ext cx="7382510" cy="1215390"/>
          </a:xfrm>
          <a:prstGeom prst="rect">
            <a:avLst/>
          </a:prstGeom>
          <a:noFill/>
        </p:spPr>
        <p:txBody>
          <a:bodyPr wrap="square" rtlCol="0">
            <a:noAutofit/>
          </a:bodyPr>
          <a:p>
            <a:pPr indent="0" fontAlgn="auto">
              <a:lnSpc>
                <a:spcPct val="150000"/>
              </a:lnSpc>
            </a:pPr>
            <a:r>
              <a:rPr lang="zh-CN" altLang="en-US" sz="2000" b="1">
                <a:latin typeface="楷体" panose="02010609060101010101" charset="-122"/>
                <a:ea typeface="楷体" panose="02010609060101010101" charset="-122"/>
                <a:cs typeface="楷体" panose="02010609060101010101" charset="-122"/>
              </a:rPr>
              <a:t>云雪遮挡测试（</a:t>
            </a:r>
            <a:r>
              <a:rPr lang="en-US" altLang="zh-CN" sz="2000" b="1">
                <a:latin typeface="楷体" panose="02010609060101010101" charset="-122"/>
                <a:ea typeface="楷体" panose="02010609060101010101" charset="-122"/>
                <a:cs typeface="楷体" panose="02010609060101010101" charset="-122"/>
              </a:rPr>
              <a:t>20%</a:t>
            </a:r>
            <a:r>
              <a:rPr lang="zh-CN" altLang="en-US" sz="2000" b="1">
                <a:latin typeface="楷体" panose="02010609060101010101" charset="-122"/>
                <a:ea typeface="楷体" panose="02010609060101010101" charset="-122"/>
                <a:cs typeface="楷体" panose="02010609060101010101" charset="-122"/>
              </a:rPr>
              <a:t>透明度）</a:t>
            </a:r>
            <a:r>
              <a:rPr lang="zh-CN" altLang="en-US" sz="2000">
                <a:latin typeface="楷体" panose="02010609060101010101" charset="-122"/>
                <a:ea typeface="楷体" panose="02010609060101010101" charset="-122"/>
                <a:cs typeface="楷体" panose="02010609060101010101" charset="-122"/>
              </a:rPr>
              <a:t>：</a:t>
            </a:r>
            <a:r>
              <a:rPr lang="en-US" altLang="zh-CN" sz="2000">
                <a:latin typeface="楷体" panose="02010609060101010101" charset="-122"/>
                <a:ea typeface="楷体" panose="02010609060101010101" charset="-122"/>
                <a:cs typeface="楷体" panose="02010609060101010101" charset="-122"/>
              </a:rPr>
              <a:t>mIoU</a:t>
            </a:r>
            <a:r>
              <a:rPr lang="zh-CN" altLang="en-US" sz="2000">
                <a:latin typeface="楷体" panose="02010609060101010101" charset="-122"/>
                <a:ea typeface="楷体" panose="02010609060101010101" charset="-122"/>
                <a:cs typeface="楷体" panose="02010609060101010101" charset="-122"/>
              </a:rPr>
              <a:t>仅下降</a:t>
            </a:r>
            <a:r>
              <a:rPr lang="en-US" altLang="zh-CN" sz="2000">
                <a:latin typeface="楷体" panose="02010609060101010101" charset="-122"/>
                <a:ea typeface="楷体" panose="02010609060101010101" charset="-122"/>
                <a:cs typeface="楷体" panose="02010609060101010101" charset="-122"/>
              </a:rPr>
              <a:t>3.2%</a:t>
            </a:r>
            <a:r>
              <a:rPr lang="zh-CN" altLang="en-US" sz="2000">
                <a:latin typeface="楷体" panose="02010609060101010101" charset="-122"/>
                <a:ea typeface="楷体" panose="02010609060101010101" charset="-122"/>
                <a:cs typeface="楷体" panose="02010609060101010101" charset="-122"/>
              </a:rPr>
              <a:t>（基线下降</a:t>
            </a:r>
            <a:r>
              <a:rPr lang="en-US" altLang="zh-CN" sz="2000">
                <a:latin typeface="楷体" panose="02010609060101010101" charset="-122"/>
                <a:ea typeface="楷体" panose="02010609060101010101" charset="-122"/>
                <a:cs typeface="楷体" panose="02010609060101010101" charset="-122"/>
              </a:rPr>
              <a:t>11.5%</a:t>
            </a:r>
            <a:r>
              <a:rPr lang="zh-CN" altLang="en-US" sz="2000">
                <a:latin typeface="楷体" panose="02010609060101010101" charset="-122"/>
                <a:ea typeface="楷体" panose="02010609060101010101" charset="-122"/>
                <a:cs typeface="楷体" panose="02010609060101010101" charset="-122"/>
              </a:rPr>
              <a:t>）</a:t>
            </a:r>
            <a:endParaRPr lang="en-US" altLang="zh-CN" sz="2000">
              <a:latin typeface="楷体" panose="02010609060101010101" charset="-122"/>
              <a:ea typeface="楷体" panose="02010609060101010101" charset="-122"/>
              <a:cs typeface="楷体" panose="02010609060101010101" charset="-122"/>
            </a:endParaRPr>
          </a:p>
          <a:p>
            <a:pPr indent="0" fontAlgn="auto">
              <a:lnSpc>
                <a:spcPct val="150000"/>
              </a:lnSpc>
            </a:pPr>
            <a:r>
              <a:rPr lang="zh-CN" altLang="en-US" sz="2000" b="1">
                <a:latin typeface="楷体" panose="02010609060101010101" charset="-122"/>
                <a:ea typeface="楷体" panose="02010609060101010101" charset="-122"/>
                <a:cs typeface="楷体" panose="02010609060101010101" charset="-122"/>
              </a:rPr>
              <a:t>跨传感器盲测：</a:t>
            </a:r>
            <a:r>
              <a:rPr lang="zh-CN" altLang="en-US" sz="2000">
                <a:latin typeface="楷体" panose="02010609060101010101" charset="-122"/>
                <a:ea typeface="楷体" panose="02010609060101010101" charset="-122"/>
                <a:cs typeface="楷体" panose="02010609060101010101" charset="-122"/>
              </a:rPr>
              <a:t>表现出优异的辐射不变性，各类别的预测召回率波动控制在</a:t>
            </a:r>
            <a:r>
              <a:rPr lang="en-US" altLang="zh-CN" sz="2000">
                <a:latin typeface="楷体" panose="02010609060101010101" charset="-122"/>
                <a:ea typeface="楷体" panose="02010609060101010101" charset="-122"/>
                <a:cs typeface="楷体" panose="02010609060101010101" charset="-122"/>
              </a:rPr>
              <a:t>4%</a:t>
            </a:r>
            <a:r>
              <a:rPr lang="zh-CN" altLang="en-US" sz="2000">
                <a:latin typeface="楷体" panose="02010609060101010101" charset="-122"/>
                <a:ea typeface="楷体" panose="02010609060101010101" charset="-122"/>
                <a:cs typeface="楷体" panose="02010609060101010101" charset="-122"/>
              </a:rPr>
              <a:t>以内</a:t>
            </a:r>
            <a:endParaRPr lang="zh-CN" altLang="en-US" sz="2000">
              <a:latin typeface="楷体" panose="02010609060101010101" charset="-122"/>
              <a:ea typeface="楷体" panose="02010609060101010101" charset="-122"/>
              <a:cs typeface="楷体" panose="02010609060101010101" charset="-122"/>
            </a:endParaRPr>
          </a:p>
          <a:p>
            <a:pPr indent="0" fontAlgn="auto">
              <a:lnSpc>
                <a:spcPct val="150000"/>
              </a:lnSpc>
            </a:pPr>
            <a:r>
              <a:rPr lang="zh-CN" altLang="en-US" sz="2000" b="1">
                <a:latin typeface="楷体" panose="02010609060101010101" charset="-122"/>
                <a:ea typeface="楷体" panose="02010609060101010101" charset="-122"/>
                <a:cs typeface="楷体" panose="02010609060101010101" charset="-122"/>
              </a:rPr>
              <a:t>长尾分布应对：</a:t>
            </a:r>
            <a:r>
              <a:rPr lang="zh-CN" altLang="en-US" sz="2000">
                <a:latin typeface="楷体" panose="02010609060101010101" charset="-122"/>
                <a:ea typeface="楷体" panose="02010609060101010101" charset="-122"/>
                <a:cs typeface="楷体" panose="02010609060101010101" charset="-122"/>
              </a:rPr>
              <a:t>稀有滑坡</a:t>
            </a:r>
            <a:r>
              <a:rPr lang="en-US" altLang="zh-CN" sz="2000">
                <a:latin typeface="楷体" panose="02010609060101010101" charset="-122"/>
                <a:ea typeface="楷体" panose="02010609060101010101" charset="-122"/>
                <a:cs typeface="楷体" panose="02010609060101010101" charset="-122"/>
              </a:rPr>
              <a:t>/</a:t>
            </a:r>
            <a:r>
              <a:rPr lang="zh-CN" altLang="en-US" sz="2000">
                <a:latin typeface="楷体" panose="02010609060101010101" charset="-122"/>
                <a:ea typeface="楷体" panose="02010609060101010101" charset="-122"/>
                <a:cs typeface="楷体" panose="02010609060101010101" charset="-122"/>
              </a:rPr>
              <a:t>设施故障样本</a:t>
            </a:r>
            <a:r>
              <a:rPr lang="en-US" altLang="zh-CN" sz="2000">
                <a:latin typeface="楷体" panose="02010609060101010101" charset="-122"/>
                <a:ea typeface="楷体" panose="02010609060101010101" charset="-122"/>
                <a:cs typeface="楷体" panose="02010609060101010101" charset="-122"/>
              </a:rPr>
              <a:t>F1&gt;0.85</a:t>
            </a:r>
            <a:endParaRPr lang="en-US" altLang="zh-CN" sz="2000">
              <a:latin typeface="楷体" panose="02010609060101010101" charset="-122"/>
              <a:ea typeface="楷体" panose="02010609060101010101" charset="-122"/>
              <a:cs typeface="楷体" panose="02010609060101010101" charset="-122"/>
            </a:endParaRPr>
          </a:p>
        </p:txBody>
      </p:sp>
      <p:sp>
        <p:nvSpPr>
          <p:cNvPr id="36" name="文本框 35"/>
          <p:cNvSpPr txBox="1"/>
          <p:nvPr/>
        </p:nvSpPr>
        <p:spPr>
          <a:xfrm>
            <a:off x="3972560" y="770255"/>
            <a:ext cx="6527165" cy="645160"/>
          </a:xfrm>
          <a:prstGeom prst="rect">
            <a:avLst/>
          </a:prstGeom>
          <a:noFill/>
        </p:spPr>
        <p:txBody>
          <a:bodyPr wrap="square" rtlCol="0">
            <a:spAutoFit/>
          </a:bodyPr>
          <a:p>
            <a:r>
              <a:rPr lang="zh-CN" altLang="en-US"/>
              <a:t>模型跨区域迁移时精度轻微下降，通过</a:t>
            </a:r>
            <a:r>
              <a:rPr lang="en-US" altLang="zh-CN"/>
              <a:t>ADR-SSA</a:t>
            </a:r>
            <a:r>
              <a:rPr lang="zh-CN" altLang="en-US"/>
              <a:t>仅需</a:t>
            </a:r>
            <a:r>
              <a:rPr lang="en-US" altLang="zh-CN"/>
              <a:t>5</a:t>
            </a:r>
            <a:r>
              <a:rPr lang="zh-CN" altLang="en-US"/>
              <a:t>个世代无监督微调即可快速恢复，展现了</a:t>
            </a:r>
            <a:r>
              <a:rPr lang="zh-CN" altLang="en-US" b="1"/>
              <a:t>优异的泛化与自适应能力</a:t>
            </a:r>
            <a:r>
              <a:rPr lang="zh-CN" altLang="en-US"/>
              <a:t>。</a:t>
            </a:r>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图片 19"/>
          <p:cNvPicPr>
            <a:picLocks noChangeAspect="1"/>
          </p:cNvPicPr>
          <p:nvPr/>
        </p:nvPicPr>
        <p:blipFill rotWithShape="1">
          <a:blip r:embed="rId1"/>
          <a:srcRect l="22337" t="1288"/>
          <a:stretch>
            <a:fillRect/>
          </a:stretch>
        </p:blipFill>
        <p:spPr>
          <a:xfrm flipH="1">
            <a:off x="-1" y="-1"/>
            <a:ext cx="12191999" cy="733425"/>
          </a:xfrm>
          <a:custGeom>
            <a:avLst/>
            <a:gdLst>
              <a:gd name="connsiteX0" fmla="*/ 8756888 w 8756888"/>
              <a:gd name="connsiteY0" fmla="*/ 0 h 6857999"/>
              <a:gd name="connsiteX1" fmla="*/ 0 w 8756888"/>
              <a:gd name="connsiteY1" fmla="*/ 0 h 6857999"/>
              <a:gd name="connsiteX2" fmla="*/ 0 w 8756888"/>
              <a:gd name="connsiteY2" fmla="*/ 6857999 h 6857999"/>
              <a:gd name="connsiteX3" fmla="*/ 8756888 w 8756888"/>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8756888" h="6857999">
                <a:moveTo>
                  <a:pt x="8756888" y="0"/>
                </a:moveTo>
                <a:lnTo>
                  <a:pt x="0" y="0"/>
                </a:lnTo>
                <a:lnTo>
                  <a:pt x="0" y="6857999"/>
                </a:lnTo>
                <a:lnTo>
                  <a:pt x="8756888" y="6857999"/>
                </a:lnTo>
                <a:close/>
              </a:path>
            </a:pathLst>
          </a:custGeom>
        </p:spPr>
      </p:pic>
      <p:sp>
        <p:nvSpPr>
          <p:cNvPr id="3" name="平行四边形 2"/>
          <p:cNvSpPr/>
          <p:nvPr/>
        </p:nvSpPr>
        <p:spPr>
          <a:xfrm flipH="1">
            <a:off x="4043389" y="117986"/>
            <a:ext cx="1319982" cy="501446"/>
          </a:xfrm>
          <a:prstGeom prst="parallelogram">
            <a:avLst/>
          </a:prstGeom>
          <a:no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4" name="平行四边形 3"/>
          <p:cNvSpPr/>
          <p:nvPr/>
        </p:nvSpPr>
        <p:spPr>
          <a:xfrm flipH="1">
            <a:off x="5396322" y="108154"/>
            <a:ext cx="1319982" cy="501446"/>
          </a:xfrm>
          <a:prstGeom prst="parallelogram">
            <a:avLst/>
          </a:prstGeom>
          <a:no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6" name="平行四边形 5"/>
          <p:cNvSpPr/>
          <p:nvPr/>
        </p:nvSpPr>
        <p:spPr>
          <a:xfrm flipH="1">
            <a:off x="8089952" y="108154"/>
            <a:ext cx="1319982" cy="501446"/>
          </a:xfrm>
          <a:prstGeom prst="parallelogram">
            <a:avLst/>
          </a:prstGeom>
          <a:no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7" name="平行四边形 6"/>
          <p:cNvSpPr/>
          <p:nvPr/>
        </p:nvSpPr>
        <p:spPr>
          <a:xfrm flipH="1">
            <a:off x="9442885" y="117986"/>
            <a:ext cx="1319982" cy="501446"/>
          </a:xfrm>
          <a:prstGeom prst="parallelogram">
            <a:avLst/>
          </a:prstGeom>
          <a:no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9" name="文本框 8"/>
          <p:cNvSpPr txBox="1"/>
          <p:nvPr/>
        </p:nvSpPr>
        <p:spPr>
          <a:xfrm>
            <a:off x="4184520" y="186216"/>
            <a:ext cx="1037720"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方案设计</a:t>
            </a:r>
            <a:endParaRPr lang="zh-CN" altLang="en-US" sz="1600" dirty="0">
              <a:solidFill>
                <a:schemeClr val="bg1"/>
              </a:solidFill>
              <a:latin typeface="思源黑体" panose="020B0800000000000000" pitchFamily="34" charset="-122"/>
              <a:ea typeface="思源黑体" panose="020B0800000000000000" pitchFamily="34" charset="-122"/>
            </a:endParaRPr>
          </a:p>
        </p:txBody>
      </p:sp>
      <p:sp>
        <p:nvSpPr>
          <p:cNvPr id="10" name="文本框 9"/>
          <p:cNvSpPr txBox="1"/>
          <p:nvPr/>
        </p:nvSpPr>
        <p:spPr>
          <a:xfrm>
            <a:off x="5533553" y="196641"/>
            <a:ext cx="1070927"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核心技术</a:t>
            </a:r>
            <a:endParaRPr lang="zh-CN" altLang="en-US" sz="1600" dirty="0">
              <a:solidFill>
                <a:schemeClr val="bg1"/>
              </a:solidFill>
              <a:latin typeface="思源黑体" panose="020B0800000000000000" pitchFamily="34" charset="-122"/>
              <a:ea typeface="思源黑体" panose="020B0800000000000000" pitchFamily="34" charset="-122"/>
            </a:endParaRPr>
          </a:p>
        </p:txBody>
      </p:sp>
      <p:sp>
        <p:nvSpPr>
          <p:cNvPr id="16" name="文本框 15"/>
          <p:cNvSpPr txBox="1"/>
          <p:nvPr/>
        </p:nvSpPr>
        <p:spPr>
          <a:xfrm>
            <a:off x="8230827" y="189600"/>
            <a:ext cx="1070927"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社会价值</a:t>
            </a:r>
            <a:endParaRPr lang="zh-CN" altLang="en-US" sz="1600" dirty="0">
              <a:solidFill>
                <a:schemeClr val="bg1"/>
              </a:solidFill>
              <a:latin typeface="思源黑体" panose="020B0800000000000000" pitchFamily="34" charset="-122"/>
              <a:ea typeface="思源黑体" panose="020B0800000000000000" pitchFamily="34" charset="-122"/>
            </a:endParaRPr>
          </a:p>
        </p:txBody>
      </p:sp>
      <p:sp>
        <p:nvSpPr>
          <p:cNvPr id="17" name="文本框 16"/>
          <p:cNvSpPr txBox="1"/>
          <p:nvPr/>
        </p:nvSpPr>
        <p:spPr>
          <a:xfrm>
            <a:off x="9605816" y="186216"/>
            <a:ext cx="1079229"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团队介绍</a:t>
            </a:r>
            <a:endParaRPr lang="zh-CN" altLang="en-US" sz="1600" dirty="0">
              <a:solidFill>
                <a:schemeClr val="bg1"/>
              </a:solidFill>
              <a:latin typeface="思源黑体" panose="020B0800000000000000" pitchFamily="34" charset="-122"/>
              <a:ea typeface="思源黑体" panose="020B0800000000000000" pitchFamily="34" charset="-122"/>
            </a:endParaRPr>
          </a:p>
        </p:txBody>
      </p:sp>
      <p:sp>
        <p:nvSpPr>
          <p:cNvPr id="18" name="平行四边形 17"/>
          <p:cNvSpPr/>
          <p:nvPr/>
        </p:nvSpPr>
        <p:spPr>
          <a:xfrm flipH="1">
            <a:off x="10795818" y="117986"/>
            <a:ext cx="1319982" cy="501446"/>
          </a:xfrm>
          <a:prstGeom prst="parallelogram">
            <a:avLst/>
          </a:prstGeom>
          <a:no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19" name="文本框 18"/>
          <p:cNvSpPr txBox="1"/>
          <p:nvPr/>
        </p:nvSpPr>
        <p:spPr>
          <a:xfrm>
            <a:off x="10953551" y="189600"/>
            <a:ext cx="1004516"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未来展望</a:t>
            </a:r>
            <a:endParaRPr lang="zh-CN" altLang="en-US" sz="1600" dirty="0">
              <a:solidFill>
                <a:schemeClr val="bg1"/>
              </a:solidFill>
              <a:latin typeface="思源黑体" panose="020B0800000000000000" pitchFamily="34" charset="-122"/>
              <a:ea typeface="思源黑体" panose="020B0800000000000000" pitchFamily="34" charset="-122"/>
            </a:endParaRPr>
          </a:p>
        </p:txBody>
      </p:sp>
      <p:grpSp>
        <p:nvGrpSpPr>
          <p:cNvPr id="23" name="组合 22"/>
          <p:cNvGrpSpPr/>
          <p:nvPr/>
        </p:nvGrpSpPr>
        <p:grpSpPr>
          <a:xfrm>
            <a:off x="198553" y="-113494"/>
            <a:ext cx="2214880" cy="732926"/>
            <a:chOff x="565150" y="86699"/>
            <a:chExt cx="2214880" cy="732926"/>
          </a:xfrm>
        </p:grpSpPr>
        <p:sp>
          <p:nvSpPr>
            <p:cNvPr id="24" name="文本框 23"/>
            <p:cNvSpPr txBox="1"/>
            <p:nvPr/>
          </p:nvSpPr>
          <p:spPr>
            <a:xfrm>
              <a:off x="565150" y="86699"/>
              <a:ext cx="2214880" cy="7067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0" normalizeH="0" baseline="0" noProof="0" dirty="0">
                  <a:ln>
                    <a:noFill/>
                  </a:ln>
                  <a:solidFill>
                    <a:schemeClr val="bg1"/>
                  </a:solidFill>
                  <a:effectLst/>
                  <a:uLnTx/>
                  <a:uFillTx/>
                  <a:latin typeface="隶书" panose="02010509060101010101" pitchFamily="49" charset="-122"/>
                  <a:ea typeface="隶书" panose="02010509060101010101" pitchFamily="49" charset="-122"/>
                  <a:cs typeface="+mn-cs"/>
                </a:rPr>
                <a:t>项目应用</a:t>
              </a:r>
              <a:endParaRPr kumimoji="0" lang="zh-CN" altLang="en-US" sz="4000" b="0" i="0" u="none" strike="noStrike" kern="1200" cap="none" spc="0" normalizeH="0" baseline="0" noProof="0" dirty="0">
                <a:ln>
                  <a:noFill/>
                </a:ln>
                <a:solidFill>
                  <a:schemeClr val="bg1"/>
                </a:solidFill>
                <a:effectLst/>
                <a:uLnTx/>
                <a:uFillTx/>
                <a:latin typeface="隶书" panose="02010509060101010101" pitchFamily="49" charset="-122"/>
                <a:ea typeface="隶书" panose="02010509060101010101" pitchFamily="49" charset="-122"/>
                <a:cs typeface="+mn-cs"/>
              </a:endParaRPr>
            </a:p>
          </p:txBody>
        </p:sp>
        <p:cxnSp>
          <p:nvCxnSpPr>
            <p:cNvPr id="25" name="直接连接符 24"/>
            <p:cNvCxnSpPr/>
            <p:nvPr/>
          </p:nvCxnSpPr>
          <p:spPr>
            <a:xfrm>
              <a:off x="678180" y="728663"/>
              <a:ext cx="202692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6" name="任意多边形: 形状 25"/>
            <p:cNvSpPr/>
            <p:nvPr/>
          </p:nvSpPr>
          <p:spPr>
            <a:xfrm>
              <a:off x="678179" y="773906"/>
              <a:ext cx="2026920" cy="45719"/>
            </a:xfrm>
            <a:custGeom>
              <a:avLst/>
              <a:gdLst>
                <a:gd name="connsiteX0" fmla="*/ 1978819 w 2026920"/>
                <a:gd name="connsiteY0" fmla="*/ 0 h 45719"/>
                <a:gd name="connsiteX1" fmla="*/ 2026920 w 2026920"/>
                <a:gd name="connsiteY1" fmla="*/ 0 h 45719"/>
                <a:gd name="connsiteX2" fmla="*/ 2026920 w 2026920"/>
                <a:gd name="connsiteY2" fmla="*/ 45719 h 45719"/>
                <a:gd name="connsiteX3" fmla="*/ 1978819 w 2026920"/>
                <a:gd name="connsiteY3" fmla="*/ 45719 h 45719"/>
                <a:gd name="connsiteX4" fmla="*/ 1887560 w 2026920"/>
                <a:gd name="connsiteY4" fmla="*/ 0 h 45719"/>
                <a:gd name="connsiteX5" fmla="*/ 1935661 w 2026920"/>
                <a:gd name="connsiteY5" fmla="*/ 0 h 45719"/>
                <a:gd name="connsiteX6" fmla="*/ 1935661 w 2026920"/>
                <a:gd name="connsiteY6" fmla="*/ 45719 h 45719"/>
                <a:gd name="connsiteX7" fmla="*/ 1887560 w 2026920"/>
                <a:gd name="connsiteY7" fmla="*/ 45719 h 45719"/>
                <a:gd name="connsiteX8" fmla="*/ 1796302 w 2026920"/>
                <a:gd name="connsiteY8" fmla="*/ 0 h 45719"/>
                <a:gd name="connsiteX9" fmla="*/ 1844403 w 2026920"/>
                <a:gd name="connsiteY9" fmla="*/ 0 h 45719"/>
                <a:gd name="connsiteX10" fmla="*/ 1844403 w 2026920"/>
                <a:gd name="connsiteY10" fmla="*/ 45719 h 45719"/>
                <a:gd name="connsiteX11" fmla="*/ 1796302 w 2026920"/>
                <a:gd name="connsiteY11" fmla="*/ 45719 h 45719"/>
                <a:gd name="connsiteX12" fmla="*/ 1705043 w 2026920"/>
                <a:gd name="connsiteY12" fmla="*/ 0 h 45719"/>
                <a:gd name="connsiteX13" fmla="*/ 1753144 w 2026920"/>
                <a:gd name="connsiteY13" fmla="*/ 0 h 45719"/>
                <a:gd name="connsiteX14" fmla="*/ 1753144 w 2026920"/>
                <a:gd name="connsiteY14" fmla="*/ 45719 h 45719"/>
                <a:gd name="connsiteX15" fmla="*/ 1705043 w 2026920"/>
                <a:gd name="connsiteY15" fmla="*/ 45719 h 45719"/>
                <a:gd name="connsiteX16" fmla="*/ 1613785 w 2026920"/>
                <a:gd name="connsiteY16" fmla="*/ 0 h 45719"/>
                <a:gd name="connsiteX17" fmla="*/ 1661886 w 2026920"/>
                <a:gd name="connsiteY17" fmla="*/ 0 h 45719"/>
                <a:gd name="connsiteX18" fmla="*/ 1661886 w 2026920"/>
                <a:gd name="connsiteY18" fmla="*/ 45719 h 45719"/>
                <a:gd name="connsiteX19" fmla="*/ 1613785 w 2026920"/>
                <a:gd name="connsiteY19" fmla="*/ 45719 h 45719"/>
                <a:gd name="connsiteX20" fmla="*/ 1522526 w 2026920"/>
                <a:gd name="connsiteY20" fmla="*/ 0 h 45719"/>
                <a:gd name="connsiteX21" fmla="*/ 1570627 w 2026920"/>
                <a:gd name="connsiteY21" fmla="*/ 0 h 45719"/>
                <a:gd name="connsiteX22" fmla="*/ 1570627 w 2026920"/>
                <a:gd name="connsiteY22" fmla="*/ 45719 h 45719"/>
                <a:gd name="connsiteX23" fmla="*/ 1522526 w 2026920"/>
                <a:gd name="connsiteY23" fmla="*/ 45719 h 45719"/>
                <a:gd name="connsiteX24" fmla="*/ 1431267 w 2026920"/>
                <a:gd name="connsiteY24" fmla="*/ 0 h 45719"/>
                <a:gd name="connsiteX25" fmla="*/ 1479368 w 2026920"/>
                <a:gd name="connsiteY25" fmla="*/ 0 h 45719"/>
                <a:gd name="connsiteX26" fmla="*/ 1479368 w 2026920"/>
                <a:gd name="connsiteY26" fmla="*/ 45719 h 45719"/>
                <a:gd name="connsiteX27" fmla="*/ 1431267 w 2026920"/>
                <a:gd name="connsiteY27" fmla="*/ 45719 h 45719"/>
                <a:gd name="connsiteX28" fmla="*/ 1340009 w 2026920"/>
                <a:gd name="connsiteY28" fmla="*/ 0 h 45719"/>
                <a:gd name="connsiteX29" fmla="*/ 1388110 w 2026920"/>
                <a:gd name="connsiteY29" fmla="*/ 0 h 45719"/>
                <a:gd name="connsiteX30" fmla="*/ 1388110 w 2026920"/>
                <a:gd name="connsiteY30" fmla="*/ 45719 h 45719"/>
                <a:gd name="connsiteX31" fmla="*/ 1340009 w 2026920"/>
                <a:gd name="connsiteY31" fmla="*/ 45719 h 45719"/>
                <a:gd name="connsiteX32" fmla="*/ 1248750 w 2026920"/>
                <a:gd name="connsiteY32" fmla="*/ 0 h 45719"/>
                <a:gd name="connsiteX33" fmla="*/ 1296851 w 2026920"/>
                <a:gd name="connsiteY33" fmla="*/ 0 h 45719"/>
                <a:gd name="connsiteX34" fmla="*/ 1296851 w 2026920"/>
                <a:gd name="connsiteY34" fmla="*/ 45719 h 45719"/>
                <a:gd name="connsiteX35" fmla="*/ 1248750 w 2026920"/>
                <a:gd name="connsiteY35" fmla="*/ 45719 h 45719"/>
                <a:gd name="connsiteX36" fmla="*/ 1157491 w 2026920"/>
                <a:gd name="connsiteY36" fmla="*/ 0 h 45719"/>
                <a:gd name="connsiteX37" fmla="*/ 1205592 w 2026920"/>
                <a:gd name="connsiteY37" fmla="*/ 0 h 45719"/>
                <a:gd name="connsiteX38" fmla="*/ 1205592 w 2026920"/>
                <a:gd name="connsiteY38" fmla="*/ 45719 h 45719"/>
                <a:gd name="connsiteX39" fmla="*/ 1157491 w 2026920"/>
                <a:gd name="connsiteY39" fmla="*/ 45719 h 45719"/>
                <a:gd name="connsiteX40" fmla="*/ 1066233 w 2026920"/>
                <a:gd name="connsiteY40" fmla="*/ 0 h 45719"/>
                <a:gd name="connsiteX41" fmla="*/ 1114334 w 2026920"/>
                <a:gd name="connsiteY41" fmla="*/ 0 h 45719"/>
                <a:gd name="connsiteX42" fmla="*/ 1114334 w 2026920"/>
                <a:gd name="connsiteY42" fmla="*/ 45719 h 45719"/>
                <a:gd name="connsiteX43" fmla="*/ 1066233 w 2026920"/>
                <a:gd name="connsiteY43" fmla="*/ 45719 h 45719"/>
                <a:gd name="connsiteX44" fmla="*/ 974974 w 2026920"/>
                <a:gd name="connsiteY44" fmla="*/ 0 h 45719"/>
                <a:gd name="connsiteX45" fmla="*/ 1023075 w 2026920"/>
                <a:gd name="connsiteY45" fmla="*/ 0 h 45719"/>
                <a:gd name="connsiteX46" fmla="*/ 1023075 w 2026920"/>
                <a:gd name="connsiteY46" fmla="*/ 45719 h 45719"/>
                <a:gd name="connsiteX47" fmla="*/ 974974 w 2026920"/>
                <a:gd name="connsiteY47" fmla="*/ 45719 h 45719"/>
                <a:gd name="connsiteX48" fmla="*/ 883716 w 2026920"/>
                <a:gd name="connsiteY48" fmla="*/ 0 h 45719"/>
                <a:gd name="connsiteX49" fmla="*/ 931817 w 2026920"/>
                <a:gd name="connsiteY49" fmla="*/ 0 h 45719"/>
                <a:gd name="connsiteX50" fmla="*/ 931817 w 2026920"/>
                <a:gd name="connsiteY50" fmla="*/ 45719 h 45719"/>
                <a:gd name="connsiteX51" fmla="*/ 883716 w 2026920"/>
                <a:gd name="connsiteY51" fmla="*/ 45719 h 45719"/>
                <a:gd name="connsiteX52" fmla="*/ 792457 w 2026920"/>
                <a:gd name="connsiteY52" fmla="*/ 0 h 45719"/>
                <a:gd name="connsiteX53" fmla="*/ 840558 w 2026920"/>
                <a:gd name="connsiteY53" fmla="*/ 0 h 45719"/>
                <a:gd name="connsiteX54" fmla="*/ 840558 w 2026920"/>
                <a:gd name="connsiteY54" fmla="*/ 45719 h 45719"/>
                <a:gd name="connsiteX55" fmla="*/ 792457 w 2026920"/>
                <a:gd name="connsiteY55" fmla="*/ 45719 h 45719"/>
                <a:gd name="connsiteX56" fmla="*/ 701198 w 2026920"/>
                <a:gd name="connsiteY56" fmla="*/ 0 h 45719"/>
                <a:gd name="connsiteX57" fmla="*/ 749299 w 2026920"/>
                <a:gd name="connsiteY57" fmla="*/ 0 h 45719"/>
                <a:gd name="connsiteX58" fmla="*/ 749299 w 2026920"/>
                <a:gd name="connsiteY58" fmla="*/ 45719 h 45719"/>
                <a:gd name="connsiteX59" fmla="*/ 701198 w 2026920"/>
                <a:gd name="connsiteY59" fmla="*/ 45719 h 45719"/>
                <a:gd name="connsiteX60" fmla="*/ 609940 w 2026920"/>
                <a:gd name="connsiteY60" fmla="*/ 0 h 45719"/>
                <a:gd name="connsiteX61" fmla="*/ 658041 w 2026920"/>
                <a:gd name="connsiteY61" fmla="*/ 0 h 45719"/>
                <a:gd name="connsiteX62" fmla="*/ 658041 w 2026920"/>
                <a:gd name="connsiteY62" fmla="*/ 45719 h 45719"/>
                <a:gd name="connsiteX63" fmla="*/ 609940 w 2026920"/>
                <a:gd name="connsiteY63" fmla="*/ 45719 h 45719"/>
                <a:gd name="connsiteX64" fmla="*/ 518681 w 2026920"/>
                <a:gd name="connsiteY64" fmla="*/ 0 h 45719"/>
                <a:gd name="connsiteX65" fmla="*/ 566782 w 2026920"/>
                <a:gd name="connsiteY65" fmla="*/ 0 h 45719"/>
                <a:gd name="connsiteX66" fmla="*/ 566782 w 2026920"/>
                <a:gd name="connsiteY66" fmla="*/ 45719 h 45719"/>
                <a:gd name="connsiteX67" fmla="*/ 518681 w 2026920"/>
                <a:gd name="connsiteY67" fmla="*/ 45719 h 45719"/>
                <a:gd name="connsiteX68" fmla="*/ 427422 w 2026920"/>
                <a:gd name="connsiteY68" fmla="*/ 0 h 45719"/>
                <a:gd name="connsiteX69" fmla="*/ 475523 w 2026920"/>
                <a:gd name="connsiteY69" fmla="*/ 0 h 45719"/>
                <a:gd name="connsiteX70" fmla="*/ 475523 w 2026920"/>
                <a:gd name="connsiteY70" fmla="*/ 45719 h 45719"/>
                <a:gd name="connsiteX71" fmla="*/ 427422 w 2026920"/>
                <a:gd name="connsiteY71" fmla="*/ 45719 h 45719"/>
                <a:gd name="connsiteX72" fmla="*/ 336164 w 2026920"/>
                <a:gd name="connsiteY72" fmla="*/ 0 h 45719"/>
                <a:gd name="connsiteX73" fmla="*/ 384265 w 2026920"/>
                <a:gd name="connsiteY73" fmla="*/ 0 h 45719"/>
                <a:gd name="connsiteX74" fmla="*/ 384265 w 2026920"/>
                <a:gd name="connsiteY74" fmla="*/ 45719 h 45719"/>
                <a:gd name="connsiteX75" fmla="*/ 336164 w 2026920"/>
                <a:gd name="connsiteY75" fmla="*/ 45719 h 45719"/>
                <a:gd name="connsiteX76" fmla="*/ 244905 w 2026920"/>
                <a:gd name="connsiteY76" fmla="*/ 0 h 45719"/>
                <a:gd name="connsiteX77" fmla="*/ 293006 w 2026920"/>
                <a:gd name="connsiteY77" fmla="*/ 0 h 45719"/>
                <a:gd name="connsiteX78" fmla="*/ 293006 w 2026920"/>
                <a:gd name="connsiteY78" fmla="*/ 45719 h 45719"/>
                <a:gd name="connsiteX79" fmla="*/ 244905 w 2026920"/>
                <a:gd name="connsiteY79" fmla="*/ 45719 h 45719"/>
                <a:gd name="connsiteX80" fmla="*/ 153647 w 2026920"/>
                <a:gd name="connsiteY80" fmla="*/ 0 h 45719"/>
                <a:gd name="connsiteX81" fmla="*/ 201748 w 2026920"/>
                <a:gd name="connsiteY81" fmla="*/ 0 h 45719"/>
                <a:gd name="connsiteX82" fmla="*/ 201748 w 2026920"/>
                <a:gd name="connsiteY82" fmla="*/ 45719 h 45719"/>
                <a:gd name="connsiteX83" fmla="*/ 153647 w 2026920"/>
                <a:gd name="connsiteY83" fmla="*/ 45719 h 45719"/>
                <a:gd name="connsiteX84" fmla="*/ 62388 w 2026920"/>
                <a:gd name="connsiteY84" fmla="*/ 0 h 45719"/>
                <a:gd name="connsiteX85" fmla="*/ 110489 w 2026920"/>
                <a:gd name="connsiteY85" fmla="*/ 0 h 45719"/>
                <a:gd name="connsiteX86" fmla="*/ 110489 w 2026920"/>
                <a:gd name="connsiteY86" fmla="*/ 45719 h 45719"/>
                <a:gd name="connsiteX87" fmla="*/ 62388 w 2026920"/>
                <a:gd name="connsiteY87" fmla="*/ 45719 h 45719"/>
                <a:gd name="connsiteX88" fmla="*/ 0 w 2026920"/>
                <a:gd name="connsiteY88" fmla="*/ 0 h 45719"/>
                <a:gd name="connsiteX89" fmla="*/ 48101 w 2026920"/>
                <a:gd name="connsiteY89" fmla="*/ 0 h 45719"/>
                <a:gd name="connsiteX90" fmla="*/ 48101 w 2026920"/>
                <a:gd name="connsiteY90" fmla="*/ 45719 h 45719"/>
                <a:gd name="connsiteX91" fmla="*/ 0 w 2026920"/>
                <a:gd name="connsiteY91"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2026920" h="45719">
                  <a:moveTo>
                    <a:pt x="1978819" y="0"/>
                  </a:moveTo>
                  <a:lnTo>
                    <a:pt x="2026920" y="0"/>
                  </a:lnTo>
                  <a:lnTo>
                    <a:pt x="2026920" y="45719"/>
                  </a:lnTo>
                  <a:lnTo>
                    <a:pt x="1978819" y="45719"/>
                  </a:lnTo>
                  <a:close/>
                  <a:moveTo>
                    <a:pt x="1887560" y="0"/>
                  </a:moveTo>
                  <a:lnTo>
                    <a:pt x="1935661" y="0"/>
                  </a:lnTo>
                  <a:lnTo>
                    <a:pt x="1935661" y="45719"/>
                  </a:lnTo>
                  <a:lnTo>
                    <a:pt x="1887560" y="45719"/>
                  </a:lnTo>
                  <a:close/>
                  <a:moveTo>
                    <a:pt x="1796302" y="0"/>
                  </a:moveTo>
                  <a:lnTo>
                    <a:pt x="1844403" y="0"/>
                  </a:lnTo>
                  <a:lnTo>
                    <a:pt x="1844403" y="45719"/>
                  </a:lnTo>
                  <a:lnTo>
                    <a:pt x="1796302" y="45719"/>
                  </a:lnTo>
                  <a:close/>
                  <a:moveTo>
                    <a:pt x="1705043" y="0"/>
                  </a:moveTo>
                  <a:lnTo>
                    <a:pt x="1753144" y="0"/>
                  </a:lnTo>
                  <a:lnTo>
                    <a:pt x="1753144" y="45719"/>
                  </a:lnTo>
                  <a:lnTo>
                    <a:pt x="1705043" y="45719"/>
                  </a:lnTo>
                  <a:close/>
                  <a:moveTo>
                    <a:pt x="1613785" y="0"/>
                  </a:moveTo>
                  <a:lnTo>
                    <a:pt x="1661886" y="0"/>
                  </a:lnTo>
                  <a:lnTo>
                    <a:pt x="1661886" y="45719"/>
                  </a:lnTo>
                  <a:lnTo>
                    <a:pt x="1613785" y="45719"/>
                  </a:lnTo>
                  <a:close/>
                  <a:moveTo>
                    <a:pt x="1522526" y="0"/>
                  </a:moveTo>
                  <a:lnTo>
                    <a:pt x="1570627" y="0"/>
                  </a:lnTo>
                  <a:lnTo>
                    <a:pt x="1570627" y="45719"/>
                  </a:lnTo>
                  <a:lnTo>
                    <a:pt x="1522526" y="45719"/>
                  </a:lnTo>
                  <a:close/>
                  <a:moveTo>
                    <a:pt x="1431267" y="0"/>
                  </a:moveTo>
                  <a:lnTo>
                    <a:pt x="1479368" y="0"/>
                  </a:lnTo>
                  <a:lnTo>
                    <a:pt x="1479368" y="45719"/>
                  </a:lnTo>
                  <a:lnTo>
                    <a:pt x="1431267" y="45719"/>
                  </a:lnTo>
                  <a:close/>
                  <a:moveTo>
                    <a:pt x="1340009" y="0"/>
                  </a:moveTo>
                  <a:lnTo>
                    <a:pt x="1388110" y="0"/>
                  </a:lnTo>
                  <a:lnTo>
                    <a:pt x="1388110" y="45719"/>
                  </a:lnTo>
                  <a:lnTo>
                    <a:pt x="1340009" y="45719"/>
                  </a:lnTo>
                  <a:close/>
                  <a:moveTo>
                    <a:pt x="1248750" y="0"/>
                  </a:moveTo>
                  <a:lnTo>
                    <a:pt x="1296851" y="0"/>
                  </a:lnTo>
                  <a:lnTo>
                    <a:pt x="1296851" y="45719"/>
                  </a:lnTo>
                  <a:lnTo>
                    <a:pt x="1248750" y="45719"/>
                  </a:lnTo>
                  <a:close/>
                  <a:moveTo>
                    <a:pt x="1157491" y="0"/>
                  </a:moveTo>
                  <a:lnTo>
                    <a:pt x="1205592" y="0"/>
                  </a:lnTo>
                  <a:lnTo>
                    <a:pt x="1205592" y="45719"/>
                  </a:lnTo>
                  <a:lnTo>
                    <a:pt x="1157491" y="45719"/>
                  </a:lnTo>
                  <a:close/>
                  <a:moveTo>
                    <a:pt x="1066233" y="0"/>
                  </a:moveTo>
                  <a:lnTo>
                    <a:pt x="1114334" y="0"/>
                  </a:lnTo>
                  <a:lnTo>
                    <a:pt x="1114334" y="45719"/>
                  </a:lnTo>
                  <a:lnTo>
                    <a:pt x="1066233" y="45719"/>
                  </a:lnTo>
                  <a:close/>
                  <a:moveTo>
                    <a:pt x="974974" y="0"/>
                  </a:moveTo>
                  <a:lnTo>
                    <a:pt x="1023075" y="0"/>
                  </a:lnTo>
                  <a:lnTo>
                    <a:pt x="1023075" y="45719"/>
                  </a:lnTo>
                  <a:lnTo>
                    <a:pt x="974974" y="45719"/>
                  </a:lnTo>
                  <a:close/>
                  <a:moveTo>
                    <a:pt x="883716" y="0"/>
                  </a:moveTo>
                  <a:lnTo>
                    <a:pt x="931817" y="0"/>
                  </a:lnTo>
                  <a:lnTo>
                    <a:pt x="931817" y="45719"/>
                  </a:lnTo>
                  <a:lnTo>
                    <a:pt x="883716" y="45719"/>
                  </a:lnTo>
                  <a:close/>
                  <a:moveTo>
                    <a:pt x="792457" y="0"/>
                  </a:moveTo>
                  <a:lnTo>
                    <a:pt x="840558" y="0"/>
                  </a:lnTo>
                  <a:lnTo>
                    <a:pt x="840558" y="45719"/>
                  </a:lnTo>
                  <a:lnTo>
                    <a:pt x="792457" y="45719"/>
                  </a:lnTo>
                  <a:close/>
                  <a:moveTo>
                    <a:pt x="701198" y="0"/>
                  </a:moveTo>
                  <a:lnTo>
                    <a:pt x="749299" y="0"/>
                  </a:lnTo>
                  <a:lnTo>
                    <a:pt x="749299" y="45719"/>
                  </a:lnTo>
                  <a:lnTo>
                    <a:pt x="701198" y="45719"/>
                  </a:lnTo>
                  <a:close/>
                  <a:moveTo>
                    <a:pt x="609940" y="0"/>
                  </a:moveTo>
                  <a:lnTo>
                    <a:pt x="658041" y="0"/>
                  </a:lnTo>
                  <a:lnTo>
                    <a:pt x="658041" y="45719"/>
                  </a:lnTo>
                  <a:lnTo>
                    <a:pt x="609940" y="45719"/>
                  </a:lnTo>
                  <a:close/>
                  <a:moveTo>
                    <a:pt x="518681" y="0"/>
                  </a:moveTo>
                  <a:lnTo>
                    <a:pt x="566782" y="0"/>
                  </a:lnTo>
                  <a:lnTo>
                    <a:pt x="566782" y="45719"/>
                  </a:lnTo>
                  <a:lnTo>
                    <a:pt x="518681" y="45719"/>
                  </a:lnTo>
                  <a:close/>
                  <a:moveTo>
                    <a:pt x="427422" y="0"/>
                  </a:moveTo>
                  <a:lnTo>
                    <a:pt x="475523" y="0"/>
                  </a:lnTo>
                  <a:lnTo>
                    <a:pt x="475523" y="45719"/>
                  </a:lnTo>
                  <a:lnTo>
                    <a:pt x="427422" y="45719"/>
                  </a:lnTo>
                  <a:close/>
                  <a:moveTo>
                    <a:pt x="336164" y="0"/>
                  </a:moveTo>
                  <a:lnTo>
                    <a:pt x="384265" y="0"/>
                  </a:lnTo>
                  <a:lnTo>
                    <a:pt x="384265" y="45719"/>
                  </a:lnTo>
                  <a:lnTo>
                    <a:pt x="336164" y="45719"/>
                  </a:lnTo>
                  <a:close/>
                  <a:moveTo>
                    <a:pt x="244905" y="0"/>
                  </a:moveTo>
                  <a:lnTo>
                    <a:pt x="293006" y="0"/>
                  </a:lnTo>
                  <a:lnTo>
                    <a:pt x="293006" y="45719"/>
                  </a:lnTo>
                  <a:lnTo>
                    <a:pt x="244905" y="45719"/>
                  </a:lnTo>
                  <a:close/>
                  <a:moveTo>
                    <a:pt x="153647" y="0"/>
                  </a:moveTo>
                  <a:lnTo>
                    <a:pt x="201748" y="0"/>
                  </a:lnTo>
                  <a:lnTo>
                    <a:pt x="201748" y="45719"/>
                  </a:lnTo>
                  <a:lnTo>
                    <a:pt x="153647" y="45719"/>
                  </a:lnTo>
                  <a:close/>
                  <a:moveTo>
                    <a:pt x="62388" y="0"/>
                  </a:moveTo>
                  <a:lnTo>
                    <a:pt x="110489" y="0"/>
                  </a:lnTo>
                  <a:lnTo>
                    <a:pt x="110489" y="45719"/>
                  </a:lnTo>
                  <a:lnTo>
                    <a:pt x="62388" y="45719"/>
                  </a:lnTo>
                  <a:close/>
                  <a:moveTo>
                    <a:pt x="0" y="0"/>
                  </a:moveTo>
                  <a:lnTo>
                    <a:pt x="48101" y="0"/>
                  </a:lnTo>
                  <a:lnTo>
                    <a:pt x="48101" y="45719"/>
                  </a:lnTo>
                  <a:lnTo>
                    <a:pt x="0" y="45719"/>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grpSp>
      <p:sp>
        <p:nvSpPr>
          <p:cNvPr id="11" name="平行四边形 10"/>
          <p:cNvSpPr/>
          <p:nvPr/>
        </p:nvSpPr>
        <p:spPr>
          <a:xfrm flipH="1">
            <a:off x="6769696" y="98629"/>
            <a:ext cx="1319982" cy="501446"/>
          </a:xfrm>
          <a:prstGeom prst="parallelogram">
            <a:avLst/>
          </a:prstGeom>
          <a:solidFill>
            <a:schemeClr val="accent4"/>
          </a:solid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12" name="平行四边形 11"/>
          <p:cNvSpPr/>
          <p:nvPr/>
        </p:nvSpPr>
        <p:spPr>
          <a:xfrm flipH="1">
            <a:off x="2723224" y="118621"/>
            <a:ext cx="1319982" cy="501446"/>
          </a:xfrm>
          <a:prstGeom prst="parallelogram">
            <a:avLst/>
          </a:prstGeom>
          <a:noFill/>
          <a:ln w="57150" cmpd="thickThin">
            <a:solidFill>
              <a:schemeClr val="accent1">
                <a:lumMod val="60000"/>
                <a:lumOff val="40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solidFill>
                <a:schemeClr val="bg1"/>
              </a:solidFill>
              <a:latin typeface="思源黑体" panose="020B0800000000000000" pitchFamily="34" charset="-122"/>
              <a:ea typeface="思源黑体" panose="020B0800000000000000" pitchFamily="34" charset="-122"/>
            </a:endParaRPr>
          </a:p>
        </p:txBody>
      </p:sp>
      <p:sp>
        <p:nvSpPr>
          <p:cNvPr id="8" name="文本框 7"/>
          <p:cNvSpPr txBox="1"/>
          <p:nvPr/>
        </p:nvSpPr>
        <p:spPr>
          <a:xfrm>
            <a:off x="2852084" y="196641"/>
            <a:ext cx="1120740"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项目背景</a:t>
            </a:r>
            <a:endParaRPr lang="zh-CN" altLang="en-US" sz="1600" dirty="0">
              <a:solidFill>
                <a:schemeClr val="bg1"/>
              </a:solidFill>
              <a:latin typeface="思源黑体" panose="020B0800000000000000" pitchFamily="34" charset="-122"/>
              <a:ea typeface="思源黑体" panose="020B0800000000000000" pitchFamily="34" charset="-122"/>
            </a:endParaRPr>
          </a:p>
        </p:txBody>
      </p:sp>
      <p:sp>
        <p:nvSpPr>
          <p:cNvPr id="15" name="文本框 14"/>
          <p:cNvSpPr txBox="1"/>
          <p:nvPr/>
        </p:nvSpPr>
        <p:spPr>
          <a:xfrm>
            <a:off x="6873782" y="181932"/>
            <a:ext cx="1070927" cy="338554"/>
          </a:xfrm>
          <a:prstGeom prst="rect">
            <a:avLst/>
          </a:prstGeom>
          <a:noFill/>
          <a:ln>
            <a:noFill/>
          </a:ln>
        </p:spPr>
        <p:txBody>
          <a:bodyPr wrap="square" rtlCol="0">
            <a:spAutoFit/>
          </a:bodyPr>
          <a:lstStyle/>
          <a:p>
            <a:r>
              <a:rPr lang="zh-CN" altLang="en-US" sz="1600" dirty="0">
                <a:solidFill>
                  <a:schemeClr val="bg1"/>
                </a:solidFill>
                <a:latin typeface="思源黑体" panose="020B0800000000000000" pitchFamily="34" charset="-122"/>
                <a:ea typeface="思源黑体" panose="020B0800000000000000" pitchFamily="34" charset="-122"/>
              </a:rPr>
              <a:t>项目应用</a:t>
            </a:r>
            <a:endParaRPr lang="zh-CN" altLang="en-US" sz="1600" dirty="0">
              <a:solidFill>
                <a:schemeClr val="bg1"/>
              </a:solidFill>
              <a:latin typeface="思源黑体" panose="020B0800000000000000" pitchFamily="34" charset="-122"/>
              <a:ea typeface="思源黑体" panose="020B0800000000000000" pitchFamily="34" charset="-122"/>
            </a:endParaRPr>
          </a:p>
        </p:txBody>
      </p:sp>
      <p:sp>
        <p:nvSpPr>
          <p:cNvPr id="184" name="文本框 183"/>
          <p:cNvSpPr txBox="1"/>
          <p:nvPr/>
        </p:nvSpPr>
        <p:spPr>
          <a:xfrm>
            <a:off x="198755" y="833755"/>
            <a:ext cx="4118610" cy="583565"/>
          </a:xfrm>
          <a:prstGeom prst="rect">
            <a:avLst/>
          </a:prstGeom>
          <a:noFill/>
        </p:spPr>
        <p:txBody>
          <a:bodyPr wrap="square" rtlCol="0" anchor="t">
            <a:spAutoFit/>
          </a:bodyPr>
          <a:p>
            <a:pPr algn="l"/>
            <a:r>
              <a:rPr lang="zh-CN" altLang="en-US" sz="3200" b="1" dirty="0">
                <a:latin typeface="华文隶书" panose="02010800040101010101" charset="-122"/>
                <a:ea typeface="华文隶书" panose="02010800040101010101" charset="-122"/>
                <a:sym typeface="+mn-ea"/>
              </a:rPr>
              <a:t>技术创新与技术优势</a:t>
            </a:r>
            <a:endParaRPr lang="zh-CN" altLang="en-US" sz="3200" b="1" dirty="0">
              <a:latin typeface="华文隶书" panose="02010800040101010101" charset="-122"/>
              <a:ea typeface="华文隶书" panose="02010800040101010101" charset="-122"/>
              <a:sym typeface="+mn-ea"/>
            </a:endParaRPr>
          </a:p>
        </p:txBody>
      </p:sp>
      <p:grpSp>
        <p:nvGrpSpPr>
          <p:cNvPr id="741" name="成组"/>
          <p:cNvGrpSpPr/>
          <p:nvPr/>
        </p:nvGrpSpPr>
        <p:grpSpPr>
          <a:xfrm>
            <a:off x="506730" y="1502410"/>
            <a:ext cx="1804670" cy="387350"/>
            <a:chOff x="-7307769" y="-149281"/>
            <a:chExt cx="3618727" cy="793514"/>
          </a:xfrm>
        </p:grpSpPr>
        <p:sp>
          <p:nvSpPr>
            <p:cNvPr id="739" name="圆角矩形"/>
            <p:cNvSpPr/>
            <p:nvPr/>
          </p:nvSpPr>
          <p:spPr>
            <a:xfrm>
              <a:off x="-7307769" y="-149281"/>
              <a:ext cx="3618727" cy="793514"/>
            </a:xfrm>
            <a:prstGeom prst="roundRect">
              <a:avLst>
                <a:gd name="adj" fmla="val 50000"/>
              </a:avLst>
            </a:prstGeom>
            <a:gradFill flip="none" rotWithShape="1">
              <a:gsLst>
                <a:gs pos="0">
                  <a:schemeClr val="tx2">
                    <a:lumMod val="10000"/>
                    <a:lumOff val="90000"/>
                  </a:schemeClr>
                </a:gs>
                <a:gs pos="67000">
                  <a:schemeClr val="tx2">
                    <a:lumMod val="75000"/>
                    <a:lumOff val="25000"/>
                  </a:schemeClr>
                </a:gs>
              </a:gsLst>
              <a:lin ang="2700000" scaled="1"/>
              <a:tileRect/>
            </a:gradFill>
            <a:ln w="12700" cap="flat" cmpd="sng" algn="ctr">
              <a:noFill/>
              <a:prstDash val="solid"/>
              <a:miter lim="800000"/>
            </a:ln>
            <a:effectLst/>
          </p:spPr>
          <p:txBody>
            <a:bodyPr rtlCol="0" anchor="ctr"/>
            <a:lstStyle/>
            <a:p>
              <a:pPr algn="ctr"/>
              <a:endParaRPr b="1" kern="0">
                <a:solidFill>
                  <a:prstClr val="white"/>
                </a:solidFill>
                <a:latin typeface="微软雅黑" panose="020B0503020204020204" pitchFamily="34" charset="-122"/>
                <a:ea typeface="微软雅黑" panose="020B0503020204020204" pitchFamily="34" charset="-122"/>
                <a:sym typeface="+mn-lt"/>
              </a:endParaRPr>
            </a:p>
          </p:txBody>
        </p:sp>
        <p:sp>
          <p:nvSpPr>
            <p:cNvPr id="740" name="云仓备货模式，农特产品保证24h内发货！"/>
            <p:cNvSpPr txBox="1"/>
            <p:nvPr/>
          </p:nvSpPr>
          <p:spPr>
            <a:xfrm>
              <a:off x="-6835372" y="-34807"/>
              <a:ext cx="2685396" cy="564566"/>
            </a:xfrm>
            <a:prstGeom prst="rect">
              <a:avLst/>
            </a:prstGeom>
            <a:noFill/>
            <a:ln w="12700" cap="flat" cmpd="sng" algn="ctr">
              <a:noFill/>
              <a:prstDash val="solid"/>
              <a:miter lim="800000"/>
            </a:ln>
            <a:effectLst/>
          </p:spPr>
          <p:txBody>
            <a:bodyPr rtlCol="0" anchor="ctr"/>
            <a:lstStyle>
              <a:defPPr>
                <a:defRPr lang="zh-CN"/>
              </a:defPPr>
              <a:lvl1pPr algn="ctr">
                <a:defRPr b="1" kern="0">
                  <a:solidFill>
                    <a:prstClr val="white"/>
                  </a:solidFill>
                  <a:latin typeface="微软雅黑" panose="020B0503020204020204" pitchFamily="34" charset="-122"/>
                  <a:ea typeface="微软雅黑" panose="020B0503020204020204" pitchFamily="34" charset="-122"/>
                </a:defRPr>
              </a:lvl1pPr>
            </a:lstStyle>
            <a:p>
              <a:r>
                <a:rPr lang="zh-CN" altLang="en-US" dirty="0">
                  <a:sym typeface="+mn-lt"/>
                </a:rPr>
                <a:t>创新点</a:t>
              </a:r>
              <a:endParaRPr lang="zh-CN" altLang="en-US" dirty="0">
                <a:sym typeface="+mn-lt"/>
              </a:endParaRPr>
            </a:p>
          </p:txBody>
        </p:sp>
      </p:grpSp>
      <p:grpSp>
        <p:nvGrpSpPr>
          <p:cNvPr id="75" name="周小周PPT设计"/>
          <p:cNvGrpSpPr/>
          <p:nvPr/>
        </p:nvGrpSpPr>
        <p:grpSpPr>
          <a:xfrm flipH="1">
            <a:off x="3458105" y="2752607"/>
            <a:ext cx="2348968" cy="2302490"/>
            <a:chOff x="1357400" y="2187226"/>
            <a:chExt cx="2644760" cy="2592429"/>
          </a:xfrm>
        </p:grpSpPr>
        <p:grpSp>
          <p:nvGrpSpPr>
            <p:cNvPr id="71" name="组合 70"/>
            <p:cNvGrpSpPr/>
            <p:nvPr/>
          </p:nvGrpSpPr>
          <p:grpSpPr>
            <a:xfrm>
              <a:off x="1580697" y="2406441"/>
              <a:ext cx="2196254" cy="2154639"/>
              <a:chOff x="1700111" y="2509196"/>
              <a:chExt cx="2196254" cy="2154639"/>
            </a:xfrm>
          </p:grpSpPr>
          <p:sp>
            <p:nvSpPr>
              <p:cNvPr id="62" name="周小周PPT设计-1"/>
              <p:cNvSpPr/>
              <p:nvPr/>
            </p:nvSpPr>
            <p:spPr>
              <a:xfrm>
                <a:off x="1840710" y="2509196"/>
                <a:ext cx="2043530" cy="2043529"/>
              </a:xfrm>
              <a:prstGeom prst="arc">
                <a:avLst/>
              </a:prstGeom>
              <a:ln w="508000" cap="rnd">
                <a:gradFill flip="none" rotWithShape="1">
                  <a:gsLst>
                    <a:gs pos="0">
                      <a:schemeClr val="accent1"/>
                    </a:gs>
                    <a:gs pos="82000">
                      <a:schemeClr val="accent1">
                        <a:alpha val="0"/>
                      </a:schemeClr>
                    </a:gs>
                  </a:gsLst>
                  <a:lin ang="5400000" scaled="1"/>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7" name="周小周PPT设计-2"/>
              <p:cNvSpPr/>
              <p:nvPr/>
            </p:nvSpPr>
            <p:spPr>
              <a:xfrm rot="16200000">
                <a:off x="1700111" y="2509196"/>
                <a:ext cx="2043529" cy="2043530"/>
              </a:xfrm>
              <a:prstGeom prst="arc">
                <a:avLst/>
              </a:prstGeom>
              <a:ln w="508000" cap="rnd">
                <a:gradFill flip="none" rotWithShape="1">
                  <a:gsLst>
                    <a:gs pos="0">
                      <a:schemeClr val="accent1"/>
                    </a:gs>
                    <a:gs pos="82000">
                      <a:schemeClr val="accent1">
                        <a:alpha val="0"/>
                      </a:schemeClr>
                    </a:gs>
                  </a:gsLst>
                  <a:lin ang="5400000" scaled="0"/>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8" name="周小周PPT设计-3"/>
              <p:cNvSpPr/>
              <p:nvPr/>
            </p:nvSpPr>
            <p:spPr>
              <a:xfrm rot="10800000">
                <a:off x="1700111" y="2620306"/>
                <a:ext cx="2043530" cy="2043529"/>
              </a:xfrm>
              <a:prstGeom prst="arc">
                <a:avLst/>
              </a:prstGeom>
              <a:ln w="508000" cap="rnd">
                <a:gradFill flip="none" rotWithShape="1">
                  <a:gsLst>
                    <a:gs pos="0">
                      <a:schemeClr val="accent1"/>
                    </a:gs>
                    <a:gs pos="82000">
                      <a:schemeClr val="accent1">
                        <a:alpha val="0"/>
                      </a:schemeClr>
                    </a:gs>
                  </a:gsLst>
                  <a:lin ang="5400000" scaled="0"/>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9" name="周小周PPT设计-4"/>
              <p:cNvSpPr/>
              <p:nvPr/>
            </p:nvSpPr>
            <p:spPr>
              <a:xfrm rot="5400000">
                <a:off x="1852835" y="2620306"/>
                <a:ext cx="2043529" cy="2043530"/>
              </a:xfrm>
              <a:prstGeom prst="arc">
                <a:avLst/>
              </a:prstGeom>
              <a:ln w="508000" cap="rnd">
                <a:gradFill flip="none" rotWithShape="1">
                  <a:gsLst>
                    <a:gs pos="0">
                      <a:schemeClr val="accent1"/>
                    </a:gs>
                    <a:gs pos="82000">
                      <a:schemeClr val="accent1">
                        <a:alpha val="0"/>
                      </a:schemeClr>
                    </a:gs>
                  </a:gsLst>
                  <a:lin ang="2700000" scaled="0"/>
                  <a:tileRect/>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53" name="周小周PPT设计-5"/>
            <p:cNvSpPr>
              <a:spLocks noChangeAspect="1"/>
            </p:cNvSpPr>
            <p:nvPr/>
          </p:nvSpPr>
          <p:spPr>
            <a:xfrm>
              <a:off x="2536361" y="2187226"/>
              <a:ext cx="437148" cy="437148"/>
            </a:xfrm>
            <a:prstGeom prst="ellipse">
              <a:avLst/>
            </a:prstGeom>
            <a:gradFill>
              <a:gsLst>
                <a:gs pos="0">
                  <a:schemeClr val="accent1">
                    <a:lumMod val="20000"/>
                    <a:lumOff val="80000"/>
                  </a:schemeClr>
                </a:gs>
                <a:gs pos="58000">
                  <a:schemeClr val="bg1"/>
                </a:gs>
                <a:gs pos="100000">
                  <a:schemeClr val="accent2">
                    <a:lumMod val="20000"/>
                    <a:lumOff val="80000"/>
                  </a:schemeClr>
                </a:gs>
              </a:gsLst>
              <a:lin ang="2700000" scaled="1"/>
            </a:gra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400">
                  <a:solidFill>
                    <a:schemeClr val="tx2"/>
                  </a:solidFill>
                  <a:latin typeface="+mj-ea"/>
                  <a:ea typeface="+mj-ea"/>
                </a:rPr>
                <a:t>01</a:t>
              </a:r>
              <a:endParaRPr lang="zh-CN" altLang="en-US" sz="1400">
                <a:solidFill>
                  <a:schemeClr val="tx2"/>
                </a:solidFill>
                <a:latin typeface="+mj-ea"/>
                <a:ea typeface="+mj-ea"/>
              </a:endParaRPr>
            </a:p>
          </p:txBody>
        </p:sp>
        <p:sp>
          <p:nvSpPr>
            <p:cNvPr id="72" name="周小周PPT设计-6"/>
            <p:cNvSpPr>
              <a:spLocks noChangeAspect="1"/>
            </p:cNvSpPr>
            <p:nvPr/>
          </p:nvSpPr>
          <p:spPr>
            <a:xfrm>
              <a:off x="3565012" y="3321360"/>
              <a:ext cx="437148" cy="437148"/>
            </a:xfrm>
            <a:prstGeom prst="ellipse">
              <a:avLst/>
            </a:prstGeom>
            <a:gradFill>
              <a:gsLst>
                <a:gs pos="0">
                  <a:schemeClr val="accent1">
                    <a:lumMod val="20000"/>
                    <a:lumOff val="80000"/>
                  </a:schemeClr>
                </a:gs>
                <a:gs pos="58000">
                  <a:schemeClr val="bg1"/>
                </a:gs>
                <a:gs pos="100000">
                  <a:schemeClr val="accent2">
                    <a:lumMod val="20000"/>
                    <a:lumOff val="80000"/>
                  </a:schemeClr>
                </a:gs>
              </a:gsLst>
              <a:lin ang="2700000" scaled="1"/>
            </a:gra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400">
                  <a:solidFill>
                    <a:schemeClr val="tx2"/>
                  </a:solidFill>
                  <a:latin typeface="+mj-ea"/>
                  <a:ea typeface="+mj-ea"/>
                </a:rPr>
                <a:t>04</a:t>
              </a:r>
              <a:endParaRPr lang="zh-CN" altLang="en-US" sz="1400">
                <a:solidFill>
                  <a:schemeClr val="tx2"/>
                </a:solidFill>
                <a:latin typeface="+mj-ea"/>
                <a:ea typeface="+mj-ea"/>
              </a:endParaRPr>
            </a:p>
          </p:txBody>
        </p:sp>
        <p:sp>
          <p:nvSpPr>
            <p:cNvPr id="73" name="周小周PPT设计-7"/>
            <p:cNvSpPr>
              <a:spLocks noChangeAspect="1"/>
            </p:cNvSpPr>
            <p:nvPr/>
          </p:nvSpPr>
          <p:spPr>
            <a:xfrm>
              <a:off x="2383887" y="4342507"/>
              <a:ext cx="437148" cy="437148"/>
            </a:xfrm>
            <a:prstGeom prst="ellipse">
              <a:avLst/>
            </a:prstGeom>
            <a:gradFill>
              <a:gsLst>
                <a:gs pos="0">
                  <a:schemeClr val="accent1">
                    <a:lumMod val="20000"/>
                    <a:lumOff val="80000"/>
                  </a:schemeClr>
                </a:gs>
                <a:gs pos="58000">
                  <a:schemeClr val="bg1"/>
                </a:gs>
                <a:gs pos="100000">
                  <a:schemeClr val="accent2">
                    <a:lumMod val="20000"/>
                    <a:lumOff val="80000"/>
                  </a:schemeClr>
                </a:gs>
              </a:gsLst>
              <a:lin ang="2700000" scaled="1"/>
            </a:gra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400">
                  <a:solidFill>
                    <a:schemeClr val="tx2"/>
                  </a:solidFill>
                  <a:latin typeface="+mj-ea"/>
                  <a:ea typeface="+mj-ea"/>
                </a:rPr>
                <a:t>03</a:t>
              </a:r>
              <a:endParaRPr lang="zh-CN" altLang="en-US" sz="1400">
                <a:solidFill>
                  <a:schemeClr val="tx2"/>
                </a:solidFill>
                <a:latin typeface="+mj-ea"/>
                <a:ea typeface="+mj-ea"/>
              </a:endParaRPr>
            </a:p>
          </p:txBody>
        </p:sp>
        <p:sp>
          <p:nvSpPr>
            <p:cNvPr id="74" name="周小周PPT设计-8"/>
            <p:cNvSpPr>
              <a:spLocks noChangeAspect="1"/>
            </p:cNvSpPr>
            <p:nvPr/>
          </p:nvSpPr>
          <p:spPr>
            <a:xfrm>
              <a:off x="1357400" y="3209631"/>
              <a:ext cx="437148" cy="437148"/>
            </a:xfrm>
            <a:prstGeom prst="ellipse">
              <a:avLst/>
            </a:prstGeom>
            <a:gradFill>
              <a:gsLst>
                <a:gs pos="0">
                  <a:schemeClr val="accent1">
                    <a:lumMod val="20000"/>
                    <a:lumOff val="80000"/>
                  </a:schemeClr>
                </a:gs>
                <a:gs pos="58000">
                  <a:schemeClr val="bg1"/>
                </a:gs>
                <a:gs pos="100000">
                  <a:schemeClr val="accent2">
                    <a:lumMod val="20000"/>
                    <a:lumOff val="80000"/>
                  </a:schemeClr>
                </a:gs>
              </a:gsLst>
              <a:lin ang="2700000" scaled="1"/>
            </a:gradFill>
            <a:ln w="25400">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algn="ctr"/>
              <a:r>
                <a:rPr lang="en-US" altLang="zh-CN" sz="1400">
                  <a:solidFill>
                    <a:schemeClr val="tx2"/>
                  </a:solidFill>
                  <a:latin typeface="+mj-ea"/>
                  <a:ea typeface="+mj-ea"/>
                </a:rPr>
                <a:t>02</a:t>
              </a:r>
              <a:endParaRPr lang="zh-CN" altLang="en-US" sz="1400">
                <a:solidFill>
                  <a:schemeClr val="tx2"/>
                </a:solidFill>
                <a:latin typeface="+mj-ea"/>
                <a:ea typeface="+mj-ea"/>
              </a:endParaRPr>
            </a:p>
          </p:txBody>
        </p:sp>
      </p:grpSp>
      <p:grpSp>
        <p:nvGrpSpPr>
          <p:cNvPr id="109" name="周小周PPT设计"/>
          <p:cNvGrpSpPr/>
          <p:nvPr/>
        </p:nvGrpSpPr>
        <p:grpSpPr>
          <a:xfrm>
            <a:off x="4675942" y="1417008"/>
            <a:ext cx="2708204" cy="1236980"/>
            <a:chOff x="3203377" y="1327473"/>
            <a:chExt cx="2708204" cy="1236980"/>
          </a:xfrm>
        </p:grpSpPr>
        <p:grpSp>
          <p:nvGrpSpPr>
            <p:cNvPr id="79" name="组合 78"/>
            <p:cNvGrpSpPr/>
            <p:nvPr/>
          </p:nvGrpSpPr>
          <p:grpSpPr>
            <a:xfrm>
              <a:off x="3298556" y="1327473"/>
              <a:ext cx="2613025" cy="1236980"/>
              <a:chOff x="2908336" y="1400411"/>
              <a:chExt cx="2613025" cy="1236980"/>
            </a:xfrm>
          </p:grpSpPr>
          <p:sp>
            <p:nvSpPr>
              <p:cNvPr id="77" name="周小周PPT设计-1"/>
              <p:cNvSpPr txBox="1"/>
              <p:nvPr/>
            </p:nvSpPr>
            <p:spPr>
              <a:xfrm>
                <a:off x="2936276" y="1400411"/>
                <a:ext cx="2379980" cy="306705"/>
              </a:xfrm>
              <a:prstGeom prst="rect">
                <a:avLst/>
              </a:prstGeom>
              <a:noFill/>
            </p:spPr>
            <p:txBody>
              <a:bodyPr wrap="square">
                <a:spAutoFit/>
              </a:bodyPr>
              <a:lstStyle/>
              <a:p>
                <a:r>
                  <a:rPr lang="en-US" altLang="zh-CN" sz="1400" b="1">
                    <a:solidFill>
                      <a:schemeClr val="tx2">
                        <a:lumMod val="50000"/>
                      </a:schemeClr>
                    </a:solidFill>
                    <a:latin typeface="+mj-ea"/>
                    <a:ea typeface="+mj-ea"/>
                  </a:rPr>
                  <a:t>1.</a:t>
                </a:r>
                <a:r>
                  <a:rPr lang="zh-CN" altLang="en-US" sz="1400" b="1">
                    <a:solidFill>
                      <a:schemeClr val="tx2">
                        <a:lumMod val="50000"/>
                      </a:schemeClr>
                    </a:solidFill>
                    <a:latin typeface="+mj-ea"/>
                    <a:ea typeface="+mj-ea"/>
                  </a:rPr>
                  <a:t>边疆场景适配的数据建模</a:t>
                </a:r>
                <a:endParaRPr lang="zh-CN" altLang="en-US" sz="1400" b="1">
                  <a:solidFill>
                    <a:schemeClr val="tx2">
                      <a:lumMod val="50000"/>
                    </a:schemeClr>
                  </a:solidFill>
                  <a:latin typeface="+mj-ea"/>
                  <a:ea typeface="+mj-ea"/>
                </a:endParaRPr>
              </a:p>
            </p:txBody>
          </p:sp>
          <p:sp>
            <p:nvSpPr>
              <p:cNvPr id="78" name="周小周PPT设计-2"/>
              <p:cNvSpPr txBox="1"/>
              <p:nvPr/>
            </p:nvSpPr>
            <p:spPr>
              <a:xfrm flipH="1">
                <a:off x="2908336" y="1661396"/>
                <a:ext cx="2613025" cy="975995"/>
              </a:xfrm>
              <a:prstGeom prst="rect">
                <a:avLst/>
              </a:prstGeom>
              <a:noFill/>
            </p:spPr>
            <p:txBody>
              <a:bodyPr wrap="square" rtlCol="0">
                <a:spAutoFit/>
              </a:bodyPr>
              <a:lstStyle>
                <a:defPPr>
                  <a:defRPr lang="zh-CN"/>
                </a:defPPr>
                <a:lvl1pPr>
                  <a:lnSpc>
                    <a:spcPct val="120000"/>
                  </a:lnSpc>
                  <a:defRPr sz="1200">
                    <a:solidFill>
                      <a:schemeClr val="tx1">
                        <a:lumMod val="65000"/>
                        <a:lumOff val="35000"/>
                      </a:schemeClr>
                    </a:solidFill>
                  </a:defRPr>
                </a:lvl1pPr>
              </a:lstStyle>
              <a:p>
                <a:r>
                  <a:rPr lang="zh-CN" altLang="en-US">
                    <a:solidFill>
                      <a:schemeClr val="tx2"/>
                    </a:solidFill>
                  </a:rPr>
                  <a:t>采用</a:t>
                </a:r>
                <a:r>
                  <a:rPr lang="zh-CN" altLang="en-US" b="1">
                    <a:solidFill>
                      <a:schemeClr val="tx1"/>
                    </a:solidFill>
                  </a:rPr>
                  <a:t>空间隔离交叉验证</a:t>
                </a:r>
                <a:r>
                  <a:rPr lang="zh-CN" altLang="en-US">
                    <a:solidFill>
                      <a:schemeClr val="tx2"/>
                    </a:solidFill>
                  </a:rPr>
                  <a:t>与</a:t>
                </a:r>
                <a:r>
                  <a:rPr lang="en-US" altLang="zh-CN" b="1">
                    <a:solidFill>
                      <a:schemeClr val="tx2"/>
                    </a:solidFill>
                  </a:rPr>
                  <a:t>GAN</a:t>
                </a:r>
                <a:r>
                  <a:rPr lang="zh-CN" altLang="en-US" b="1">
                    <a:solidFill>
                      <a:schemeClr val="tx2"/>
                    </a:solidFill>
                  </a:rPr>
                  <a:t>虚拟样本合成</a:t>
                </a:r>
                <a:r>
                  <a:rPr lang="zh-CN" altLang="en-US">
                    <a:solidFill>
                      <a:schemeClr val="tx2"/>
                    </a:solidFill>
                  </a:rPr>
                  <a:t>，解决长尾分布与空间自相关泄露问题，提升数据质量与稀缺目标检出率。</a:t>
                </a:r>
                <a:endParaRPr lang="zh-CN" altLang="en-US">
                  <a:solidFill>
                    <a:schemeClr val="tx2"/>
                  </a:solidFill>
                </a:endParaRPr>
              </a:p>
            </p:txBody>
          </p:sp>
        </p:grpSp>
        <p:sp>
          <p:nvSpPr>
            <p:cNvPr id="80" name="周小周PPT设计-3"/>
            <p:cNvSpPr/>
            <p:nvPr/>
          </p:nvSpPr>
          <p:spPr>
            <a:xfrm>
              <a:off x="3203377" y="1390338"/>
              <a:ext cx="80010" cy="1118235"/>
            </a:xfrm>
            <a:custGeom>
              <a:avLst/>
              <a:gdLst>
                <a:gd name="connsiteX0" fmla="*/ 0 w 101600"/>
                <a:gd name="connsiteY0" fmla="*/ 790222 h 790222"/>
                <a:gd name="connsiteX1" fmla="*/ 0 w 101600"/>
                <a:gd name="connsiteY1" fmla="*/ 101600 h 790222"/>
                <a:gd name="connsiteX2" fmla="*/ 101600 w 101600"/>
                <a:gd name="connsiteY2" fmla="*/ 0 h 790222"/>
              </a:gdLst>
              <a:ahLst/>
              <a:cxnLst>
                <a:cxn ang="0">
                  <a:pos x="connsiteX0" y="connsiteY0"/>
                </a:cxn>
                <a:cxn ang="0">
                  <a:pos x="connsiteX1" y="connsiteY1"/>
                </a:cxn>
                <a:cxn ang="0">
                  <a:pos x="connsiteX2" y="connsiteY2"/>
                </a:cxn>
              </a:cxnLst>
              <a:rect l="l" t="t" r="r" b="b"/>
              <a:pathLst>
                <a:path w="101600" h="790222">
                  <a:moveTo>
                    <a:pt x="0" y="790222"/>
                  </a:moveTo>
                  <a:lnTo>
                    <a:pt x="0" y="101600"/>
                  </a:lnTo>
                  <a:lnTo>
                    <a:pt x="101600" y="0"/>
                  </a:lnTo>
                </a:path>
              </a:pathLst>
            </a:custGeom>
            <a:noFill/>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110" name="周小周PPT设计"/>
          <p:cNvGrpSpPr/>
          <p:nvPr/>
        </p:nvGrpSpPr>
        <p:grpSpPr>
          <a:xfrm>
            <a:off x="5937563" y="3881697"/>
            <a:ext cx="2429754" cy="1413632"/>
            <a:chOff x="4545643" y="3509587"/>
            <a:chExt cx="2429754" cy="1413632"/>
          </a:xfrm>
        </p:grpSpPr>
        <p:grpSp>
          <p:nvGrpSpPr>
            <p:cNvPr id="81" name="组合 80"/>
            <p:cNvGrpSpPr/>
            <p:nvPr/>
          </p:nvGrpSpPr>
          <p:grpSpPr>
            <a:xfrm>
              <a:off x="4579542" y="3686239"/>
              <a:ext cx="2395855" cy="1236980"/>
              <a:chOff x="2908334" y="1400411"/>
              <a:chExt cx="2395855" cy="1236980"/>
            </a:xfrm>
          </p:grpSpPr>
          <p:sp>
            <p:nvSpPr>
              <p:cNvPr id="82" name="周小周PPT设计-1"/>
              <p:cNvSpPr txBox="1"/>
              <p:nvPr/>
            </p:nvSpPr>
            <p:spPr>
              <a:xfrm>
                <a:off x="2936274" y="1400411"/>
                <a:ext cx="2367915" cy="306705"/>
              </a:xfrm>
              <a:prstGeom prst="rect">
                <a:avLst/>
              </a:prstGeom>
              <a:noFill/>
            </p:spPr>
            <p:txBody>
              <a:bodyPr wrap="square">
                <a:spAutoFit/>
              </a:bodyPr>
              <a:lstStyle/>
              <a:p>
                <a:r>
                  <a:rPr lang="en-US" altLang="zh-CN" sz="1400" b="1">
                    <a:solidFill>
                      <a:schemeClr val="tx2">
                        <a:lumMod val="50000"/>
                      </a:schemeClr>
                    </a:solidFill>
                    <a:latin typeface="+mj-ea"/>
                    <a:ea typeface="+mj-ea"/>
                  </a:rPr>
                  <a:t>2.</a:t>
                </a:r>
                <a:r>
                  <a:rPr lang="zh-CN" altLang="en-US" sz="1400" b="1">
                    <a:solidFill>
                      <a:schemeClr val="tx2">
                        <a:lumMod val="50000"/>
                      </a:schemeClr>
                    </a:solidFill>
                    <a:latin typeface="+mj-ea"/>
                    <a:ea typeface="+mj-ea"/>
                  </a:rPr>
                  <a:t>多任务统一解译基础模型</a:t>
                </a:r>
                <a:endParaRPr lang="zh-CN" altLang="en-US" sz="1400" b="1">
                  <a:solidFill>
                    <a:schemeClr val="tx2">
                      <a:lumMod val="50000"/>
                    </a:schemeClr>
                  </a:solidFill>
                  <a:latin typeface="+mj-ea"/>
                  <a:ea typeface="+mj-ea"/>
                </a:endParaRPr>
              </a:p>
            </p:txBody>
          </p:sp>
          <p:sp>
            <p:nvSpPr>
              <p:cNvPr id="83" name="周小周PPT设计-2"/>
              <p:cNvSpPr txBox="1"/>
              <p:nvPr/>
            </p:nvSpPr>
            <p:spPr>
              <a:xfrm flipH="1">
                <a:off x="2908334" y="1661396"/>
                <a:ext cx="2395855" cy="975995"/>
              </a:xfrm>
              <a:prstGeom prst="rect">
                <a:avLst/>
              </a:prstGeom>
              <a:noFill/>
            </p:spPr>
            <p:txBody>
              <a:bodyPr wrap="square" rtlCol="0">
                <a:spAutoFit/>
              </a:bodyPr>
              <a:lstStyle>
                <a:defPPr>
                  <a:defRPr lang="zh-CN"/>
                </a:defPPr>
                <a:lvl1pPr>
                  <a:lnSpc>
                    <a:spcPct val="120000"/>
                  </a:lnSpc>
                  <a:defRPr sz="1200">
                    <a:solidFill>
                      <a:schemeClr val="tx1">
                        <a:lumMod val="65000"/>
                        <a:lumOff val="35000"/>
                      </a:schemeClr>
                    </a:solidFill>
                  </a:defRPr>
                </a:lvl1pPr>
              </a:lstStyle>
              <a:p>
                <a:pPr algn="just"/>
                <a:r>
                  <a:rPr lang="zh-CN" altLang="en-US">
                    <a:solidFill>
                      <a:schemeClr val="tx2"/>
                    </a:solidFill>
                  </a:rPr>
                  <a:t>构建硬参数共享架构，将任务损失权重作为可学习超参数，由</a:t>
                </a:r>
                <a:r>
                  <a:rPr lang="en-US" altLang="zh-CN">
                    <a:solidFill>
                      <a:schemeClr val="tx2"/>
                    </a:solidFill>
                  </a:rPr>
                  <a:t>ADR-SSA</a:t>
                </a:r>
                <a:r>
                  <a:rPr lang="zh-CN" altLang="en-US">
                    <a:solidFill>
                      <a:schemeClr val="tx2"/>
                    </a:solidFill>
                  </a:rPr>
                  <a:t>动态分配，实现</a:t>
                </a:r>
                <a:r>
                  <a:rPr lang="zh-CN" altLang="en-US" b="1">
                    <a:solidFill>
                      <a:schemeClr val="tx2"/>
                    </a:solidFill>
                  </a:rPr>
                  <a:t>多任务协同优化与精度同步提升</a:t>
                </a:r>
                <a:r>
                  <a:rPr lang="zh-CN" altLang="en-US">
                    <a:solidFill>
                      <a:schemeClr val="tx2"/>
                    </a:solidFill>
                  </a:rPr>
                  <a:t>。</a:t>
                </a:r>
                <a:endParaRPr lang="zh-CN" altLang="en-US">
                  <a:solidFill>
                    <a:schemeClr val="tx2"/>
                  </a:solidFill>
                </a:endParaRPr>
              </a:p>
            </p:txBody>
          </p:sp>
        </p:grpSp>
        <p:sp>
          <p:nvSpPr>
            <p:cNvPr id="84" name="周小周PPT设计-3"/>
            <p:cNvSpPr/>
            <p:nvPr/>
          </p:nvSpPr>
          <p:spPr>
            <a:xfrm rot="5400000">
              <a:off x="5226045" y="2829184"/>
              <a:ext cx="76200" cy="1437005"/>
            </a:xfrm>
            <a:custGeom>
              <a:avLst/>
              <a:gdLst>
                <a:gd name="connsiteX0" fmla="*/ 0 w 101600"/>
                <a:gd name="connsiteY0" fmla="*/ 790222 h 790222"/>
                <a:gd name="connsiteX1" fmla="*/ 0 w 101600"/>
                <a:gd name="connsiteY1" fmla="*/ 101600 h 790222"/>
                <a:gd name="connsiteX2" fmla="*/ 101600 w 101600"/>
                <a:gd name="connsiteY2" fmla="*/ 0 h 790222"/>
              </a:gdLst>
              <a:ahLst/>
              <a:cxnLst>
                <a:cxn ang="0">
                  <a:pos x="connsiteX0" y="connsiteY0"/>
                </a:cxn>
                <a:cxn ang="0">
                  <a:pos x="connsiteX1" y="connsiteY1"/>
                </a:cxn>
                <a:cxn ang="0">
                  <a:pos x="connsiteX2" y="connsiteY2"/>
                </a:cxn>
              </a:cxnLst>
              <a:rect l="l" t="t" r="r" b="b"/>
              <a:pathLst>
                <a:path w="101600" h="790222">
                  <a:moveTo>
                    <a:pt x="0" y="790222"/>
                  </a:moveTo>
                  <a:lnTo>
                    <a:pt x="0" y="101600"/>
                  </a:lnTo>
                  <a:lnTo>
                    <a:pt x="101600" y="0"/>
                  </a:lnTo>
                </a:path>
              </a:pathLst>
            </a:custGeom>
            <a:noFill/>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107" name="周小周PPT设计"/>
          <p:cNvGrpSpPr/>
          <p:nvPr/>
        </p:nvGrpSpPr>
        <p:grpSpPr>
          <a:xfrm>
            <a:off x="2145487" y="5261565"/>
            <a:ext cx="2529820" cy="1249073"/>
            <a:chOff x="753567" y="4889455"/>
            <a:chExt cx="2529820" cy="1249073"/>
          </a:xfrm>
        </p:grpSpPr>
        <p:sp>
          <p:nvSpPr>
            <p:cNvPr id="85" name="周小周PPT设计-1"/>
            <p:cNvSpPr/>
            <p:nvPr/>
          </p:nvSpPr>
          <p:spPr>
            <a:xfrm flipH="1" flipV="1">
              <a:off x="3181787" y="4889455"/>
              <a:ext cx="101600" cy="790222"/>
            </a:xfrm>
            <a:custGeom>
              <a:avLst/>
              <a:gdLst>
                <a:gd name="connsiteX0" fmla="*/ 0 w 101600"/>
                <a:gd name="connsiteY0" fmla="*/ 790222 h 790222"/>
                <a:gd name="connsiteX1" fmla="*/ 0 w 101600"/>
                <a:gd name="connsiteY1" fmla="*/ 101600 h 790222"/>
                <a:gd name="connsiteX2" fmla="*/ 101600 w 101600"/>
                <a:gd name="connsiteY2" fmla="*/ 0 h 790222"/>
              </a:gdLst>
              <a:ahLst/>
              <a:cxnLst>
                <a:cxn ang="0">
                  <a:pos x="connsiteX0" y="connsiteY0"/>
                </a:cxn>
                <a:cxn ang="0">
                  <a:pos x="connsiteX1" y="connsiteY1"/>
                </a:cxn>
                <a:cxn ang="0">
                  <a:pos x="connsiteX2" y="connsiteY2"/>
                </a:cxn>
              </a:cxnLst>
              <a:rect l="l" t="t" r="r" b="b"/>
              <a:pathLst>
                <a:path w="101600" h="790222">
                  <a:moveTo>
                    <a:pt x="0" y="790222"/>
                  </a:moveTo>
                  <a:lnTo>
                    <a:pt x="0" y="101600"/>
                  </a:lnTo>
                  <a:lnTo>
                    <a:pt x="101600" y="0"/>
                  </a:lnTo>
                </a:path>
              </a:pathLst>
            </a:custGeom>
            <a:noFill/>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86" name="组合 85"/>
            <p:cNvGrpSpPr/>
            <p:nvPr/>
          </p:nvGrpSpPr>
          <p:grpSpPr>
            <a:xfrm>
              <a:off x="753567" y="4901548"/>
              <a:ext cx="2508885" cy="1236980"/>
              <a:chOff x="2346996" y="1400411"/>
              <a:chExt cx="2508885" cy="1236980"/>
            </a:xfrm>
          </p:grpSpPr>
          <p:sp>
            <p:nvSpPr>
              <p:cNvPr id="87" name="周小周PPT设计-2"/>
              <p:cNvSpPr txBox="1"/>
              <p:nvPr/>
            </p:nvSpPr>
            <p:spPr>
              <a:xfrm>
                <a:off x="2346996" y="1400411"/>
                <a:ext cx="2301240" cy="306705"/>
              </a:xfrm>
              <a:prstGeom prst="rect">
                <a:avLst/>
              </a:prstGeom>
              <a:noFill/>
            </p:spPr>
            <p:txBody>
              <a:bodyPr wrap="square">
                <a:spAutoFit/>
              </a:bodyPr>
              <a:lstStyle/>
              <a:p>
                <a:r>
                  <a:rPr lang="en-US" altLang="zh-CN" sz="1400" b="1">
                    <a:solidFill>
                      <a:schemeClr val="tx2">
                        <a:lumMod val="50000"/>
                      </a:schemeClr>
                    </a:solidFill>
                    <a:latin typeface="+mj-ea"/>
                    <a:ea typeface="+mj-ea"/>
                  </a:rPr>
                  <a:t>3.</a:t>
                </a:r>
                <a:r>
                  <a:rPr lang="zh-CN" altLang="en-US" sz="1400" b="1">
                    <a:solidFill>
                      <a:schemeClr val="tx2">
                        <a:lumMod val="50000"/>
                      </a:schemeClr>
                    </a:solidFill>
                    <a:latin typeface="+mj-ea"/>
                    <a:ea typeface="+mj-ea"/>
                  </a:rPr>
                  <a:t>深度学习与传统特征融合</a:t>
                </a:r>
                <a:endParaRPr lang="zh-CN" altLang="en-US" sz="1400" b="1">
                  <a:solidFill>
                    <a:schemeClr val="tx2">
                      <a:lumMod val="50000"/>
                    </a:schemeClr>
                  </a:solidFill>
                  <a:latin typeface="+mj-ea"/>
                  <a:ea typeface="+mj-ea"/>
                </a:endParaRPr>
              </a:p>
            </p:txBody>
          </p:sp>
          <p:sp>
            <p:nvSpPr>
              <p:cNvPr id="88" name="周小周PPT设计-3"/>
              <p:cNvSpPr txBox="1"/>
              <p:nvPr/>
            </p:nvSpPr>
            <p:spPr>
              <a:xfrm flipH="1">
                <a:off x="2374936" y="1661396"/>
                <a:ext cx="2480945" cy="975995"/>
              </a:xfrm>
              <a:prstGeom prst="rect">
                <a:avLst/>
              </a:prstGeom>
              <a:noFill/>
            </p:spPr>
            <p:txBody>
              <a:bodyPr wrap="square" rtlCol="0">
                <a:spAutoFit/>
              </a:bodyPr>
              <a:lstStyle>
                <a:defPPr>
                  <a:defRPr lang="zh-CN"/>
                </a:defPPr>
                <a:lvl1pPr>
                  <a:lnSpc>
                    <a:spcPct val="120000"/>
                  </a:lnSpc>
                  <a:defRPr sz="1200">
                    <a:solidFill>
                      <a:schemeClr val="tx1">
                        <a:lumMod val="65000"/>
                        <a:lumOff val="35000"/>
                      </a:schemeClr>
                    </a:solidFill>
                  </a:defRPr>
                </a:lvl1pPr>
              </a:lstStyle>
              <a:p>
                <a:pPr algn="just"/>
                <a:r>
                  <a:rPr lang="en-US" altLang="zh-CN">
                    <a:solidFill>
                      <a:schemeClr val="tx2"/>
                    </a:solidFill>
                  </a:rPr>
                  <a:t>ViT</a:t>
                </a:r>
                <a:r>
                  <a:rPr lang="zh-CN" altLang="en-US">
                    <a:solidFill>
                      <a:schemeClr val="tx2"/>
                    </a:solidFill>
                  </a:rPr>
                  <a:t>深层语义结合</a:t>
                </a:r>
                <a:r>
                  <a:rPr lang="en-US" altLang="zh-CN">
                    <a:solidFill>
                      <a:schemeClr val="tx2"/>
                    </a:solidFill>
                  </a:rPr>
                  <a:t>NDVI/GLCM</a:t>
                </a:r>
                <a:r>
                  <a:rPr lang="zh-CN" altLang="en-US">
                    <a:solidFill>
                      <a:schemeClr val="tx2"/>
                    </a:solidFill>
                  </a:rPr>
                  <a:t>物理特征，经</a:t>
                </a:r>
                <a:r>
                  <a:rPr lang="en-US" altLang="zh-CN">
                    <a:solidFill>
                      <a:schemeClr val="tx2"/>
                    </a:solidFill>
                  </a:rPr>
                  <a:t>XRFM</a:t>
                </a:r>
                <a:r>
                  <a:rPr lang="zh-CN" altLang="en-US">
                    <a:solidFill>
                      <a:schemeClr val="tx2"/>
                    </a:solidFill>
                  </a:rPr>
                  <a:t>基于</a:t>
                </a:r>
                <a:r>
                  <a:rPr lang="en-US" altLang="zh-CN">
                    <a:solidFill>
                      <a:schemeClr val="tx2"/>
                    </a:solidFill>
                  </a:rPr>
                  <a:t>AGOP</a:t>
                </a:r>
                <a:r>
                  <a:rPr lang="zh-CN" altLang="en-US">
                    <a:solidFill>
                      <a:schemeClr val="tx2"/>
                    </a:solidFill>
                  </a:rPr>
                  <a:t>主特征向量递归划分，有效应对同物异谱与异物同谱现象。</a:t>
                </a:r>
                <a:endParaRPr lang="zh-CN" altLang="en-US">
                  <a:solidFill>
                    <a:schemeClr val="tx2"/>
                  </a:solidFill>
                </a:endParaRPr>
              </a:p>
            </p:txBody>
          </p:sp>
        </p:grpSp>
      </p:grpSp>
      <p:grpSp>
        <p:nvGrpSpPr>
          <p:cNvPr id="108" name="周小周PPT设计"/>
          <p:cNvGrpSpPr/>
          <p:nvPr/>
        </p:nvGrpSpPr>
        <p:grpSpPr>
          <a:xfrm>
            <a:off x="1547916" y="2598117"/>
            <a:ext cx="2240915" cy="1457960"/>
            <a:chOff x="155996" y="2226007"/>
            <a:chExt cx="2240915" cy="1457960"/>
          </a:xfrm>
        </p:grpSpPr>
        <p:sp>
          <p:nvSpPr>
            <p:cNvPr id="89" name="周小周PPT设计-1"/>
            <p:cNvSpPr/>
            <p:nvPr/>
          </p:nvSpPr>
          <p:spPr>
            <a:xfrm rot="5400000" flipH="1" flipV="1">
              <a:off x="1444573" y="3175753"/>
              <a:ext cx="101600" cy="790222"/>
            </a:xfrm>
            <a:custGeom>
              <a:avLst/>
              <a:gdLst>
                <a:gd name="connsiteX0" fmla="*/ 0 w 101600"/>
                <a:gd name="connsiteY0" fmla="*/ 790222 h 790222"/>
                <a:gd name="connsiteX1" fmla="*/ 0 w 101600"/>
                <a:gd name="connsiteY1" fmla="*/ 101600 h 790222"/>
                <a:gd name="connsiteX2" fmla="*/ 101600 w 101600"/>
                <a:gd name="connsiteY2" fmla="*/ 0 h 790222"/>
              </a:gdLst>
              <a:ahLst/>
              <a:cxnLst>
                <a:cxn ang="0">
                  <a:pos x="connsiteX0" y="connsiteY0"/>
                </a:cxn>
                <a:cxn ang="0">
                  <a:pos x="connsiteX1" y="connsiteY1"/>
                </a:cxn>
                <a:cxn ang="0">
                  <a:pos x="connsiteX2" y="connsiteY2"/>
                </a:cxn>
              </a:cxnLst>
              <a:rect l="l" t="t" r="r" b="b"/>
              <a:pathLst>
                <a:path w="101600" h="790222">
                  <a:moveTo>
                    <a:pt x="0" y="790222"/>
                  </a:moveTo>
                  <a:lnTo>
                    <a:pt x="0" y="101600"/>
                  </a:lnTo>
                  <a:lnTo>
                    <a:pt x="101600" y="0"/>
                  </a:lnTo>
                </a:path>
              </a:pathLst>
            </a:custGeom>
            <a:noFill/>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93" name="组合 92"/>
            <p:cNvGrpSpPr/>
            <p:nvPr/>
          </p:nvGrpSpPr>
          <p:grpSpPr>
            <a:xfrm>
              <a:off x="155996" y="2226007"/>
              <a:ext cx="2240915" cy="1457960"/>
              <a:chOff x="2310799" y="1400411"/>
              <a:chExt cx="2240915" cy="1457960"/>
            </a:xfrm>
          </p:grpSpPr>
          <p:sp>
            <p:nvSpPr>
              <p:cNvPr id="94" name="周小周PPT设计-2"/>
              <p:cNvSpPr txBox="1"/>
              <p:nvPr/>
            </p:nvSpPr>
            <p:spPr>
              <a:xfrm>
                <a:off x="2310799" y="1400411"/>
                <a:ext cx="2240915" cy="306705"/>
              </a:xfrm>
              <a:prstGeom prst="rect">
                <a:avLst/>
              </a:prstGeom>
              <a:noFill/>
            </p:spPr>
            <p:txBody>
              <a:bodyPr wrap="square">
                <a:spAutoFit/>
              </a:bodyPr>
              <a:lstStyle/>
              <a:p>
                <a:r>
                  <a:rPr lang="en-US" altLang="zh-CN" sz="1400" b="1">
                    <a:solidFill>
                      <a:schemeClr val="tx2">
                        <a:lumMod val="50000"/>
                      </a:schemeClr>
                    </a:solidFill>
                    <a:latin typeface="+mj-ea"/>
                    <a:ea typeface="+mj-ea"/>
                  </a:rPr>
                  <a:t>4.</a:t>
                </a:r>
                <a:r>
                  <a:rPr lang="zh-CN" altLang="en-US" sz="1400" b="1">
                    <a:solidFill>
                      <a:schemeClr val="tx2">
                        <a:lumMod val="50000"/>
                      </a:schemeClr>
                    </a:solidFill>
                    <a:latin typeface="+mj-ea"/>
                    <a:ea typeface="+mj-ea"/>
                  </a:rPr>
                  <a:t>国产商业卫星适配验证</a:t>
                </a:r>
                <a:endParaRPr lang="zh-CN" altLang="en-US" sz="1400" b="1">
                  <a:solidFill>
                    <a:schemeClr val="tx2">
                      <a:lumMod val="50000"/>
                    </a:schemeClr>
                  </a:solidFill>
                  <a:latin typeface="+mj-ea"/>
                  <a:ea typeface="+mj-ea"/>
                </a:endParaRPr>
              </a:p>
            </p:txBody>
          </p:sp>
          <p:sp>
            <p:nvSpPr>
              <p:cNvPr id="95" name="周小周PPT设计-3"/>
              <p:cNvSpPr txBox="1"/>
              <p:nvPr/>
            </p:nvSpPr>
            <p:spPr>
              <a:xfrm flipH="1">
                <a:off x="2310799" y="1661396"/>
                <a:ext cx="2059305" cy="1196975"/>
              </a:xfrm>
              <a:prstGeom prst="rect">
                <a:avLst/>
              </a:prstGeom>
              <a:noFill/>
            </p:spPr>
            <p:txBody>
              <a:bodyPr wrap="square" rtlCol="0">
                <a:spAutoFit/>
              </a:bodyPr>
              <a:lstStyle>
                <a:defPPr>
                  <a:defRPr lang="zh-CN"/>
                </a:defPPr>
                <a:lvl1pPr>
                  <a:lnSpc>
                    <a:spcPct val="120000"/>
                  </a:lnSpc>
                  <a:defRPr sz="1200">
                    <a:solidFill>
                      <a:schemeClr val="tx1">
                        <a:lumMod val="65000"/>
                        <a:lumOff val="35000"/>
                      </a:schemeClr>
                    </a:solidFill>
                  </a:defRPr>
                </a:lvl1pPr>
              </a:lstStyle>
              <a:p>
                <a:r>
                  <a:rPr lang="zh-CN" altLang="en-US">
                    <a:solidFill>
                      <a:schemeClr val="tx2"/>
                    </a:solidFill>
                  </a:rPr>
                  <a:t>引入对抗学习域自适应模块，通过极小极大博弈消除跨传感器辐射差异，实现即插即用，保障多源数据推理</a:t>
                </a:r>
                <a:r>
                  <a:rPr lang="zh-CN" altLang="en-US" b="1">
                    <a:solidFill>
                      <a:schemeClr val="tx2"/>
                    </a:solidFill>
                  </a:rPr>
                  <a:t>稳定性</a:t>
                </a:r>
                <a:r>
                  <a:rPr lang="zh-CN" altLang="en-US">
                    <a:solidFill>
                      <a:schemeClr val="tx2"/>
                    </a:solidFill>
                  </a:rPr>
                  <a:t>。</a:t>
                </a:r>
                <a:endParaRPr lang="en-US" altLang="zh-CN">
                  <a:solidFill>
                    <a:schemeClr val="tx2"/>
                  </a:solidFill>
                </a:endParaRPr>
              </a:p>
            </p:txBody>
          </p:sp>
        </p:grpSp>
      </p:grpSp>
      <p:sp>
        <p:nvSpPr>
          <p:cNvPr id="100" name="周小周PPT设计"/>
          <p:cNvSpPr txBox="1"/>
          <p:nvPr/>
        </p:nvSpPr>
        <p:spPr>
          <a:xfrm>
            <a:off x="3784123" y="3653911"/>
            <a:ext cx="1704672" cy="368300"/>
          </a:xfrm>
          <a:prstGeom prst="rect">
            <a:avLst/>
          </a:prstGeom>
          <a:noFill/>
        </p:spPr>
        <p:txBody>
          <a:bodyPr wrap="square">
            <a:spAutoFit/>
          </a:bodyPr>
          <a:lstStyle>
            <a:defPPr>
              <a:defRPr lang="zh-CN"/>
            </a:defPPr>
            <a:lvl1pPr>
              <a:defRPr sz="1400">
                <a:solidFill>
                  <a:schemeClr val="accent1"/>
                </a:solidFill>
                <a:latin typeface="+mj-ea"/>
                <a:ea typeface="+mj-ea"/>
              </a:defRPr>
            </a:lvl1pPr>
          </a:lstStyle>
          <a:p>
            <a:pPr algn="ctr"/>
            <a:r>
              <a:rPr lang="en-US" altLang="zh-CN" sz="1800"/>
              <a:t>4</a:t>
            </a:r>
            <a:r>
              <a:rPr lang="zh-CN" altLang="en-US" sz="1800"/>
              <a:t>大创新点</a:t>
            </a:r>
            <a:endParaRPr lang="zh-CN" altLang="en-US" sz="1800"/>
          </a:p>
        </p:txBody>
      </p:sp>
      <p:sp>
        <p:nvSpPr>
          <p:cNvPr id="57" name="AutoShape 3"/>
          <p:cNvSpPr/>
          <p:nvPr/>
        </p:nvSpPr>
        <p:spPr>
          <a:xfrm>
            <a:off x="8914765" y="1321435"/>
            <a:ext cx="2806700" cy="5001895"/>
          </a:xfrm>
          <a:prstGeom prst="roundRect">
            <a:avLst>
              <a:gd name="adj" fmla="val 3157"/>
            </a:avLst>
          </a:prstGeom>
          <a:solidFill>
            <a:schemeClr val="bg1">
              <a:alpha val="62000"/>
            </a:schemeClr>
          </a:solidFill>
          <a:ln w="12700" cap="flat" cmpd="sng">
            <a:noFill/>
            <a:prstDash val="solid"/>
            <a:round/>
          </a:ln>
          <a:effectLst>
            <a:outerShdw blurRad="254000" dir="2700000" algn="tl" rotWithShape="0">
              <a:srgbClr val="00E5FF">
                <a:alpha val="15000"/>
              </a:srgbClr>
            </a:outerShdw>
          </a:effectLst>
        </p:spPr>
        <p:txBody>
          <a:bodyPr vert="horz" wrap="square" lIns="63500" tIns="63500" rIns="63500" bIns="63500" rtlCol="0" anchor="ctr"/>
          <a:lstStyle/>
          <a:p>
            <a:pPr algn="ctr">
              <a:defRPr/>
            </a:pPr>
          </a:p>
        </p:txBody>
      </p:sp>
      <p:grpSp>
        <p:nvGrpSpPr>
          <p:cNvPr id="54" name="成组"/>
          <p:cNvGrpSpPr/>
          <p:nvPr/>
        </p:nvGrpSpPr>
        <p:grpSpPr>
          <a:xfrm>
            <a:off x="9301480" y="1446530"/>
            <a:ext cx="2099310" cy="556260"/>
            <a:chOff x="-7307769" y="-149281"/>
            <a:chExt cx="3618727" cy="793514"/>
          </a:xfrm>
        </p:grpSpPr>
        <p:sp>
          <p:nvSpPr>
            <p:cNvPr id="55" name="圆角矩形"/>
            <p:cNvSpPr/>
            <p:nvPr/>
          </p:nvSpPr>
          <p:spPr>
            <a:xfrm>
              <a:off x="-7307769" y="-149281"/>
              <a:ext cx="3618727" cy="793514"/>
            </a:xfrm>
            <a:prstGeom prst="roundRect">
              <a:avLst>
                <a:gd name="adj" fmla="val 50000"/>
              </a:avLst>
            </a:prstGeom>
            <a:gradFill flip="none" rotWithShape="1">
              <a:gsLst>
                <a:gs pos="0">
                  <a:schemeClr val="tx2">
                    <a:lumMod val="10000"/>
                    <a:lumOff val="90000"/>
                  </a:schemeClr>
                </a:gs>
                <a:gs pos="67000">
                  <a:schemeClr val="tx2">
                    <a:lumMod val="75000"/>
                    <a:lumOff val="25000"/>
                  </a:schemeClr>
                </a:gs>
              </a:gsLst>
              <a:lin ang="2700000" scaled="1"/>
              <a:tileRect/>
            </a:gradFill>
            <a:ln w="12700" cap="flat" cmpd="sng" algn="ctr">
              <a:noFill/>
              <a:prstDash val="solid"/>
              <a:miter lim="800000"/>
            </a:ln>
            <a:effectLst/>
          </p:spPr>
          <p:txBody>
            <a:bodyPr rtlCol="0" anchor="ctr"/>
            <a:lstStyle/>
            <a:p>
              <a:pPr algn="ctr"/>
              <a:endParaRPr b="1" kern="0">
                <a:solidFill>
                  <a:prstClr val="white"/>
                </a:solidFill>
                <a:latin typeface="微软雅黑" panose="020B0503020204020204" pitchFamily="34" charset="-122"/>
                <a:ea typeface="微软雅黑" panose="020B0503020204020204" pitchFamily="34" charset="-122"/>
                <a:sym typeface="+mn-lt"/>
              </a:endParaRPr>
            </a:p>
          </p:txBody>
        </p:sp>
        <p:sp>
          <p:nvSpPr>
            <p:cNvPr id="56" name="云仓备货模式，农特产品保证24h内发货！"/>
            <p:cNvSpPr txBox="1"/>
            <p:nvPr/>
          </p:nvSpPr>
          <p:spPr>
            <a:xfrm>
              <a:off x="-6835372" y="-34807"/>
              <a:ext cx="2685396" cy="564566"/>
            </a:xfrm>
            <a:prstGeom prst="rect">
              <a:avLst/>
            </a:prstGeom>
            <a:noFill/>
            <a:ln w="12700" cap="flat" cmpd="sng" algn="ctr">
              <a:noFill/>
              <a:prstDash val="solid"/>
              <a:miter lim="800000"/>
            </a:ln>
            <a:effectLst/>
          </p:spPr>
          <p:txBody>
            <a:bodyPr rtlCol="0" anchor="ctr"/>
            <a:lstStyle>
              <a:defPPr>
                <a:defRPr lang="zh-CN"/>
              </a:defPPr>
              <a:lvl1pPr algn="ctr">
                <a:defRPr b="1" kern="0">
                  <a:solidFill>
                    <a:prstClr val="white"/>
                  </a:solidFill>
                  <a:latin typeface="微软雅黑" panose="020B0503020204020204" pitchFamily="34" charset="-122"/>
                  <a:ea typeface="微软雅黑" panose="020B0503020204020204" pitchFamily="34" charset="-122"/>
                </a:defRPr>
              </a:lvl1pPr>
            </a:lstStyle>
            <a:p>
              <a:r>
                <a:rPr lang="zh-CN" altLang="en-US" dirty="0">
                  <a:sym typeface="+mn-lt"/>
                </a:rPr>
                <a:t>优势</a:t>
              </a:r>
              <a:endParaRPr lang="zh-CN" altLang="en-US" dirty="0">
                <a:sym typeface="+mn-lt"/>
              </a:endParaRPr>
            </a:p>
          </p:txBody>
        </p:sp>
      </p:grpSp>
      <p:sp>
        <p:nvSpPr>
          <p:cNvPr id="58" name="文本框 57"/>
          <p:cNvSpPr txBox="1"/>
          <p:nvPr/>
        </p:nvSpPr>
        <p:spPr>
          <a:xfrm>
            <a:off x="9672320" y="2255520"/>
            <a:ext cx="1480185" cy="521970"/>
          </a:xfrm>
          <a:prstGeom prst="rect">
            <a:avLst/>
          </a:prstGeom>
          <a:noFill/>
        </p:spPr>
        <p:txBody>
          <a:bodyPr wrap="square" rtlCol="0">
            <a:spAutoFit/>
          </a:bodyPr>
          <a:p>
            <a:r>
              <a:rPr lang="zh-CN" altLang="en-US" sz="2800" b="1"/>
              <a:t>高精度</a:t>
            </a:r>
            <a:endParaRPr lang="zh-CN" altLang="en-US" sz="2800" b="1"/>
          </a:p>
        </p:txBody>
      </p:sp>
      <p:sp>
        <p:nvSpPr>
          <p:cNvPr id="59" name="文本框 58"/>
          <p:cNvSpPr txBox="1"/>
          <p:nvPr/>
        </p:nvSpPr>
        <p:spPr>
          <a:xfrm>
            <a:off x="9672320" y="3225800"/>
            <a:ext cx="1480185" cy="521970"/>
          </a:xfrm>
          <a:prstGeom prst="rect">
            <a:avLst/>
          </a:prstGeom>
          <a:noFill/>
        </p:spPr>
        <p:txBody>
          <a:bodyPr wrap="square" rtlCol="0">
            <a:spAutoFit/>
          </a:bodyPr>
          <a:p>
            <a:pPr algn="l">
              <a:buClrTx/>
              <a:buSzTx/>
              <a:buFontTx/>
            </a:pPr>
            <a:r>
              <a:rPr lang="zh-CN" altLang="en-US" sz="2800" b="1"/>
              <a:t>强鲁棒</a:t>
            </a:r>
            <a:endParaRPr lang="zh-CN" altLang="en-US" sz="2800" b="1"/>
          </a:p>
        </p:txBody>
      </p:sp>
      <p:sp>
        <p:nvSpPr>
          <p:cNvPr id="60" name="文本框 59"/>
          <p:cNvSpPr txBox="1"/>
          <p:nvPr/>
        </p:nvSpPr>
        <p:spPr>
          <a:xfrm>
            <a:off x="9672320" y="4196080"/>
            <a:ext cx="1480185" cy="521970"/>
          </a:xfrm>
          <a:prstGeom prst="rect">
            <a:avLst/>
          </a:prstGeom>
          <a:noFill/>
        </p:spPr>
        <p:txBody>
          <a:bodyPr wrap="square" rtlCol="0">
            <a:spAutoFit/>
          </a:bodyPr>
          <a:p>
            <a:r>
              <a:rPr lang="zh-CN" altLang="en-US" sz="2800" b="1"/>
              <a:t>全自动</a:t>
            </a:r>
            <a:endParaRPr lang="zh-CN" altLang="en-US" sz="2800" b="1"/>
          </a:p>
        </p:txBody>
      </p:sp>
      <p:sp>
        <p:nvSpPr>
          <p:cNvPr id="61" name="文本框 60"/>
          <p:cNvSpPr txBox="1"/>
          <p:nvPr/>
        </p:nvSpPr>
        <p:spPr>
          <a:xfrm>
            <a:off x="9589135" y="5166360"/>
            <a:ext cx="1702435" cy="521970"/>
          </a:xfrm>
          <a:prstGeom prst="rect">
            <a:avLst/>
          </a:prstGeom>
          <a:noFill/>
        </p:spPr>
        <p:txBody>
          <a:bodyPr wrap="square" rtlCol="0">
            <a:spAutoFit/>
          </a:bodyPr>
          <a:p>
            <a:pPr algn="l">
              <a:buClrTx/>
              <a:buSzTx/>
              <a:buFontTx/>
            </a:pPr>
            <a:r>
              <a:rPr lang="zh-CN" altLang="en-US" sz="2800" b="1"/>
              <a:t>国产适配</a:t>
            </a:r>
            <a:endParaRPr lang="zh-CN" altLang="en-US" sz="2800" b="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图片 25"/>
          <p:cNvPicPr>
            <a:picLocks noChangeAspect="1"/>
          </p:cNvPicPr>
          <p:nvPr/>
        </p:nvPicPr>
        <p:blipFill>
          <a:blip r:embed="rId1"/>
          <a:srcRect t="1288"/>
          <a:stretch>
            <a:fillRect/>
          </a:stretch>
        </p:blipFill>
        <p:spPr>
          <a:xfrm flipH="1">
            <a:off x="-2" y="0"/>
            <a:ext cx="8436079" cy="6857999"/>
          </a:xfrm>
          <a:custGeom>
            <a:avLst/>
            <a:gdLst>
              <a:gd name="connsiteX0" fmla="*/ 8756888 w 8756888"/>
              <a:gd name="connsiteY0" fmla="*/ 0 h 6857999"/>
              <a:gd name="connsiteX1" fmla="*/ 0 w 8756888"/>
              <a:gd name="connsiteY1" fmla="*/ 0 h 6857999"/>
              <a:gd name="connsiteX2" fmla="*/ 0 w 8756888"/>
              <a:gd name="connsiteY2" fmla="*/ 6857999 h 6857999"/>
              <a:gd name="connsiteX3" fmla="*/ 8756888 w 8756888"/>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8756888" h="6857999">
                <a:moveTo>
                  <a:pt x="8756888" y="0"/>
                </a:moveTo>
                <a:lnTo>
                  <a:pt x="0" y="0"/>
                </a:lnTo>
                <a:lnTo>
                  <a:pt x="0" y="6857999"/>
                </a:lnTo>
                <a:lnTo>
                  <a:pt x="8756888" y="6857999"/>
                </a:lnTo>
                <a:close/>
              </a:path>
            </a:pathLst>
          </a:custGeom>
        </p:spPr>
      </p:pic>
      <p:pic>
        <p:nvPicPr>
          <p:cNvPr id="5" name="图片 4"/>
          <p:cNvPicPr>
            <a:picLocks noChangeAspect="1"/>
          </p:cNvPicPr>
          <p:nvPr/>
        </p:nvPicPr>
        <p:blipFill>
          <a:blip r:embed="rId1"/>
          <a:srcRect t="1288"/>
          <a:stretch>
            <a:fillRect/>
          </a:stretch>
        </p:blipFill>
        <p:spPr>
          <a:xfrm>
            <a:off x="3739487" y="0"/>
            <a:ext cx="8436079" cy="6857999"/>
          </a:xfrm>
          <a:custGeom>
            <a:avLst/>
            <a:gdLst>
              <a:gd name="connsiteX0" fmla="*/ 8756888 w 8756888"/>
              <a:gd name="connsiteY0" fmla="*/ 0 h 6857999"/>
              <a:gd name="connsiteX1" fmla="*/ 0 w 8756888"/>
              <a:gd name="connsiteY1" fmla="*/ 0 h 6857999"/>
              <a:gd name="connsiteX2" fmla="*/ 0 w 8756888"/>
              <a:gd name="connsiteY2" fmla="*/ 6857999 h 6857999"/>
              <a:gd name="connsiteX3" fmla="*/ 8756888 w 8756888"/>
              <a:gd name="connsiteY3" fmla="*/ 6857999 h 6857999"/>
            </a:gdLst>
            <a:ahLst/>
            <a:cxnLst>
              <a:cxn ang="0">
                <a:pos x="connsiteX0" y="connsiteY0"/>
              </a:cxn>
              <a:cxn ang="0">
                <a:pos x="connsiteX1" y="connsiteY1"/>
              </a:cxn>
              <a:cxn ang="0">
                <a:pos x="connsiteX2" y="connsiteY2"/>
              </a:cxn>
              <a:cxn ang="0">
                <a:pos x="connsiteX3" y="connsiteY3"/>
              </a:cxn>
            </a:cxnLst>
            <a:rect l="l" t="t" r="r" b="b"/>
            <a:pathLst>
              <a:path w="8756888" h="6857999">
                <a:moveTo>
                  <a:pt x="8756888" y="0"/>
                </a:moveTo>
                <a:lnTo>
                  <a:pt x="0" y="0"/>
                </a:lnTo>
                <a:lnTo>
                  <a:pt x="0" y="6857999"/>
                </a:lnTo>
                <a:lnTo>
                  <a:pt x="8756888" y="6857999"/>
                </a:lnTo>
                <a:close/>
              </a:path>
            </a:pathLst>
          </a:custGeom>
        </p:spPr>
      </p:pic>
      <p:sp>
        <p:nvSpPr>
          <p:cNvPr id="31" name="任意多边形: 形状 30"/>
          <p:cNvSpPr/>
          <p:nvPr/>
        </p:nvSpPr>
        <p:spPr>
          <a:xfrm>
            <a:off x="2920257" y="3723044"/>
            <a:ext cx="6351487" cy="6387254"/>
          </a:xfrm>
          <a:custGeom>
            <a:avLst/>
            <a:gdLst>
              <a:gd name="connsiteX0" fmla="*/ 932592 w 3225931"/>
              <a:gd name="connsiteY0" fmla="*/ 1196496 h 3244097"/>
              <a:gd name="connsiteX1" fmla="*/ 857821 w 3225931"/>
              <a:gd name="connsiteY1" fmla="*/ 1276125 h 3244097"/>
              <a:gd name="connsiteX2" fmla="*/ 802862 w 3225931"/>
              <a:gd name="connsiteY2" fmla="*/ 1455956 h 3244097"/>
              <a:gd name="connsiteX3" fmla="*/ 798290 w 3225931"/>
              <a:gd name="connsiteY3" fmla="*/ 1476816 h 3244097"/>
              <a:gd name="connsiteX4" fmla="*/ 781145 w 3225931"/>
              <a:gd name="connsiteY4" fmla="*/ 1767138 h 3244097"/>
              <a:gd name="connsiteX5" fmla="*/ 770001 w 3225931"/>
              <a:gd name="connsiteY5" fmla="*/ 1862388 h 3244097"/>
              <a:gd name="connsiteX6" fmla="*/ 768000 w 3225931"/>
              <a:gd name="connsiteY6" fmla="*/ 1890392 h 3244097"/>
              <a:gd name="connsiteX7" fmla="*/ 781812 w 3225931"/>
              <a:gd name="connsiteY7" fmla="*/ 2142328 h 3244097"/>
              <a:gd name="connsiteX8" fmla="*/ 795718 w 3225931"/>
              <a:gd name="connsiteY8" fmla="*/ 2233101 h 3244097"/>
              <a:gd name="connsiteX9" fmla="*/ 812482 w 3225931"/>
              <a:gd name="connsiteY9" fmla="*/ 2370261 h 3244097"/>
              <a:gd name="connsiteX10" fmla="*/ 812482 w 3225931"/>
              <a:gd name="connsiteY10" fmla="*/ 2616482 h 3244097"/>
              <a:gd name="connsiteX11" fmla="*/ 791337 w 3225931"/>
              <a:gd name="connsiteY11" fmla="*/ 2719638 h 3244097"/>
              <a:gd name="connsiteX12" fmla="*/ 747522 w 3225931"/>
              <a:gd name="connsiteY12" fmla="*/ 2879754 h 3244097"/>
              <a:gd name="connsiteX13" fmla="*/ 755237 w 3225931"/>
              <a:gd name="connsiteY13" fmla="*/ 2909948 h 3244097"/>
              <a:gd name="connsiteX14" fmla="*/ 736854 w 3225931"/>
              <a:gd name="connsiteY14" fmla="*/ 2977671 h 3244097"/>
              <a:gd name="connsiteX15" fmla="*/ 664940 w 3225931"/>
              <a:gd name="connsiteY15" fmla="*/ 3040250 h 3244097"/>
              <a:gd name="connsiteX16" fmla="*/ 556355 w 3225931"/>
              <a:gd name="connsiteY16" fmla="*/ 3077207 h 3244097"/>
              <a:gd name="connsiteX17" fmla="*/ 477678 w 3225931"/>
              <a:gd name="connsiteY17" fmla="*/ 3057395 h 3244097"/>
              <a:gd name="connsiteX18" fmla="*/ 457771 w 3225931"/>
              <a:gd name="connsiteY18" fmla="*/ 2993577 h 3244097"/>
              <a:gd name="connsiteX19" fmla="*/ 481298 w 3225931"/>
              <a:gd name="connsiteY19" fmla="*/ 2962431 h 3244097"/>
              <a:gd name="connsiteX20" fmla="*/ 520827 w 3225931"/>
              <a:gd name="connsiteY20" fmla="*/ 2921378 h 3244097"/>
              <a:gd name="connsiteX21" fmla="*/ 570357 w 3225931"/>
              <a:gd name="connsiteY21" fmla="*/ 2831938 h 3244097"/>
              <a:gd name="connsiteX22" fmla="*/ 534924 w 3225931"/>
              <a:gd name="connsiteY22" fmla="*/ 2835367 h 3244097"/>
              <a:gd name="connsiteX23" fmla="*/ 377571 w 3225931"/>
              <a:gd name="connsiteY23" fmla="*/ 2850131 h 3244097"/>
              <a:gd name="connsiteX24" fmla="*/ 329946 w 3225931"/>
              <a:gd name="connsiteY24" fmla="*/ 2854607 h 3244097"/>
              <a:gd name="connsiteX25" fmla="*/ 189452 w 3225931"/>
              <a:gd name="connsiteY25" fmla="*/ 2881373 h 3244097"/>
              <a:gd name="connsiteX26" fmla="*/ 126206 w 3225931"/>
              <a:gd name="connsiteY26" fmla="*/ 2790409 h 3244097"/>
              <a:gd name="connsiteX27" fmla="*/ 271176 w 3225931"/>
              <a:gd name="connsiteY27" fmla="*/ 2728306 h 3244097"/>
              <a:gd name="connsiteX28" fmla="*/ 320706 w 3225931"/>
              <a:gd name="connsiteY28" fmla="*/ 2605719 h 3244097"/>
              <a:gd name="connsiteX29" fmla="*/ 321373 w 3225931"/>
              <a:gd name="connsiteY29" fmla="*/ 2510469 h 3244097"/>
              <a:gd name="connsiteX30" fmla="*/ 315753 w 3225931"/>
              <a:gd name="connsiteY30" fmla="*/ 2378643 h 3244097"/>
              <a:gd name="connsiteX31" fmla="*/ 302799 w 3225931"/>
              <a:gd name="connsiteY31" fmla="*/ 2262724 h 3244097"/>
              <a:gd name="connsiteX32" fmla="*/ 277558 w 3225931"/>
              <a:gd name="connsiteY32" fmla="*/ 2168617 h 3244097"/>
              <a:gd name="connsiteX33" fmla="*/ 239458 w 3225931"/>
              <a:gd name="connsiteY33" fmla="*/ 2007168 h 3244097"/>
              <a:gd name="connsiteX34" fmla="*/ 218694 w 3225931"/>
              <a:gd name="connsiteY34" fmla="*/ 1881057 h 3244097"/>
              <a:gd name="connsiteX35" fmla="*/ 182022 w 3225931"/>
              <a:gd name="connsiteY35" fmla="*/ 1715322 h 3244097"/>
              <a:gd name="connsiteX36" fmla="*/ 154209 w 3225931"/>
              <a:gd name="connsiteY36" fmla="*/ 1587116 h 3244097"/>
              <a:gd name="connsiteX37" fmla="*/ 139446 w 3225931"/>
              <a:gd name="connsiteY37" fmla="*/ 1358516 h 3244097"/>
              <a:gd name="connsiteX38" fmla="*/ 41052 w 3225931"/>
              <a:gd name="connsiteY38" fmla="*/ 1238977 h 3244097"/>
              <a:gd name="connsiteX39" fmla="*/ 5143 w 3225931"/>
              <a:gd name="connsiteY39" fmla="*/ 1179160 h 3244097"/>
              <a:gd name="connsiteX40" fmla="*/ 72294 w 3225931"/>
              <a:gd name="connsiteY40" fmla="*/ 1002852 h 3244097"/>
              <a:gd name="connsiteX41" fmla="*/ 118205 w 3225931"/>
              <a:gd name="connsiteY41" fmla="*/ 976754 h 3244097"/>
              <a:gd name="connsiteX42" fmla="*/ 184880 w 3225931"/>
              <a:gd name="connsiteY42" fmla="*/ 940368 h 3244097"/>
              <a:gd name="connsiteX43" fmla="*/ 237077 w 3225931"/>
              <a:gd name="connsiteY43" fmla="*/ 789111 h 3244097"/>
              <a:gd name="connsiteX44" fmla="*/ 406050 w 3225931"/>
              <a:gd name="connsiteY44" fmla="*/ 602516 h 3244097"/>
              <a:gd name="connsiteX45" fmla="*/ 468725 w 3225931"/>
              <a:gd name="connsiteY45" fmla="*/ 525078 h 3244097"/>
              <a:gd name="connsiteX46" fmla="*/ 464439 w 3225931"/>
              <a:gd name="connsiteY46" fmla="*/ 420303 h 3244097"/>
              <a:gd name="connsiteX47" fmla="*/ 444436 w 3225931"/>
              <a:gd name="connsiteY47" fmla="*/ 387347 h 3244097"/>
              <a:gd name="connsiteX48" fmla="*/ 419195 w 3225931"/>
              <a:gd name="connsiteY48" fmla="*/ 284382 h 3244097"/>
              <a:gd name="connsiteX49" fmla="*/ 433768 w 3225931"/>
              <a:gd name="connsiteY49" fmla="*/ 176273 h 3244097"/>
              <a:gd name="connsiteX50" fmla="*/ 513588 w 3225931"/>
              <a:gd name="connsiteY50" fmla="*/ 73879 h 3244097"/>
              <a:gd name="connsiteX51" fmla="*/ 730853 w 3225931"/>
              <a:gd name="connsiteY51" fmla="*/ 217897 h 3244097"/>
              <a:gd name="connsiteX52" fmla="*/ 691991 w 3225931"/>
              <a:gd name="connsiteY52" fmla="*/ 404396 h 3244097"/>
              <a:gd name="connsiteX53" fmla="*/ 733139 w 3225931"/>
              <a:gd name="connsiteY53" fmla="*/ 517839 h 3244097"/>
              <a:gd name="connsiteX54" fmla="*/ 852773 w 3225931"/>
              <a:gd name="connsiteY54" fmla="*/ 594992 h 3244097"/>
              <a:gd name="connsiteX55" fmla="*/ 934783 w 3225931"/>
              <a:gd name="connsiteY55" fmla="*/ 585467 h 3244097"/>
              <a:gd name="connsiteX56" fmla="*/ 1069276 w 3225931"/>
              <a:gd name="connsiteY56" fmla="*/ 521363 h 3244097"/>
              <a:gd name="connsiteX57" fmla="*/ 1141571 w 3225931"/>
              <a:gd name="connsiteY57" fmla="*/ 388013 h 3244097"/>
              <a:gd name="connsiteX58" fmla="*/ 1112996 w 3225931"/>
              <a:gd name="connsiteY58" fmla="*/ 113979 h 3244097"/>
              <a:gd name="connsiteX59" fmla="*/ 1277397 w 3225931"/>
              <a:gd name="connsiteY59" fmla="*/ 10252 h 3244097"/>
              <a:gd name="connsiteX60" fmla="*/ 1402651 w 3225931"/>
              <a:gd name="connsiteY60" fmla="*/ 152270 h 3244097"/>
              <a:gd name="connsiteX61" fmla="*/ 1385125 w 3225931"/>
              <a:gd name="connsiteY61" fmla="*/ 353342 h 3244097"/>
              <a:gd name="connsiteX62" fmla="*/ 1454467 w 3225931"/>
              <a:gd name="connsiteY62" fmla="*/ 442973 h 3244097"/>
              <a:gd name="connsiteX63" fmla="*/ 1537239 w 3225931"/>
              <a:gd name="connsiteY63" fmla="*/ 463928 h 3244097"/>
              <a:gd name="connsiteX64" fmla="*/ 1667446 w 3225931"/>
              <a:gd name="connsiteY64" fmla="*/ 582704 h 3244097"/>
              <a:gd name="connsiteX65" fmla="*/ 1688592 w 3225931"/>
              <a:gd name="connsiteY65" fmla="*/ 577466 h 3244097"/>
              <a:gd name="connsiteX66" fmla="*/ 1877473 w 3225931"/>
              <a:gd name="connsiteY66" fmla="*/ 482216 h 3244097"/>
              <a:gd name="connsiteX67" fmla="*/ 1923954 w 3225931"/>
              <a:gd name="connsiteY67" fmla="*/ 356390 h 3244097"/>
              <a:gd name="connsiteX68" fmla="*/ 1918144 w 3225931"/>
              <a:gd name="connsiteY68" fmla="*/ 343341 h 3244097"/>
              <a:gd name="connsiteX69" fmla="*/ 1893474 w 3225931"/>
              <a:gd name="connsiteY69" fmla="*/ 121694 h 3244097"/>
              <a:gd name="connsiteX70" fmla="*/ 1905571 w 3225931"/>
              <a:gd name="connsiteY70" fmla="*/ 93119 h 3244097"/>
              <a:gd name="connsiteX71" fmla="*/ 1985295 w 3225931"/>
              <a:gd name="connsiteY71" fmla="*/ 12252 h 3244097"/>
              <a:gd name="connsiteX72" fmla="*/ 2072640 w 3225931"/>
              <a:gd name="connsiteY72" fmla="*/ 11395 h 3244097"/>
              <a:gd name="connsiteX73" fmla="*/ 2136171 w 3225931"/>
              <a:gd name="connsiteY73" fmla="*/ 53876 h 3244097"/>
              <a:gd name="connsiteX74" fmla="*/ 2180653 w 3225931"/>
              <a:gd name="connsiteY74" fmla="*/ 135696 h 3244097"/>
              <a:gd name="connsiteX75" fmla="*/ 2171128 w 3225931"/>
              <a:gd name="connsiteY75" fmla="*/ 309908 h 3244097"/>
              <a:gd name="connsiteX76" fmla="*/ 2140172 w 3225931"/>
              <a:gd name="connsiteY76" fmla="*/ 439639 h 3244097"/>
              <a:gd name="connsiteX77" fmla="*/ 2151507 w 3225931"/>
              <a:gd name="connsiteY77" fmla="*/ 478882 h 3244097"/>
              <a:gd name="connsiteX78" fmla="*/ 2177034 w 3225931"/>
              <a:gd name="connsiteY78" fmla="*/ 562892 h 3244097"/>
              <a:gd name="connsiteX79" fmla="*/ 2203227 w 3225931"/>
              <a:gd name="connsiteY79" fmla="*/ 596611 h 3244097"/>
              <a:gd name="connsiteX80" fmla="*/ 2291905 w 3225931"/>
              <a:gd name="connsiteY80" fmla="*/ 672811 h 3244097"/>
              <a:gd name="connsiteX81" fmla="*/ 2317813 w 3225931"/>
              <a:gd name="connsiteY81" fmla="*/ 744344 h 3244097"/>
              <a:gd name="connsiteX82" fmla="*/ 2319909 w 3225931"/>
              <a:gd name="connsiteY82" fmla="*/ 844166 h 3244097"/>
              <a:gd name="connsiteX83" fmla="*/ 2333625 w 3225931"/>
              <a:gd name="connsiteY83" fmla="*/ 865883 h 3244097"/>
              <a:gd name="connsiteX84" fmla="*/ 2350675 w 3225931"/>
              <a:gd name="connsiteY84" fmla="*/ 843785 h 3244097"/>
              <a:gd name="connsiteX85" fmla="*/ 2410110 w 3225931"/>
              <a:gd name="connsiteY85" fmla="*/ 593849 h 3244097"/>
              <a:gd name="connsiteX86" fmla="*/ 2492597 w 3225931"/>
              <a:gd name="connsiteY86" fmla="*/ 516696 h 3244097"/>
              <a:gd name="connsiteX87" fmla="*/ 2624613 w 3225931"/>
              <a:gd name="connsiteY87" fmla="*/ 491169 h 3244097"/>
              <a:gd name="connsiteX88" fmla="*/ 2723007 w 3225931"/>
              <a:gd name="connsiteY88" fmla="*/ 392014 h 3244097"/>
              <a:gd name="connsiteX89" fmla="*/ 2716530 w 3225931"/>
              <a:gd name="connsiteY89" fmla="*/ 358962 h 3244097"/>
              <a:gd name="connsiteX90" fmla="*/ 2701194 w 3225931"/>
              <a:gd name="connsiteY90" fmla="*/ 244662 h 3244097"/>
              <a:gd name="connsiteX91" fmla="*/ 2710719 w 3225931"/>
              <a:gd name="connsiteY91" fmla="*/ 175511 h 3244097"/>
              <a:gd name="connsiteX92" fmla="*/ 2816733 w 3225931"/>
              <a:gd name="connsiteY92" fmla="*/ 65687 h 3244097"/>
              <a:gd name="connsiteX93" fmla="*/ 2950083 w 3225931"/>
              <a:gd name="connsiteY93" fmla="*/ 136934 h 3244097"/>
              <a:gd name="connsiteX94" fmla="*/ 2963037 w 3225931"/>
              <a:gd name="connsiteY94" fmla="*/ 255902 h 3244097"/>
              <a:gd name="connsiteX95" fmla="*/ 2934462 w 3225931"/>
              <a:gd name="connsiteY95" fmla="*/ 391157 h 3244097"/>
              <a:gd name="connsiteX96" fmla="*/ 2997708 w 3225931"/>
              <a:gd name="connsiteY96" fmla="*/ 552605 h 3244097"/>
              <a:gd name="connsiteX97" fmla="*/ 3075527 w 3225931"/>
              <a:gd name="connsiteY97" fmla="*/ 587181 h 3244097"/>
              <a:gd name="connsiteX98" fmla="*/ 3154108 w 3225931"/>
              <a:gd name="connsiteY98" fmla="*/ 725865 h 3244097"/>
              <a:gd name="connsiteX99" fmla="*/ 3155537 w 3225931"/>
              <a:gd name="connsiteY99" fmla="*/ 872169 h 3244097"/>
              <a:gd name="connsiteX100" fmla="*/ 3175825 w 3225931"/>
              <a:gd name="connsiteY100" fmla="*/ 1004281 h 3244097"/>
              <a:gd name="connsiteX101" fmla="*/ 3221926 w 3225931"/>
              <a:gd name="connsiteY101" fmla="*/ 1260884 h 3244097"/>
              <a:gd name="connsiteX102" fmla="*/ 3168777 w 3225931"/>
              <a:gd name="connsiteY102" fmla="*/ 1340609 h 3244097"/>
              <a:gd name="connsiteX103" fmla="*/ 3128200 w 3225931"/>
              <a:gd name="connsiteY103" fmla="*/ 1330322 h 3244097"/>
              <a:gd name="connsiteX104" fmla="*/ 3077813 w 3225931"/>
              <a:gd name="connsiteY104" fmla="*/ 1289459 h 3244097"/>
              <a:gd name="connsiteX105" fmla="*/ 3073812 w 3225931"/>
              <a:gd name="connsiteY105" fmla="*/ 1328893 h 3244097"/>
              <a:gd name="connsiteX106" fmla="*/ 3073146 w 3225931"/>
              <a:gd name="connsiteY106" fmla="*/ 1582353 h 3244097"/>
              <a:gd name="connsiteX107" fmla="*/ 3047142 w 3225931"/>
              <a:gd name="connsiteY107" fmla="*/ 1788665 h 3244097"/>
              <a:gd name="connsiteX108" fmla="*/ 3024568 w 3225931"/>
              <a:gd name="connsiteY108" fmla="*/ 1928492 h 3244097"/>
              <a:gd name="connsiteX109" fmla="*/ 2970371 w 3225931"/>
              <a:gd name="connsiteY109" fmla="*/ 2163664 h 3244097"/>
              <a:gd name="connsiteX110" fmla="*/ 2963513 w 3225931"/>
              <a:gd name="connsiteY110" fmla="*/ 2236054 h 3244097"/>
              <a:gd name="connsiteX111" fmla="*/ 2963513 w 3225931"/>
              <a:gd name="connsiteY111" fmla="*/ 2421887 h 3244097"/>
              <a:gd name="connsiteX112" fmla="*/ 2942367 w 3225931"/>
              <a:gd name="connsiteY112" fmla="*/ 2554761 h 3244097"/>
              <a:gd name="connsiteX113" fmla="*/ 2974181 w 3225931"/>
              <a:gd name="connsiteY113" fmla="*/ 2634199 h 3244097"/>
              <a:gd name="connsiteX114" fmla="*/ 2998565 w 3225931"/>
              <a:gd name="connsiteY114" fmla="*/ 2735259 h 3244097"/>
              <a:gd name="connsiteX115" fmla="*/ 3015901 w 3225931"/>
              <a:gd name="connsiteY115" fmla="*/ 2785742 h 3244097"/>
              <a:gd name="connsiteX116" fmla="*/ 3164491 w 3225931"/>
              <a:gd name="connsiteY116" fmla="*/ 2901852 h 3244097"/>
              <a:gd name="connsiteX117" fmla="*/ 3184969 w 3225931"/>
              <a:gd name="connsiteY117" fmla="*/ 2950429 h 3244097"/>
              <a:gd name="connsiteX118" fmla="*/ 3162395 w 3225931"/>
              <a:gd name="connsiteY118" fmla="*/ 2973861 h 3244097"/>
              <a:gd name="connsiteX119" fmla="*/ 3011614 w 3225931"/>
              <a:gd name="connsiteY119" fmla="*/ 2961383 h 3244097"/>
              <a:gd name="connsiteX120" fmla="*/ 2871501 w 3225931"/>
              <a:gd name="connsiteY120" fmla="*/ 2911281 h 3244097"/>
              <a:gd name="connsiteX121" fmla="*/ 2784634 w 3225931"/>
              <a:gd name="connsiteY121" fmla="*/ 2777074 h 3244097"/>
              <a:gd name="connsiteX122" fmla="*/ 2787301 w 3225931"/>
              <a:gd name="connsiteY122" fmla="*/ 2756976 h 3244097"/>
              <a:gd name="connsiteX123" fmla="*/ 2775013 w 3225931"/>
              <a:gd name="connsiteY123" fmla="*/ 2647344 h 3244097"/>
              <a:gd name="connsiteX124" fmla="*/ 2751772 w 3225931"/>
              <a:gd name="connsiteY124" fmla="*/ 2382072 h 3244097"/>
              <a:gd name="connsiteX125" fmla="*/ 2759202 w 3225931"/>
              <a:gd name="connsiteY125" fmla="*/ 2275869 h 3244097"/>
              <a:gd name="connsiteX126" fmla="*/ 2759868 w 3225931"/>
              <a:gd name="connsiteY126" fmla="*/ 2247294 h 3244097"/>
              <a:gd name="connsiteX127" fmla="*/ 2743009 w 3225931"/>
              <a:gd name="connsiteY127" fmla="*/ 1974212 h 3244097"/>
              <a:gd name="connsiteX128" fmla="*/ 2734342 w 3225931"/>
              <a:gd name="connsiteY128" fmla="*/ 1956400 h 3244097"/>
              <a:gd name="connsiteX129" fmla="*/ 2697670 w 3225931"/>
              <a:gd name="connsiteY129" fmla="*/ 2132708 h 3244097"/>
              <a:gd name="connsiteX130" fmla="*/ 2677668 w 3225931"/>
              <a:gd name="connsiteY130" fmla="*/ 2344068 h 3244097"/>
              <a:gd name="connsiteX131" fmla="*/ 2642711 w 3225931"/>
              <a:gd name="connsiteY131" fmla="*/ 2594765 h 3244097"/>
              <a:gd name="connsiteX132" fmla="*/ 2657570 w 3225931"/>
              <a:gd name="connsiteY132" fmla="*/ 2859942 h 3244097"/>
              <a:gd name="connsiteX133" fmla="*/ 2633472 w 3225931"/>
              <a:gd name="connsiteY133" fmla="*/ 2925473 h 3244097"/>
              <a:gd name="connsiteX134" fmla="*/ 2632995 w 3225931"/>
              <a:gd name="connsiteY134" fmla="*/ 2979671 h 3244097"/>
              <a:gd name="connsiteX135" fmla="*/ 2680620 w 3225931"/>
              <a:gd name="connsiteY135" fmla="*/ 3131595 h 3244097"/>
              <a:gd name="connsiteX136" fmla="*/ 2654236 w 3225931"/>
              <a:gd name="connsiteY136" fmla="*/ 3160836 h 3244097"/>
              <a:gd name="connsiteX137" fmla="*/ 2537460 w 3225931"/>
              <a:gd name="connsiteY137" fmla="*/ 3156169 h 3244097"/>
              <a:gd name="connsiteX138" fmla="*/ 2468213 w 3225931"/>
              <a:gd name="connsiteY138" fmla="*/ 3086732 h 3244097"/>
              <a:gd name="connsiteX139" fmla="*/ 2417350 w 3225931"/>
              <a:gd name="connsiteY139" fmla="*/ 2868800 h 3244097"/>
              <a:gd name="connsiteX140" fmla="*/ 2425827 w 3225931"/>
              <a:gd name="connsiteY140" fmla="*/ 2827652 h 3244097"/>
              <a:gd name="connsiteX141" fmla="*/ 2430684 w 3225931"/>
              <a:gd name="connsiteY141" fmla="*/ 2796981 h 3244097"/>
              <a:gd name="connsiteX142" fmla="*/ 2416873 w 3225931"/>
              <a:gd name="connsiteY142" fmla="*/ 2667727 h 3244097"/>
              <a:gd name="connsiteX143" fmla="*/ 2417445 w 3225931"/>
              <a:gd name="connsiteY143" fmla="*/ 2503611 h 3244097"/>
              <a:gd name="connsiteX144" fmla="*/ 2444401 w 3225931"/>
              <a:gd name="connsiteY144" fmla="*/ 2286537 h 3244097"/>
              <a:gd name="connsiteX145" fmla="*/ 2448306 w 3225931"/>
              <a:gd name="connsiteY145" fmla="*/ 2147757 h 3244097"/>
              <a:gd name="connsiteX146" fmla="*/ 2464879 w 3225931"/>
              <a:gd name="connsiteY146" fmla="*/ 1914585 h 3244097"/>
              <a:gd name="connsiteX147" fmla="*/ 2452020 w 3225931"/>
              <a:gd name="connsiteY147" fmla="*/ 1727229 h 3244097"/>
              <a:gd name="connsiteX148" fmla="*/ 2460879 w 3225931"/>
              <a:gd name="connsiteY148" fmla="*/ 1661030 h 3244097"/>
              <a:gd name="connsiteX149" fmla="*/ 2500788 w 3225931"/>
              <a:gd name="connsiteY149" fmla="*/ 1396139 h 3244097"/>
              <a:gd name="connsiteX150" fmla="*/ 2488025 w 3225931"/>
              <a:gd name="connsiteY150" fmla="*/ 1312224 h 3244097"/>
              <a:gd name="connsiteX151" fmla="*/ 2483834 w 3225931"/>
              <a:gd name="connsiteY151" fmla="*/ 1256598 h 3244097"/>
              <a:gd name="connsiteX152" fmla="*/ 2456402 w 3225931"/>
              <a:gd name="connsiteY152" fmla="*/ 1202306 h 3244097"/>
              <a:gd name="connsiteX153" fmla="*/ 2376773 w 3225931"/>
              <a:gd name="connsiteY153" fmla="*/ 1164873 h 3244097"/>
              <a:gd name="connsiteX154" fmla="*/ 2393346 w 3225931"/>
              <a:gd name="connsiteY154" fmla="*/ 1365469 h 3244097"/>
              <a:gd name="connsiteX155" fmla="*/ 2421445 w 3225931"/>
              <a:gd name="connsiteY155" fmla="*/ 1498819 h 3244097"/>
              <a:gd name="connsiteX156" fmla="*/ 2402395 w 3225931"/>
              <a:gd name="connsiteY156" fmla="*/ 1609023 h 3244097"/>
              <a:gd name="connsiteX157" fmla="*/ 2349912 w 3225931"/>
              <a:gd name="connsiteY157" fmla="*/ 1804190 h 3244097"/>
              <a:gd name="connsiteX158" fmla="*/ 2291619 w 3225931"/>
              <a:gd name="connsiteY158" fmla="*/ 2099465 h 3244097"/>
              <a:gd name="connsiteX159" fmla="*/ 2236279 w 3225931"/>
              <a:gd name="connsiteY159" fmla="*/ 2473607 h 3244097"/>
              <a:gd name="connsiteX160" fmla="*/ 2195703 w 3225931"/>
              <a:gd name="connsiteY160" fmla="*/ 2706398 h 3244097"/>
              <a:gd name="connsiteX161" fmla="*/ 2167890 w 3225931"/>
              <a:gd name="connsiteY161" fmla="*/ 2855465 h 3244097"/>
              <a:gd name="connsiteX162" fmla="*/ 2245614 w 3225931"/>
              <a:gd name="connsiteY162" fmla="*/ 2897280 h 3244097"/>
              <a:gd name="connsiteX163" fmla="*/ 2352960 w 3225931"/>
              <a:gd name="connsiteY163" fmla="*/ 2963383 h 3244097"/>
              <a:gd name="connsiteX164" fmla="*/ 2403443 w 3225931"/>
              <a:gd name="connsiteY164" fmla="*/ 3035202 h 3244097"/>
              <a:gd name="connsiteX165" fmla="*/ 2336768 w 3225931"/>
              <a:gd name="connsiteY165" fmla="*/ 3079874 h 3244097"/>
              <a:gd name="connsiteX166" fmla="*/ 2204847 w 3225931"/>
              <a:gd name="connsiteY166" fmla="*/ 3054537 h 3244097"/>
              <a:gd name="connsiteX167" fmla="*/ 2035016 w 3225931"/>
              <a:gd name="connsiteY167" fmla="*/ 3009103 h 3244097"/>
              <a:gd name="connsiteX168" fmla="*/ 1974627 w 3225931"/>
              <a:gd name="connsiteY168" fmla="*/ 2927283 h 3244097"/>
              <a:gd name="connsiteX169" fmla="*/ 1989867 w 3225931"/>
              <a:gd name="connsiteY169" fmla="*/ 2733164 h 3244097"/>
              <a:gd name="connsiteX170" fmla="*/ 2003012 w 3225931"/>
              <a:gd name="connsiteY170" fmla="*/ 2580764 h 3244097"/>
              <a:gd name="connsiteX171" fmla="*/ 2039112 w 3225931"/>
              <a:gd name="connsiteY171" fmla="*/ 2321303 h 3244097"/>
              <a:gd name="connsiteX172" fmla="*/ 2053113 w 3225931"/>
              <a:gd name="connsiteY172" fmla="*/ 2187953 h 3244097"/>
              <a:gd name="connsiteX173" fmla="*/ 2025110 w 3225931"/>
              <a:gd name="connsiteY173" fmla="*/ 1900012 h 3244097"/>
              <a:gd name="connsiteX174" fmla="*/ 2016252 w 3225931"/>
              <a:gd name="connsiteY174" fmla="*/ 1854578 h 3244097"/>
              <a:gd name="connsiteX175" fmla="*/ 1974437 w 3225931"/>
              <a:gd name="connsiteY175" fmla="*/ 1946875 h 3244097"/>
              <a:gd name="connsiteX176" fmla="*/ 1962531 w 3225931"/>
              <a:gd name="connsiteY176" fmla="*/ 2005454 h 3244097"/>
              <a:gd name="connsiteX177" fmla="*/ 1941671 w 3225931"/>
              <a:gd name="connsiteY177" fmla="*/ 2101752 h 3244097"/>
              <a:gd name="connsiteX178" fmla="*/ 1921764 w 3225931"/>
              <a:gd name="connsiteY178" fmla="*/ 2173189 h 3244097"/>
              <a:gd name="connsiteX179" fmla="*/ 1893189 w 3225931"/>
              <a:gd name="connsiteY179" fmla="*/ 2314921 h 3244097"/>
              <a:gd name="connsiteX180" fmla="*/ 1876425 w 3225931"/>
              <a:gd name="connsiteY180" fmla="*/ 2371309 h 3244097"/>
              <a:gd name="connsiteX181" fmla="*/ 1827371 w 3225931"/>
              <a:gd name="connsiteY181" fmla="*/ 2531043 h 3244097"/>
              <a:gd name="connsiteX182" fmla="*/ 1806797 w 3225931"/>
              <a:gd name="connsiteY182" fmla="*/ 2710589 h 3244097"/>
              <a:gd name="connsiteX183" fmla="*/ 1793652 w 3225931"/>
              <a:gd name="connsiteY183" fmla="*/ 2912615 h 3244097"/>
              <a:gd name="connsiteX184" fmla="*/ 1812702 w 3225931"/>
              <a:gd name="connsiteY184" fmla="*/ 3048632 h 3244097"/>
              <a:gd name="connsiteX185" fmla="*/ 1812702 w 3225931"/>
              <a:gd name="connsiteY185" fmla="*/ 3052156 h 3244097"/>
              <a:gd name="connsiteX186" fmla="*/ 1811464 w 3225931"/>
              <a:gd name="connsiteY186" fmla="*/ 3191412 h 3244097"/>
              <a:gd name="connsiteX187" fmla="*/ 1757838 w 3225931"/>
              <a:gd name="connsiteY187" fmla="*/ 3243418 h 3244097"/>
              <a:gd name="connsiteX188" fmla="*/ 1690020 w 3225931"/>
              <a:gd name="connsiteY188" fmla="*/ 3243418 h 3244097"/>
              <a:gd name="connsiteX189" fmla="*/ 1613820 w 3225931"/>
              <a:gd name="connsiteY189" fmla="*/ 3175219 h 3244097"/>
              <a:gd name="connsiteX190" fmla="*/ 1636014 w 3225931"/>
              <a:gd name="connsiteY190" fmla="*/ 3001197 h 3244097"/>
              <a:gd name="connsiteX191" fmla="*/ 1632013 w 3225931"/>
              <a:gd name="connsiteY191" fmla="*/ 2963955 h 3244097"/>
              <a:gd name="connsiteX192" fmla="*/ 1612963 w 3225931"/>
              <a:gd name="connsiteY192" fmla="*/ 2909567 h 3244097"/>
              <a:gd name="connsiteX193" fmla="*/ 1613630 w 3225931"/>
              <a:gd name="connsiteY193" fmla="*/ 2584764 h 3244097"/>
              <a:gd name="connsiteX194" fmla="*/ 1653254 w 3225931"/>
              <a:gd name="connsiteY194" fmla="*/ 2297776 h 3244097"/>
              <a:gd name="connsiteX195" fmla="*/ 1660969 w 3225931"/>
              <a:gd name="connsiteY195" fmla="*/ 2227386 h 3244097"/>
              <a:gd name="connsiteX196" fmla="*/ 1674114 w 3225931"/>
              <a:gd name="connsiteY196" fmla="*/ 2125373 h 3244097"/>
              <a:gd name="connsiteX197" fmla="*/ 1694688 w 3225931"/>
              <a:gd name="connsiteY197" fmla="*/ 1824479 h 3244097"/>
              <a:gd name="connsiteX198" fmla="*/ 1720119 w 3225931"/>
              <a:gd name="connsiteY198" fmla="*/ 1657601 h 3244097"/>
              <a:gd name="connsiteX199" fmla="*/ 1708023 w 3225931"/>
              <a:gd name="connsiteY199" fmla="*/ 1560827 h 3244097"/>
              <a:gd name="connsiteX200" fmla="*/ 1624679 w 3225931"/>
              <a:gd name="connsiteY200" fmla="*/ 1417952 h 3244097"/>
              <a:gd name="connsiteX201" fmla="*/ 1565719 w 3225931"/>
              <a:gd name="connsiteY201" fmla="*/ 1363374 h 3244097"/>
              <a:gd name="connsiteX202" fmla="*/ 1565719 w 3225931"/>
              <a:gd name="connsiteY202" fmla="*/ 1462624 h 3244097"/>
              <a:gd name="connsiteX203" fmla="*/ 1566862 w 3225931"/>
              <a:gd name="connsiteY203" fmla="*/ 1944684 h 3244097"/>
              <a:gd name="connsiteX204" fmla="*/ 1557337 w 3225931"/>
              <a:gd name="connsiteY204" fmla="*/ 2036505 h 3244097"/>
              <a:gd name="connsiteX205" fmla="*/ 1546383 w 3225931"/>
              <a:gd name="connsiteY205" fmla="*/ 2156425 h 3244097"/>
              <a:gd name="connsiteX206" fmla="*/ 1533048 w 3225931"/>
              <a:gd name="connsiteY206" fmla="*/ 2550855 h 3244097"/>
              <a:gd name="connsiteX207" fmla="*/ 1516189 w 3225931"/>
              <a:gd name="connsiteY207" fmla="*/ 2730402 h 3244097"/>
              <a:gd name="connsiteX208" fmla="*/ 1500759 w 3225931"/>
              <a:gd name="connsiteY208" fmla="*/ 2878420 h 3244097"/>
              <a:gd name="connsiteX209" fmla="*/ 1466564 w 3225931"/>
              <a:gd name="connsiteY209" fmla="*/ 3091685 h 3244097"/>
              <a:gd name="connsiteX210" fmla="*/ 1305687 w 3225931"/>
              <a:gd name="connsiteY210" fmla="*/ 3214367 h 3244097"/>
              <a:gd name="connsiteX211" fmla="*/ 1262919 w 3225931"/>
              <a:gd name="connsiteY211" fmla="*/ 3212081 h 3244097"/>
              <a:gd name="connsiteX212" fmla="*/ 1223867 w 3225931"/>
              <a:gd name="connsiteY212" fmla="*/ 3151978 h 3244097"/>
              <a:gd name="connsiteX213" fmla="*/ 1284446 w 3225931"/>
              <a:gd name="connsiteY213" fmla="*/ 3035678 h 3244097"/>
              <a:gd name="connsiteX214" fmla="*/ 1302353 w 3225931"/>
              <a:gd name="connsiteY214" fmla="*/ 2978528 h 3244097"/>
              <a:gd name="connsiteX215" fmla="*/ 1316450 w 3225931"/>
              <a:gd name="connsiteY215" fmla="*/ 2498658 h 3244097"/>
              <a:gd name="connsiteX216" fmla="*/ 1290256 w 3225931"/>
              <a:gd name="connsiteY216" fmla="*/ 2313588 h 3244097"/>
              <a:gd name="connsiteX217" fmla="*/ 1268634 w 3225931"/>
              <a:gd name="connsiteY217" fmla="*/ 2177094 h 3244097"/>
              <a:gd name="connsiteX218" fmla="*/ 1235964 w 3225931"/>
              <a:gd name="connsiteY218" fmla="*/ 1987071 h 3244097"/>
              <a:gd name="connsiteX219" fmla="*/ 1222629 w 3225931"/>
              <a:gd name="connsiteY219" fmla="*/ 1985070 h 3244097"/>
              <a:gd name="connsiteX220" fmla="*/ 1205769 w 3225931"/>
              <a:gd name="connsiteY220" fmla="*/ 2040696 h 3244097"/>
              <a:gd name="connsiteX221" fmla="*/ 1189482 w 3225931"/>
              <a:gd name="connsiteY221" fmla="*/ 2328065 h 3244097"/>
              <a:gd name="connsiteX222" fmla="*/ 1159097 w 3225931"/>
              <a:gd name="connsiteY222" fmla="*/ 2616197 h 3244097"/>
              <a:gd name="connsiteX223" fmla="*/ 1123759 w 3225931"/>
              <a:gd name="connsiteY223" fmla="*/ 2964431 h 3244097"/>
              <a:gd name="connsiteX224" fmla="*/ 1042035 w 3225931"/>
              <a:gd name="connsiteY224" fmla="*/ 3056347 h 3244097"/>
              <a:gd name="connsiteX225" fmla="*/ 971359 w 3225931"/>
              <a:gd name="connsiteY225" fmla="*/ 3090447 h 3244097"/>
              <a:gd name="connsiteX226" fmla="*/ 807529 w 3225931"/>
              <a:gd name="connsiteY226" fmla="*/ 3127594 h 3244097"/>
              <a:gd name="connsiteX227" fmla="*/ 753903 w 3225931"/>
              <a:gd name="connsiteY227" fmla="*/ 3102639 h 3244097"/>
              <a:gd name="connsiteX228" fmla="*/ 802767 w 3225931"/>
              <a:gd name="connsiteY228" fmla="*/ 3028820 h 3244097"/>
              <a:gd name="connsiteX229" fmla="*/ 927735 w 3225931"/>
              <a:gd name="connsiteY229" fmla="*/ 2885945 h 3244097"/>
              <a:gd name="connsiteX230" fmla="*/ 928878 w 3225931"/>
              <a:gd name="connsiteY230" fmla="*/ 2674014 h 3244097"/>
              <a:gd name="connsiteX231" fmla="*/ 937260 w 3225931"/>
              <a:gd name="connsiteY231" fmla="*/ 2404551 h 3244097"/>
              <a:gd name="connsiteX232" fmla="*/ 936021 w 3225931"/>
              <a:gd name="connsiteY232" fmla="*/ 2252151 h 3244097"/>
              <a:gd name="connsiteX233" fmla="*/ 925449 w 3225931"/>
              <a:gd name="connsiteY233" fmla="*/ 2150520 h 3244097"/>
              <a:gd name="connsiteX234" fmla="*/ 910209 w 3225931"/>
              <a:gd name="connsiteY234" fmla="*/ 1731420 h 3244097"/>
              <a:gd name="connsiteX235" fmla="*/ 927068 w 3225931"/>
              <a:gd name="connsiteY235" fmla="*/ 1469482 h 3244097"/>
              <a:gd name="connsiteX236" fmla="*/ 966787 w 3225931"/>
              <a:gd name="connsiteY236" fmla="*/ 1340895 h 3244097"/>
              <a:gd name="connsiteX237" fmla="*/ 960786 w 3225931"/>
              <a:gd name="connsiteY237" fmla="*/ 1278125 h 3244097"/>
              <a:gd name="connsiteX238" fmla="*/ 932592 w 3225931"/>
              <a:gd name="connsiteY238" fmla="*/ 1196496 h 3244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Lst>
            <a:rect l="l" t="t" r="r" b="b"/>
            <a:pathLst>
              <a:path w="3225931" h="3244097">
                <a:moveTo>
                  <a:pt x="932592" y="1196496"/>
                </a:moveTo>
                <a:cubicBezTo>
                  <a:pt x="893635" y="1211450"/>
                  <a:pt x="868299" y="1233833"/>
                  <a:pt x="857821" y="1276125"/>
                </a:cubicBezTo>
                <a:cubicBezTo>
                  <a:pt x="842867" y="1336894"/>
                  <a:pt x="821340" y="1396044"/>
                  <a:pt x="802862" y="1455956"/>
                </a:cubicBezTo>
                <a:cubicBezTo>
                  <a:pt x="800500" y="1462700"/>
                  <a:pt x="798957" y="1469701"/>
                  <a:pt x="798290" y="1476816"/>
                </a:cubicBezTo>
                <a:cubicBezTo>
                  <a:pt x="792480" y="1573590"/>
                  <a:pt x="787431" y="1670364"/>
                  <a:pt x="781145" y="1767138"/>
                </a:cubicBezTo>
                <a:cubicBezTo>
                  <a:pt x="779049" y="1798856"/>
                  <a:pt x="773620" y="1830479"/>
                  <a:pt x="770001" y="1862388"/>
                </a:cubicBezTo>
                <a:cubicBezTo>
                  <a:pt x="767524" y="1871504"/>
                  <a:pt x="766848" y="1881019"/>
                  <a:pt x="768000" y="1890392"/>
                </a:cubicBezTo>
                <a:cubicBezTo>
                  <a:pt x="792765" y="1973354"/>
                  <a:pt x="776287" y="2058413"/>
                  <a:pt x="781812" y="2142328"/>
                </a:cubicBezTo>
                <a:cubicBezTo>
                  <a:pt x="783812" y="2172713"/>
                  <a:pt x="791337" y="2202717"/>
                  <a:pt x="795718" y="2233101"/>
                </a:cubicBezTo>
                <a:cubicBezTo>
                  <a:pt x="803624" y="2278507"/>
                  <a:pt x="809215" y="2324284"/>
                  <a:pt x="812482" y="2370261"/>
                </a:cubicBezTo>
                <a:cubicBezTo>
                  <a:pt x="815244" y="2452272"/>
                  <a:pt x="815721" y="2534472"/>
                  <a:pt x="812482" y="2616482"/>
                </a:cubicBezTo>
                <a:cubicBezTo>
                  <a:pt x="811149" y="2651058"/>
                  <a:pt x="793432" y="2684967"/>
                  <a:pt x="791337" y="2719638"/>
                </a:cubicBezTo>
                <a:cubicBezTo>
                  <a:pt x="788670" y="2776788"/>
                  <a:pt x="736949" y="2819841"/>
                  <a:pt x="747522" y="2879754"/>
                </a:cubicBezTo>
                <a:cubicBezTo>
                  <a:pt x="747988" y="2890241"/>
                  <a:pt x="750608" y="2900518"/>
                  <a:pt x="755237" y="2909948"/>
                </a:cubicBezTo>
                <a:cubicBezTo>
                  <a:pt x="777049" y="2940904"/>
                  <a:pt x="763524" y="2961764"/>
                  <a:pt x="736854" y="2977671"/>
                </a:cubicBezTo>
                <a:cubicBezTo>
                  <a:pt x="710184" y="2993577"/>
                  <a:pt x="684847" y="3010056"/>
                  <a:pt x="664940" y="3040250"/>
                </a:cubicBezTo>
                <a:cubicBezTo>
                  <a:pt x="643890" y="3072063"/>
                  <a:pt x="600075" y="3086922"/>
                  <a:pt x="556355" y="3077207"/>
                </a:cubicBezTo>
                <a:cubicBezTo>
                  <a:pt x="529599" y="3072921"/>
                  <a:pt x="503272" y="3066291"/>
                  <a:pt x="477678" y="3057395"/>
                </a:cubicBezTo>
                <a:cubicBezTo>
                  <a:pt x="446722" y="3044346"/>
                  <a:pt x="441674" y="3023105"/>
                  <a:pt x="457771" y="2993577"/>
                </a:cubicBezTo>
                <a:cubicBezTo>
                  <a:pt x="464381" y="2982319"/>
                  <a:pt x="472278" y="2971870"/>
                  <a:pt x="481298" y="2962431"/>
                </a:cubicBezTo>
                <a:cubicBezTo>
                  <a:pt x="494061" y="2948334"/>
                  <a:pt x="510540" y="2936999"/>
                  <a:pt x="520827" y="2921378"/>
                </a:cubicBezTo>
                <a:cubicBezTo>
                  <a:pt x="538067" y="2894994"/>
                  <a:pt x="551688" y="2866228"/>
                  <a:pt x="570357" y="2831938"/>
                </a:cubicBezTo>
                <a:cubicBezTo>
                  <a:pt x="555402" y="2833176"/>
                  <a:pt x="543210" y="2830795"/>
                  <a:pt x="534924" y="2835367"/>
                </a:cubicBezTo>
                <a:cubicBezTo>
                  <a:pt x="484346" y="2863942"/>
                  <a:pt x="430149" y="2849845"/>
                  <a:pt x="377571" y="2850131"/>
                </a:cubicBezTo>
                <a:cubicBezTo>
                  <a:pt x="361578" y="2849826"/>
                  <a:pt x="345605" y="2851331"/>
                  <a:pt x="329946" y="2854607"/>
                </a:cubicBezTo>
                <a:cubicBezTo>
                  <a:pt x="283654" y="2865561"/>
                  <a:pt x="242792" y="2891088"/>
                  <a:pt x="189452" y="2881373"/>
                </a:cubicBezTo>
                <a:cubicBezTo>
                  <a:pt x="119538" y="2868800"/>
                  <a:pt x="119253" y="2840130"/>
                  <a:pt x="126206" y="2790409"/>
                </a:cubicBezTo>
                <a:cubicBezTo>
                  <a:pt x="176879" y="2768978"/>
                  <a:pt x="225647" y="2751738"/>
                  <a:pt x="271176" y="2728306"/>
                </a:cubicBezTo>
                <a:cubicBezTo>
                  <a:pt x="316706" y="2704875"/>
                  <a:pt x="330708" y="2658297"/>
                  <a:pt x="320706" y="2605719"/>
                </a:cubicBezTo>
                <a:cubicBezTo>
                  <a:pt x="314896" y="2574763"/>
                  <a:pt x="311181" y="2539044"/>
                  <a:pt x="321373" y="2510469"/>
                </a:cubicBezTo>
                <a:cubicBezTo>
                  <a:pt x="338804" y="2463511"/>
                  <a:pt x="319659" y="2422268"/>
                  <a:pt x="315753" y="2378643"/>
                </a:cubicBezTo>
                <a:cubicBezTo>
                  <a:pt x="312324" y="2339972"/>
                  <a:pt x="309562" y="2300919"/>
                  <a:pt x="302799" y="2262724"/>
                </a:cubicBezTo>
                <a:cubicBezTo>
                  <a:pt x="297180" y="2230911"/>
                  <a:pt x="285369" y="2200145"/>
                  <a:pt x="277558" y="2168617"/>
                </a:cubicBezTo>
                <a:cubicBezTo>
                  <a:pt x="264318" y="2114991"/>
                  <a:pt x="250888" y="2061270"/>
                  <a:pt x="239458" y="2007168"/>
                </a:cubicBezTo>
                <a:cubicBezTo>
                  <a:pt x="230886" y="1965449"/>
                  <a:pt x="227076" y="1922777"/>
                  <a:pt x="218694" y="1881057"/>
                </a:cubicBezTo>
                <a:cubicBezTo>
                  <a:pt x="208121" y="1825241"/>
                  <a:pt x="194691" y="1770281"/>
                  <a:pt x="182022" y="1715322"/>
                </a:cubicBezTo>
                <a:cubicBezTo>
                  <a:pt x="172497" y="1672650"/>
                  <a:pt x="166020" y="1629121"/>
                  <a:pt x="154209" y="1587116"/>
                </a:cubicBezTo>
                <a:cubicBezTo>
                  <a:pt x="133159" y="1511582"/>
                  <a:pt x="138017" y="1434716"/>
                  <a:pt x="139446" y="1358516"/>
                </a:cubicBezTo>
                <a:cubicBezTo>
                  <a:pt x="141255" y="1259837"/>
                  <a:pt x="121920" y="1266409"/>
                  <a:pt x="41052" y="1238977"/>
                </a:cubicBezTo>
                <a:cubicBezTo>
                  <a:pt x="3810" y="1226309"/>
                  <a:pt x="-7906" y="1214974"/>
                  <a:pt x="5143" y="1179160"/>
                </a:cubicBezTo>
                <a:cubicBezTo>
                  <a:pt x="26670" y="1120105"/>
                  <a:pt x="50673" y="1061907"/>
                  <a:pt x="72294" y="1002852"/>
                </a:cubicBezTo>
                <a:cubicBezTo>
                  <a:pt x="80772" y="979707"/>
                  <a:pt x="94107" y="969515"/>
                  <a:pt x="118205" y="976754"/>
                </a:cubicBezTo>
                <a:cubicBezTo>
                  <a:pt x="152971" y="987136"/>
                  <a:pt x="174117" y="969991"/>
                  <a:pt x="184880" y="940368"/>
                </a:cubicBezTo>
                <a:cubicBezTo>
                  <a:pt x="203930" y="890553"/>
                  <a:pt x="220694" y="839879"/>
                  <a:pt x="237077" y="789111"/>
                </a:cubicBezTo>
                <a:cubicBezTo>
                  <a:pt x="265652" y="701386"/>
                  <a:pt x="312610" y="632425"/>
                  <a:pt x="406050" y="602516"/>
                </a:cubicBezTo>
                <a:cubicBezTo>
                  <a:pt x="440626" y="591467"/>
                  <a:pt x="463200" y="567655"/>
                  <a:pt x="468725" y="525078"/>
                </a:cubicBezTo>
                <a:cubicBezTo>
                  <a:pt x="473487" y="488693"/>
                  <a:pt x="483108" y="454498"/>
                  <a:pt x="464439" y="420303"/>
                </a:cubicBezTo>
                <a:cubicBezTo>
                  <a:pt x="459571" y="408321"/>
                  <a:pt x="452818" y="397196"/>
                  <a:pt x="444436" y="387347"/>
                </a:cubicBezTo>
                <a:cubicBezTo>
                  <a:pt x="412623" y="358200"/>
                  <a:pt x="415861" y="320672"/>
                  <a:pt x="419195" y="284382"/>
                </a:cubicBezTo>
                <a:cubicBezTo>
                  <a:pt x="422529" y="248091"/>
                  <a:pt x="429672" y="212373"/>
                  <a:pt x="433768" y="176273"/>
                </a:cubicBezTo>
                <a:cubicBezTo>
                  <a:pt x="439578" y="125409"/>
                  <a:pt x="467201" y="85309"/>
                  <a:pt x="513588" y="73879"/>
                </a:cubicBezTo>
                <a:cubicBezTo>
                  <a:pt x="639603" y="42827"/>
                  <a:pt x="720185" y="83404"/>
                  <a:pt x="730853" y="217897"/>
                </a:cubicBezTo>
                <a:cubicBezTo>
                  <a:pt x="736092" y="282572"/>
                  <a:pt x="739711" y="347723"/>
                  <a:pt x="691991" y="404396"/>
                </a:cubicBezTo>
                <a:cubicBezTo>
                  <a:pt x="668655" y="432114"/>
                  <a:pt x="694467" y="492312"/>
                  <a:pt x="733139" y="517839"/>
                </a:cubicBezTo>
                <a:cubicBezTo>
                  <a:pt x="771810" y="543366"/>
                  <a:pt x="812863" y="569274"/>
                  <a:pt x="852773" y="594992"/>
                </a:cubicBezTo>
                <a:cubicBezTo>
                  <a:pt x="883158" y="614613"/>
                  <a:pt x="910685" y="613089"/>
                  <a:pt x="934783" y="585467"/>
                </a:cubicBezTo>
                <a:cubicBezTo>
                  <a:pt x="970788" y="544224"/>
                  <a:pt x="1009364" y="519554"/>
                  <a:pt x="1069276" y="521363"/>
                </a:cubicBezTo>
                <a:cubicBezTo>
                  <a:pt x="1139856" y="523554"/>
                  <a:pt x="1176623" y="450212"/>
                  <a:pt x="1141571" y="388013"/>
                </a:cubicBezTo>
                <a:cubicBezTo>
                  <a:pt x="1092231" y="300383"/>
                  <a:pt x="1094994" y="207038"/>
                  <a:pt x="1112996" y="113979"/>
                </a:cubicBezTo>
                <a:cubicBezTo>
                  <a:pt x="1127855" y="39684"/>
                  <a:pt x="1199197" y="-321"/>
                  <a:pt x="1277397" y="10252"/>
                </a:cubicBezTo>
                <a:cubicBezTo>
                  <a:pt x="1357598" y="21491"/>
                  <a:pt x="1404366" y="72831"/>
                  <a:pt x="1402651" y="152270"/>
                </a:cubicBezTo>
                <a:cubicBezTo>
                  <a:pt x="1401318" y="218945"/>
                  <a:pt x="1410747" y="286953"/>
                  <a:pt x="1385125" y="353342"/>
                </a:cubicBezTo>
                <a:cubicBezTo>
                  <a:pt x="1371600" y="388204"/>
                  <a:pt x="1408842" y="430495"/>
                  <a:pt x="1454467" y="442973"/>
                </a:cubicBezTo>
                <a:cubicBezTo>
                  <a:pt x="1481899" y="450498"/>
                  <a:pt x="1509903" y="456212"/>
                  <a:pt x="1537239" y="463928"/>
                </a:cubicBezTo>
                <a:cubicBezTo>
                  <a:pt x="1600104" y="481644"/>
                  <a:pt x="1670589" y="491360"/>
                  <a:pt x="1667446" y="582704"/>
                </a:cubicBezTo>
                <a:cubicBezTo>
                  <a:pt x="1674647" y="581647"/>
                  <a:pt x="1681734" y="579895"/>
                  <a:pt x="1688592" y="577466"/>
                </a:cubicBezTo>
                <a:cubicBezTo>
                  <a:pt x="1751647" y="546128"/>
                  <a:pt x="1814798" y="514791"/>
                  <a:pt x="1877473" y="482216"/>
                </a:cubicBezTo>
                <a:cubicBezTo>
                  <a:pt x="1918620" y="461070"/>
                  <a:pt x="1941099" y="398777"/>
                  <a:pt x="1923954" y="356390"/>
                </a:cubicBezTo>
                <a:cubicBezTo>
                  <a:pt x="1922583" y="351809"/>
                  <a:pt x="1920630" y="347428"/>
                  <a:pt x="1918144" y="343341"/>
                </a:cubicBezTo>
                <a:cubicBezTo>
                  <a:pt x="1865376" y="274475"/>
                  <a:pt x="1888617" y="196942"/>
                  <a:pt x="1893474" y="121694"/>
                </a:cubicBezTo>
                <a:cubicBezTo>
                  <a:pt x="1894398" y="111131"/>
                  <a:pt x="1898637" y="101139"/>
                  <a:pt x="1905571" y="93119"/>
                </a:cubicBezTo>
                <a:cubicBezTo>
                  <a:pt x="1931193" y="65306"/>
                  <a:pt x="1957959" y="38446"/>
                  <a:pt x="1985295" y="12252"/>
                </a:cubicBezTo>
                <a:cubicBezTo>
                  <a:pt x="2002917" y="-4607"/>
                  <a:pt x="2051970" y="-3274"/>
                  <a:pt x="2072640" y="11395"/>
                </a:cubicBezTo>
                <a:cubicBezTo>
                  <a:pt x="2093309" y="26063"/>
                  <a:pt x="2120265" y="35112"/>
                  <a:pt x="2136171" y="53876"/>
                </a:cubicBezTo>
                <a:cubicBezTo>
                  <a:pt x="2156212" y="77975"/>
                  <a:pt x="2171328" y="105778"/>
                  <a:pt x="2180653" y="135696"/>
                </a:cubicBezTo>
                <a:cubicBezTo>
                  <a:pt x="2198093" y="193075"/>
                  <a:pt x="2194722" y="254768"/>
                  <a:pt x="2171128" y="309908"/>
                </a:cubicBezTo>
                <a:cubicBezTo>
                  <a:pt x="2154936" y="350961"/>
                  <a:pt x="2147983" y="395633"/>
                  <a:pt x="2140172" y="439639"/>
                </a:cubicBezTo>
                <a:cubicBezTo>
                  <a:pt x="2139162" y="453650"/>
                  <a:pt x="2143182" y="467566"/>
                  <a:pt x="2151507" y="478882"/>
                </a:cubicBezTo>
                <a:cubicBezTo>
                  <a:pt x="2168747" y="504599"/>
                  <a:pt x="2189607" y="526507"/>
                  <a:pt x="2177034" y="562892"/>
                </a:cubicBezTo>
                <a:cubicBezTo>
                  <a:pt x="2174462" y="570322"/>
                  <a:pt x="2192369" y="586991"/>
                  <a:pt x="2203227" y="596611"/>
                </a:cubicBezTo>
                <a:cubicBezTo>
                  <a:pt x="2232565" y="622424"/>
                  <a:pt x="2266664" y="643569"/>
                  <a:pt x="2291905" y="672811"/>
                </a:cubicBezTo>
                <a:cubicBezTo>
                  <a:pt x="2307526" y="690813"/>
                  <a:pt x="2314479" y="719483"/>
                  <a:pt x="2317813" y="744344"/>
                </a:cubicBezTo>
                <a:cubicBezTo>
                  <a:pt x="2322100" y="777110"/>
                  <a:pt x="2318290" y="811019"/>
                  <a:pt x="2319909" y="844166"/>
                </a:cubicBezTo>
                <a:cubicBezTo>
                  <a:pt x="2319909" y="851595"/>
                  <a:pt x="2328767" y="858644"/>
                  <a:pt x="2333625" y="865883"/>
                </a:cubicBezTo>
                <a:cubicBezTo>
                  <a:pt x="2339530" y="858549"/>
                  <a:pt x="2350960" y="850928"/>
                  <a:pt x="2350675" y="843785"/>
                </a:cubicBezTo>
                <a:cubicBezTo>
                  <a:pt x="2346865" y="754916"/>
                  <a:pt x="2401348" y="680145"/>
                  <a:pt x="2410110" y="593849"/>
                </a:cubicBezTo>
                <a:cubicBezTo>
                  <a:pt x="2414587" y="550510"/>
                  <a:pt x="2447163" y="524221"/>
                  <a:pt x="2492597" y="516696"/>
                </a:cubicBezTo>
                <a:cubicBezTo>
                  <a:pt x="2538031" y="509171"/>
                  <a:pt x="2580608" y="499742"/>
                  <a:pt x="2624613" y="491169"/>
                </a:cubicBezTo>
                <a:cubicBezTo>
                  <a:pt x="2663476" y="483549"/>
                  <a:pt x="2717292" y="430686"/>
                  <a:pt x="2723007" y="392014"/>
                </a:cubicBezTo>
                <a:cubicBezTo>
                  <a:pt x="2725188" y="380574"/>
                  <a:pt x="2722873" y="368735"/>
                  <a:pt x="2716530" y="358962"/>
                </a:cubicBezTo>
                <a:cubicBezTo>
                  <a:pt x="2685288" y="323624"/>
                  <a:pt x="2692908" y="284858"/>
                  <a:pt x="2701194" y="244662"/>
                </a:cubicBezTo>
                <a:cubicBezTo>
                  <a:pt x="2705957" y="221993"/>
                  <a:pt x="2707767" y="198657"/>
                  <a:pt x="2710719" y="175511"/>
                </a:cubicBezTo>
                <a:cubicBezTo>
                  <a:pt x="2717463" y="119285"/>
                  <a:pt x="2760783" y="74412"/>
                  <a:pt x="2816733" y="65687"/>
                </a:cubicBezTo>
                <a:cubicBezTo>
                  <a:pt x="2873216" y="57305"/>
                  <a:pt x="2933700" y="84737"/>
                  <a:pt x="2950083" y="136934"/>
                </a:cubicBezTo>
                <a:cubicBezTo>
                  <a:pt x="2961894" y="174177"/>
                  <a:pt x="2954559" y="217040"/>
                  <a:pt x="2963037" y="255902"/>
                </a:cubicBezTo>
                <a:cubicBezTo>
                  <a:pt x="2974086" y="306670"/>
                  <a:pt x="2960465" y="349247"/>
                  <a:pt x="2934462" y="391157"/>
                </a:cubicBezTo>
                <a:cubicBezTo>
                  <a:pt x="2894171" y="456974"/>
                  <a:pt x="2922556" y="526888"/>
                  <a:pt x="2997708" y="552605"/>
                </a:cubicBezTo>
                <a:cubicBezTo>
                  <a:pt x="3024473" y="562130"/>
                  <a:pt x="3049238" y="576418"/>
                  <a:pt x="3075527" y="587181"/>
                </a:cubicBezTo>
                <a:cubicBezTo>
                  <a:pt x="3138392" y="612899"/>
                  <a:pt x="3151251" y="667287"/>
                  <a:pt x="3154108" y="725865"/>
                </a:cubicBezTo>
                <a:cubicBezTo>
                  <a:pt x="3156490" y="774538"/>
                  <a:pt x="3151822" y="823687"/>
                  <a:pt x="3155537" y="872169"/>
                </a:cubicBezTo>
                <a:cubicBezTo>
                  <a:pt x="3158871" y="916461"/>
                  <a:pt x="3173063" y="959990"/>
                  <a:pt x="3175825" y="1004281"/>
                </a:cubicBezTo>
                <a:cubicBezTo>
                  <a:pt x="3181350" y="1091530"/>
                  <a:pt x="3241834" y="1167540"/>
                  <a:pt x="3221926" y="1260884"/>
                </a:cubicBezTo>
                <a:cubicBezTo>
                  <a:pt x="3214821" y="1293174"/>
                  <a:pt x="3195856" y="1321626"/>
                  <a:pt x="3168777" y="1340609"/>
                </a:cubicBezTo>
                <a:cubicBezTo>
                  <a:pt x="3161824" y="1346038"/>
                  <a:pt x="3140202" y="1337275"/>
                  <a:pt x="3128200" y="1330322"/>
                </a:cubicBezTo>
                <a:cubicBezTo>
                  <a:pt x="3110417" y="1317968"/>
                  <a:pt x="3093577" y="1304309"/>
                  <a:pt x="3077813" y="1289459"/>
                </a:cubicBezTo>
                <a:cubicBezTo>
                  <a:pt x="3075908" y="1307367"/>
                  <a:pt x="3073812" y="1318034"/>
                  <a:pt x="3073812" y="1328893"/>
                </a:cubicBezTo>
                <a:cubicBezTo>
                  <a:pt x="3073812" y="1413380"/>
                  <a:pt x="3077527" y="1498152"/>
                  <a:pt x="3073146" y="1582353"/>
                </a:cubicBezTo>
                <a:cubicBezTo>
                  <a:pt x="3069621" y="1651410"/>
                  <a:pt x="3056858" y="1719989"/>
                  <a:pt x="3047142" y="1788665"/>
                </a:cubicBezTo>
                <a:cubicBezTo>
                  <a:pt x="3040666" y="1835432"/>
                  <a:pt x="3034379" y="1882391"/>
                  <a:pt x="3024568" y="1928492"/>
                </a:cubicBezTo>
                <a:cubicBezTo>
                  <a:pt x="3007804" y="2007168"/>
                  <a:pt x="2987611" y="2085083"/>
                  <a:pt x="2970371" y="2163664"/>
                </a:cubicBezTo>
                <a:cubicBezTo>
                  <a:pt x="2965132" y="2187381"/>
                  <a:pt x="2957512" y="2214147"/>
                  <a:pt x="2963513" y="2236054"/>
                </a:cubicBezTo>
                <a:cubicBezTo>
                  <a:pt x="2979610" y="2296957"/>
                  <a:pt x="2979610" y="2360984"/>
                  <a:pt x="2963513" y="2421887"/>
                </a:cubicBezTo>
                <a:cubicBezTo>
                  <a:pt x="2953702" y="2465692"/>
                  <a:pt x="2946644" y="2510069"/>
                  <a:pt x="2942367" y="2554761"/>
                </a:cubicBezTo>
                <a:cubicBezTo>
                  <a:pt x="2938348" y="2584983"/>
                  <a:pt x="2950416" y="2615111"/>
                  <a:pt x="2974181" y="2634199"/>
                </a:cubicBezTo>
                <a:cubicBezTo>
                  <a:pt x="3007042" y="2661726"/>
                  <a:pt x="3017329" y="2695731"/>
                  <a:pt x="2998565" y="2735259"/>
                </a:cubicBezTo>
                <a:cubicBezTo>
                  <a:pt x="2987230" y="2759072"/>
                  <a:pt x="2998565" y="2772216"/>
                  <a:pt x="3015901" y="2785742"/>
                </a:cubicBezTo>
                <a:cubicBezTo>
                  <a:pt x="3066002" y="2823842"/>
                  <a:pt x="3116675" y="2861180"/>
                  <a:pt x="3164491" y="2901852"/>
                </a:cubicBezTo>
                <a:cubicBezTo>
                  <a:pt x="3176683" y="2912234"/>
                  <a:pt x="3182302" y="2933284"/>
                  <a:pt x="3184969" y="2950429"/>
                </a:cubicBezTo>
                <a:cubicBezTo>
                  <a:pt x="3186017" y="2957097"/>
                  <a:pt x="3172015" y="2970241"/>
                  <a:pt x="3162395" y="2973861"/>
                </a:cubicBezTo>
                <a:cubicBezTo>
                  <a:pt x="3110579" y="2992911"/>
                  <a:pt x="3061430" y="2983957"/>
                  <a:pt x="3011614" y="2961383"/>
                </a:cubicBezTo>
                <a:cubicBezTo>
                  <a:pt x="2966075" y="2941580"/>
                  <a:pt x="2919269" y="2924845"/>
                  <a:pt x="2871501" y="2911281"/>
                </a:cubicBezTo>
                <a:cubicBezTo>
                  <a:pt x="2808732" y="2892231"/>
                  <a:pt x="2774632" y="2842035"/>
                  <a:pt x="2784634" y="2777074"/>
                </a:cubicBezTo>
                <a:cubicBezTo>
                  <a:pt x="2785776" y="2770216"/>
                  <a:pt x="2790158" y="2760881"/>
                  <a:pt x="2787301" y="2756976"/>
                </a:cubicBezTo>
                <a:cubicBezTo>
                  <a:pt x="2761774" y="2722401"/>
                  <a:pt x="2777776" y="2684015"/>
                  <a:pt x="2775013" y="2647344"/>
                </a:cubicBezTo>
                <a:cubicBezTo>
                  <a:pt x="2768155" y="2558856"/>
                  <a:pt x="2757487" y="2470655"/>
                  <a:pt x="2751772" y="2382072"/>
                </a:cubicBezTo>
                <a:cubicBezTo>
                  <a:pt x="2749582" y="2346925"/>
                  <a:pt x="2756630" y="2311302"/>
                  <a:pt x="2759202" y="2275869"/>
                </a:cubicBezTo>
                <a:cubicBezTo>
                  <a:pt x="2761164" y="2266467"/>
                  <a:pt x="2761392" y="2256781"/>
                  <a:pt x="2759868" y="2247294"/>
                </a:cubicBezTo>
                <a:cubicBezTo>
                  <a:pt x="2732246" y="2157473"/>
                  <a:pt x="2747772" y="2065271"/>
                  <a:pt x="2743009" y="1974212"/>
                </a:cubicBezTo>
                <a:cubicBezTo>
                  <a:pt x="2742762" y="1967316"/>
                  <a:pt x="2739609" y="1960848"/>
                  <a:pt x="2734342" y="1956400"/>
                </a:cubicBezTo>
                <a:cubicBezTo>
                  <a:pt x="2721768" y="2015074"/>
                  <a:pt x="2705767" y="2073367"/>
                  <a:pt x="2697670" y="2132708"/>
                </a:cubicBezTo>
                <a:cubicBezTo>
                  <a:pt x="2688145" y="2203002"/>
                  <a:pt x="2697670" y="2277488"/>
                  <a:pt x="2677668" y="2344068"/>
                </a:cubicBezTo>
                <a:cubicBezTo>
                  <a:pt x="2652998" y="2427792"/>
                  <a:pt x="2660713" y="2513708"/>
                  <a:pt x="2642711" y="2594765"/>
                </a:cubicBezTo>
                <a:cubicBezTo>
                  <a:pt x="2621851" y="2688396"/>
                  <a:pt x="2654427" y="2771835"/>
                  <a:pt x="2657570" y="2859942"/>
                </a:cubicBezTo>
                <a:cubicBezTo>
                  <a:pt x="2657075" y="2883859"/>
                  <a:pt x="2648588" y="2906928"/>
                  <a:pt x="2633472" y="2925473"/>
                </a:cubicBezTo>
                <a:cubicBezTo>
                  <a:pt x="2616422" y="2946714"/>
                  <a:pt x="2613660" y="2959954"/>
                  <a:pt x="2632995" y="2979671"/>
                </a:cubicBezTo>
                <a:cubicBezTo>
                  <a:pt x="2674429" y="3021867"/>
                  <a:pt x="2683192" y="3075778"/>
                  <a:pt x="2680620" y="3131595"/>
                </a:cubicBezTo>
                <a:cubicBezTo>
                  <a:pt x="2680049" y="3142263"/>
                  <a:pt x="2663857" y="3160170"/>
                  <a:pt x="2654236" y="3160836"/>
                </a:cubicBezTo>
                <a:cubicBezTo>
                  <a:pt x="2615260" y="3163722"/>
                  <a:pt x="2576084" y="3162160"/>
                  <a:pt x="2537460" y="3156169"/>
                </a:cubicBezTo>
                <a:cubicBezTo>
                  <a:pt x="2501836" y="3149502"/>
                  <a:pt x="2484882" y="3120069"/>
                  <a:pt x="2468213" y="3086732"/>
                </a:cubicBezTo>
                <a:cubicBezTo>
                  <a:pt x="2433637" y="3017199"/>
                  <a:pt x="2420588" y="2944428"/>
                  <a:pt x="2417350" y="2868800"/>
                </a:cubicBezTo>
                <a:cubicBezTo>
                  <a:pt x="2416683" y="2855274"/>
                  <a:pt x="2422969" y="2841463"/>
                  <a:pt x="2425827" y="2827652"/>
                </a:cubicBezTo>
                <a:cubicBezTo>
                  <a:pt x="2428875" y="2817708"/>
                  <a:pt x="2430503" y="2807383"/>
                  <a:pt x="2430684" y="2796981"/>
                </a:cubicBezTo>
                <a:cubicBezTo>
                  <a:pt x="2426684" y="2753833"/>
                  <a:pt x="2418778" y="2711256"/>
                  <a:pt x="2416873" y="2667727"/>
                </a:cubicBezTo>
                <a:cubicBezTo>
                  <a:pt x="2413635" y="2613063"/>
                  <a:pt x="2413825" y="2558247"/>
                  <a:pt x="2417445" y="2503611"/>
                </a:cubicBezTo>
                <a:cubicBezTo>
                  <a:pt x="2423445" y="2431031"/>
                  <a:pt x="2437352" y="2359117"/>
                  <a:pt x="2444401" y="2286537"/>
                </a:cubicBezTo>
                <a:cubicBezTo>
                  <a:pt x="2448877" y="2240626"/>
                  <a:pt x="2445448" y="2193954"/>
                  <a:pt x="2448306" y="2147757"/>
                </a:cubicBezTo>
                <a:cubicBezTo>
                  <a:pt x="2453068" y="2069938"/>
                  <a:pt x="2463736" y="1992309"/>
                  <a:pt x="2464879" y="1914585"/>
                </a:cubicBezTo>
                <a:cubicBezTo>
                  <a:pt x="2465832" y="1852196"/>
                  <a:pt x="2455354" y="1789712"/>
                  <a:pt x="2452020" y="1727229"/>
                </a:cubicBezTo>
                <a:cubicBezTo>
                  <a:pt x="2450973" y="1705321"/>
                  <a:pt x="2457450" y="1683032"/>
                  <a:pt x="2460879" y="1661030"/>
                </a:cubicBezTo>
                <a:cubicBezTo>
                  <a:pt x="2474500" y="1572733"/>
                  <a:pt x="2490406" y="1484722"/>
                  <a:pt x="2500788" y="1396139"/>
                </a:cubicBezTo>
                <a:cubicBezTo>
                  <a:pt x="2504027" y="1369088"/>
                  <a:pt x="2492026" y="1340323"/>
                  <a:pt x="2488025" y="1312224"/>
                </a:cubicBezTo>
                <a:cubicBezTo>
                  <a:pt x="2485263" y="1293650"/>
                  <a:pt x="2477738" y="1272315"/>
                  <a:pt x="2483834" y="1256598"/>
                </a:cubicBezTo>
                <a:cubicBezTo>
                  <a:pt x="2496312" y="1224404"/>
                  <a:pt x="2479929" y="1213164"/>
                  <a:pt x="2456402" y="1202306"/>
                </a:cubicBezTo>
                <a:cubicBezTo>
                  <a:pt x="2429732" y="1190019"/>
                  <a:pt x="2403157" y="1177350"/>
                  <a:pt x="2376773" y="1164873"/>
                </a:cubicBezTo>
                <a:cubicBezTo>
                  <a:pt x="2382107" y="1233643"/>
                  <a:pt x="2384869" y="1299937"/>
                  <a:pt x="2393346" y="1365469"/>
                </a:cubicBezTo>
                <a:cubicBezTo>
                  <a:pt x="2399252" y="1410522"/>
                  <a:pt x="2418778" y="1454242"/>
                  <a:pt x="2421445" y="1498819"/>
                </a:cubicBezTo>
                <a:cubicBezTo>
                  <a:pt x="2423541" y="1535109"/>
                  <a:pt x="2411920" y="1572828"/>
                  <a:pt x="2402395" y="1609023"/>
                </a:cubicBezTo>
                <a:cubicBezTo>
                  <a:pt x="2386012" y="1674365"/>
                  <a:pt x="2364295" y="1738468"/>
                  <a:pt x="2349912" y="1804190"/>
                </a:cubicBezTo>
                <a:cubicBezTo>
                  <a:pt x="2328195" y="1902203"/>
                  <a:pt x="2309431" y="2000977"/>
                  <a:pt x="2291619" y="2099465"/>
                </a:cubicBezTo>
                <a:cubicBezTo>
                  <a:pt x="2269331" y="2223290"/>
                  <a:pt x="2233803" y="2344448"/>
                  <a:pt x="2236279" y="2473607"/>
                </a:cubicBezTo>
                <a:cubicBezTo>
                  <a:pt x="2237708" y="2550951"/>
                  <a:pt x="2210181" y="2628770"/>
                  <a:pt x="2195703" y="2706398"/>
                </a:cubicBezTo>
                <a:cubicBezTo>
                  <a:pt x="2186654" y="2754786"/>
                  <a:pt x="2177701" y="2803077"/>
                  <a:pt x="2167890" y="2855465"/>
                </a:cubicBezTo>
                <a:cubicBezTo>
                  <a:pt x="2207895" y="2854322"/>
                  <a:pt x="2224183" y="2875277"/>
                  <a:pt x="2245614" y="2897280"/>
                </a:cubicBezTo>
                <a:cubicBezTo>
                  <a:pt x="2274189" y="2926617"/>
                  <a:pt x="2314765" y="2945762"/>
                  <a:pt x="2352960" y="2963383"/>
                </a:cubicBezTo>
                <a:cubicBezTo>
                  <a:pt x="2387060" y="2979099"/>
                  <a:pt x="2408015" y="3002531"/>
                  <a:pt x="2403443" y="3035202"/>
                </a:cubicBezTo>
                <a:cubicBezTo>
                  <a:pt x="2399442" y="3063777"/>
                  <a:pt x="2376011" y="3083493"/>
                  <a:pt x="2336768" y="3079874"/>
                </a:cubicBezTo>
                <a:cubicBezTo>
                  <a:pt x="2292191" y="3075683"/>
                  <a:pt x="2245042" y="3071968"/>
                  <a:pt x="2204847" y="3054537"/>
                </a:cubicBezTo>
                <a:cubicBezTo>
                  <a:pt x="2150773" y="3031134"/>
                  <a:pt x="2093547" y="3015828"/>
                  <a:pt x="2035016" y="3009103"/>
                </a:cubicBezTo>
                <a:cubicBezTo>
                  <a:pt x="1980057" y="3002436"/>
                  <a:pt x="1969008" y="2981100"/>
                  <a:pt x="1974627" y="2927283"/>
                </a:cubicBezTo>
                <a:cubicBezTo>
                  <a:pt x="1981295" y="2862799"/>
                  <a:pt x="1984724" y="2797934"/>
                  <a:pt x="1989867" y="2733164"/>
                </a:cubicBezTo>
                <a:cubicBezTo>
                  <a:pt x="1993868" y="2682491"/>
                  <a:pt x="1996725" y="2631627"/>
                  <a:pt x="2003012" y="2580764"/>
                </a:cubicBezTo>
                <a:cubicBezTo>
                  <a:pt x="2013870" y="2494181"/>
                  <a:pt x="2027396" y="2407885"/>
                  <a:pt x="2039112" y="2321303"/>
                </a:cubicBezTo>
                <a:cubicBezTo>
                  <a:pt x="2045017" y="2277012"/>
                  <a:pt x="2055685" y="2232149"/>
                  <a:pt x="2053113" y="2187953"/>
                </a:cubicBezTo>
                <a:cubicBezTo>
                  <a:pt x="2047589" y="2091750"/>
                  <a:pt x="2034921" y="1995929"/>
                  <a:pt x="2025110" y="1900012"/>
                </a:cubicBezTo>
                <a:cubicBezTo>
                  <a:pt x="2024100" y="1884553"/>
                  <a:pt x="2021119" y="1869284"/>
                  <a:pt x="2016252" y="1854578"/>
                </a:cubicBezTo>
                <a:cubicBezTo>
                  <a:pt x="1992572" y="1879924"/>
                  <a:pt x="1977875" y="1912356"/>
                  <a:pt x="1974437" y="1946875"/>
                </a:cubicBezTo>
                <a:cubicBezTo>
                  <a:pt x="1972056" y="1966592"/>
                  <a:pt x="1966722" y="1985928"/>
                  <a:pt x="1962531" y="2005454"/>
                </a:cubicBezTo>
                <a:cubicBezTo>
                  <a:pt x="1955673" y="2037553"/>
                  <a:pt x="1949196" y="2069747"/>
                  <a:pt x="1941671" y="2101752"/>
                </a:cubicBezTo>
                <a:cubicBezTo>
                  <a:pt x="1937089" y="2126088"/>
                  <a:pt x="1930432" y="2149986"/>
                  <a:pt x="1921764" y="2173189"/>
                </a:cubicBezTo>
                <a:cubicBezTo>
                  <a:pt x="1901675" y="2217680"/>
                  <a:pt x="1891912" y="2266124"/>
                  <a:pt x="1893189" y="2314921"/>
                </a:cubicBezTo>
                <a:cubicBezTo>
                  <a:pt x="1893789" y="2335028"/>
                  <a:pt x="1887912" y="2354793"/>
                  <a:pt x="1876425" y="2371309"/>
                </a:cubicBezTo>
                <a:cubicBezTo>
                  <a:pt x="1841458" y="2416953"/>
                  <a:pt x="1824056" y="2473646"/>
                  <a:pt x="1827371" y="2531043"/>
                </a:cubicBezTo>
                <a:cubicBezTo>
                  <a:pt x="1829371" y="2592289"/>
                  <a:pt x="1817846" y="2650677"/>
                  <a:pt x="1806797" y="2710589"/>
                </a:cubicBezTo>
                <a:cubicBezTo>
                  <a:pt x="1795176" y="2776026"/>
                  <a:pt x="1772507" y="2842415"/>
                  <a:pt x="1793652" y="2912615"/>
                </a:cubicBezTo>
                <a:cubicBezTo>
                  <a:pt x="1806607" y="2955954"/>
                  <a:pt x="1806892" y="3003102"/>
                  <a:pt x="1812702" y="3048632"/>
                </a:cubicBezTo>
                <a:cubicBezTo>
                  <a:pt x="1813036" y="3049784"/>
                  <a:pt x="1813036" y="3051004"/>
                  <a:pt x="1812702" y="3052156"/>
                </a:cubicBezTo>
                <a:cubicBezTo>
                  <a:pt x="1792414" y="3098352"/>
                  <a:pt x="1815560" y="3144930"/>
                  <a:pt x="1811464" y="3191412"/>
                </a:cubicBezTo>
                <a:cubicBezTo>
                  <a:pt x="1808321" y="3227226"/>
                  <a:pt x="1794700" y="3241989"/>
                  <a:pt x="1757838" y="3243418"/>
                </a:cubicBezTo>
                <a:cubicBezTo>
                  <a:pt x="1735264" y="3244275"/>
                  <a:pt x="1712595" y="3244371"/>
                  <a:pt x="1690020" y="3243418"/>
                </a:cubicBezTo>
                <a:cubicBezTo>
                  <a:pt x="1644777" y="3241989"/>
                  <a:pt x="1617726" y="3220082"/>
                  <a:pt x="1613820" y="3175219"/>
                </a:cubicBezTo>
                <a:cubicBezTo>
                  <a:pt x="1608582" y="3116164"/>
                  <a:pt x="1604295" y="3056538"/>
                  <a:pt x="1636014" y="3001197"/>
                </a:cubicBezTo>
                <a:cubicBezTo>
                  <a:pt x="1641062" y="2992434"/>
                  <a:pt x="1635442" y="2976051"/>
                  <a:pt x="1632013" y="2963955"/>
                </a:cubicBezTo>
                <a:cubicBezTo>
                  <a:pt x="1626679" y="2945476"/>
                  <a:pt x="1612963" y="2927760"/>
                  <a:pt x="1612963" y="2909567"/>
                </a:cubicBezTo>
                <a:cubicBezTo>
                  <a:pt x="1611153" y="2801268"/>
                  <a:pt x="1606677" y="2692682"/>
                  <a:pt x="1613630" y="2584764"/>
                </a:cubicBezTo>
                <a:cubicBezTo>
                  <a:pt x="1619821" y="2488657"/>
                  <a:pt x="1639824" y="2393502"/>
                  <a:pt x="1653254" y="2297776"/>
                </a:cubicBezTo>
                <a:cubicBezTo>
                  <a:pt x="1656588" y="2274440"/>
                  <a:pt x="1658302" y="2250818"/>
                  <a:pt x="1660969" y="2227386"/>
                </a:cubicBezTo>
                <a:cubicBezTo>
                  <a:pt x="1664874" y="2193192"/>
                  <a:pt x="1662779" y="2156901"/>
                  <a:pt x="1674114" y="2125373"/>
                </a:cubicBezTo>
                <a:cubicBezTo>
                  <a:pt x="1709356" y="2026409"/>
                  <a:pt x="1689735" y="1924777"/>
                  <a:pt x="1694688" y="1824479"/>
                </a:cubicBezTo>
                <a:cubicBezTo>
                  <a:pt x="1697545" y="1767805"/>
                  <a:pt x="1692592" y="1711798"/>
                  <a:pt x="1720119" y="1657601"/>
                </a:cubicBezTo>
                <a:cubicBezTo>
                  <a:pt x="1735645" y="1626835"/>
                  <a:pt x="1717833" y="1594450"/>
                  <a:pt x="1708023" y="1560827"/>
                </a:cubicBezTo>
                <a:cubicBezTo>
                  <a:pt x="1691640" y="1503677"/>
                  <a:pt x="1630775" y="1479197"/>
                  <a:pt x="1624679" y="1417952"/>
                </a:cubicBezTo>
                <a:cubicBezTo>
                  <a:pt x="1621059" y="1382043"/>
                  <a:pt x="1600676" y="1370327"/>
                  <a:pt x="1565719" y="1363374"/>
                </a:cubicBezTo>
                <a:cubicBezTo>
                  <a:pt x="1565719" y="1397282"/>
                  <a:pt x="1565719" y="1430048"/>
                  <a:pt x="1565719" y="1462624"/>
                </a:cubicBezTo>
                <a:cubicBezTo>
                  <a:pt x="1565719" y="1623311"/>
                  <a:pt x="1567338" y="1783997"/>
                  <a:pt x="1566862" y="1944684"/>
                </a:cubicBezTo>
                <a:cubicBezTo>
                  <a:pt x="1566862" y="1975260"/>
                  <a:pt x="1559814" y="2005835"/>
                  <a:pt x="1557337" y="2036505"/>
                </a:cubicBezTo>
                <a:cubicBezTo>
                  <a:pt x="1553527" y="2076510"/>
                  <a:pt x="1554289" y="2117277"/>
                  <a:pt x="1546383" y="2156425"/>
                </a:cubicBezTo>
                <a:cubicBezTo>
                  <a:pt x="1519809" y="2287394"/>
                  <a:pt x="1540859" y="2419601"/>
                  <a:pt x="1533048" y="2550855"/>
                </a:cubicBezTo>
                <a:cubicBezTo>
                  <a:pt x="1529429" y="2610863"/>
                  <a:pt x="1522380" y="2670585"/>
                  <a:pt x="1516189" y="2730402"/>
                </a:cubicBezTo>
                <a:cubicBezTo>
                  <a:pt x="1511046" y="2779836"/>
                  <a:pt x="1497711" y="2829652"/>
                  <a:pt x="1500759" y="2878420"/>
                </a:cubicBezTo>
                <a:cubicBezTo>
                  <a:pt x="1505521" y="2953191"/>
                  <a:pt x="1482566" y="3021771"/>
                  <a:pt x="1466564" y="3091685"/>
                </a:cubicBezTo>
                <a:cubicBezTo>
                  <a:pt x="1445799" y="3183030"/>
                  <a:pt x="1400460" y="3214557"/>
                  <a:pt x="1305687" y="3214367"/>
                </a:cubicBezTo>
                <a:cubicBezTo>
                  <a:pt x="1291399" y="3214367"/>
                  <a:pt x="1277112" y="3213033"/>
                  <a:pt x="1262919" y="3212081"/>
                </a:cubicBezTo>
                <a:cubicBezTo>
                  <a:pt x="1221105" y="3209414"/>
                  <a:pt x="1207198" y="3191221"/>
                  <a:pt x="1223867" y="3151978"/>
                </a:cubicBezTo>
                <a:cubicBezTo>
                  <a:pt x="1240536" y="3112735"/>
                  <a:pt x="1265301" y="3075016"/>
                  <a:pt x="1284446" y="3035678"/>
                </a:cubicBezTo>
                <a:cubicBezTo>
                  <a:pt x="1293276" y="3017647"/>
                  <a:pt x="1299314" y="2998378"/>
                  <a:pt x="1302353" y="2978528"/>
                </a:cubicBezTo>
                <a:cubicBezTo>
                  <a:pt x="1325689" y="2819175"/>
                  <a:pt x="1319022" y="2658678"/>
                  <a:pt x="1316450" y="2498658"/>
                </a:cubicBezTo>
                <a:cubicBezTo>
                  <a:pt x="1315497" y="2436841"/>
                  <a:pt x="1299686" y="2374833"/>
                  <a:pt x="1290256" y="2313588"/>
                </a:cubicBezTo>
                <a:cubicBezTo>
                  <a:pt x="1283303" y="2268058"/>
                  <a:pt x="1276254" y="2222529"/>
                  <a:pt x="1268634" y="2177094"/>
                </a:cubicBezTo>
                <a:cubicBezTo>
                  <a:pt x="1257966" y="2113753"/>
                  <a:pt x="1246917" y="2050412"/>
                  <a:pt x="1235964" y="1987071"/>
                </a:cubicBezTo>
                <a:lnTo>
                  <a:pt x="1222629" y="1985070"/>
                </a:lnTo>
                <a:cubicBezTo>
                  <a:pt x="1216818" y="2003549"/>
                  <a:pt x="1207008" y="2021837"/>
                  <a:pt x="1205769" y="2040696"/>
                </a:cubicBezTo>
                <a:cubicBezTo>
                  <a:pt x="1199292" y="2136423"/>
                  <a:pt x="1197197" y="2232530"/>
                  <a:pt x="1189482" y="2328065"/>
                </a:cubicBezTo>
                <a:cubicBezTo>
                  <a:pt x="1181766" y="2423601"/>
                  <a:pt x="1166145" y="2519994"/>
                  <a:pt x="1159097" y="2616197"/>
                </a:cubicBezTo>
                <a:cubicBezTo>
                  <a:pt x="1150620" y="2732592"/>
                  <a:pt x="1113377" y="2845464"/>
                  <a:pt x="1123759" y="2964431"/>
                </a:cubicBezTo>
                <a:cubicBezTo>
                  <a:pt x="1129855" y="3034725"/>
                  <a:pt x="1111567" y="3051585"/>
                  <a:pt x="1042035" y="3056347"/>
                </a:cubicBezTo>
                <a:cubicBezTo>
                  <a:pt x="1014746" y="3057338"/>
                  <a:pt x="989123" y="3069701"/>
                  <a:pt x="971359" y="3090447"/>
                </a:cubicBezTo>
                <a:cubicBezTo>
                  <a:pt x="925925" y="3139881"/>
                  <a:pt x="865251" y="3132166"/>
                  <a:pt x="807529" y="3127594"/>
                </a:cubicBezTo>
                <a:cubicBezTo>
                  <a:pt x="789336" y="3126165"/>
                  <a:pt x="758571" y="3137119"/>
                  <a:pt x="753903" y="3102639"/>
                </a:cubicBezTo>
                <a:cubicBezTo>
                  <a:pt x="749236" y="3068158"/>
                  <a:pt x="771525" y="3044155"/>
                  <a:pt x="802767" y="3028820"/>
                </a:cubicBezTo>
                <a:cubicBezTo>
                  <a:pt x="863250" y="2999102"/>
                  <a:pt x="912590" y="2960906"/>
                  <a:pt x="927735" y="2885945"/>
                </a:cubicBezTo>
                <a:cubicBezTo>
                  <a:pt x="942213" y="2814031"/>
                  <a:pt x="933545" y="2745261"/>
                  <a:pt x="928878" y="2674014"/>
                </a:cubicBezTo>
                <a:cubicBezTo>
                  <a:pt x="923067" y="2584764"/>
                  <a:pt x="934783" y="2494372"/>
                  <a:pt x="937260" y="2404551"/>
                </a:cubicBezTo>
                <a:cubicBezTo>
                  <a:pt x="938688" y="2353688"/>
                  <a:pt x="938117" y="2302824"/>
                  <a:pt x="936021" y="2252151"/>
                </a:cubicBezTo>
                <a:cubicBezTo>
                  <a:pt x="934688" y="2218147"/>
                  <a:pt x="926973" y="2184429"/>
                  <a:pt x="925449" y="2150520"/>
                </a:cubicBezTo>
                <a:cubicBezTo>
                  <a:pt x="919257" y="2010788"/>
                  <a:pt x="911256" y="1870961"/>
                  <a:pt x="910209" y="1731420"/>
                </a:cubicBezTo>
                <a:cubicBezTo>
                  <a:pt x="910113" y="1643837"/>
                  <a:pt x="915743" y="1556331"/>
                  <a:pt x="927068" y="1469482"/>
                </a:cubicBezTo>
                <a:cubicBezTo>
                  <a:pt x="932497" y="1425667"/>
                  <a:pt x="956310" y="1384424"/>
                  <a:pt x="966787" y="1340895"/>
                </a:cubicBezTo>
                <a:cubicBezTo>
                  <a:pt x="971454" y="1321845"/>
                  <a:pt x="966025" y="1298413"/>
                  <a:pt x="960786" y="1278125"/>
                </a:cubicBezTo>
                <a:cubicBezTo>
                  <a:pt x="954405" y="1251836"/>
                  <a:pt x="943165" y="1226118"/>
                  <a:pt x="932592" y="1196496"/>
                </a:cubicBezTo>
                <a:close/>
              </a:path>
            </a:pathLst>
          </a:custGeom>
          <a:gradFill>
            <a:gsLst>
              <a:gs pos="100000">
                <a:srgbClr val="02065E"/>
              </a:gs>
              <a:gs pos="0">
                <a:srgbClr val="024BDC"/>
              </a:gs>
            </a:gsLst>
            <a:lin ang="5400000" scaled="0"/>
          </a:gradFill>
          <a:ln>
            <a:gradFill flip="none" rotWithShape="1">
              <a:gsLst>
                <a:gs pos="0">
                  <a:schemeClr val="accent1">
                    <a:lumMod val="5000"/>
                    <a:lumOff val="95000"/>
                  </a:schemeClr>
                </a:gs>
                <a:gs pos="100000">
                  <a:srgbClr val="FFFFAF"/>
                </a:gs>
              </a:gsLst>
              <a:lin ang="16200000" scaled="1"/>
              <a:tileRect/>
            </a:gra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i="1">
              <a:solidFill>
                <a:schemeClr val="lt1"/>
              </a:solidFill>
            </a:endParaRPr>
          </a:p>
        </p:txBody>
      </p:sp>
      <p:grpSp>
        <p:nvGrpSpPr>
          <p:cNvPr id="14" name="组合 13"/>
          <p:cNvGrpSpPr/>
          <p:nvPr/>
        </p:nvGrpSpPr>
        <p:grpSpPr>
          <a:xfrm>
            <a:off x="892342" y="2772204"/>
            <a:ext cx="10407316" cy="1402372"/>
            <a:chOff x="-1461188" y="4551312"/>
            <a:chExt cx="10407316" cy="1402372"/>
          </a:xfrm>
        </p:grpSpPr>
        <p:pic>
          <p:nvPicPr>
            <p:cNvPr id="12" name="图片 11" descr="夜空下的树&#10;&#10;低可信度描述已自动生成"/>
            <p:cNvPicPr>
              <a:picLocks noChangeAspect="1"/>
            </p:cNvPicPr>
            <p:nvPr/>
          </p:nvPicPr>
          <p:blipFill rotWithShape="1">
            <a:blip r:embed="rId2">
              <a:extLst>
                <a:ext uri="{BEBA8EAE-BF5A-486C-A8C5-ECC9F3942E4B}">
                  <a14:imgProps xmlns:a14="http://schemas.microsoft.com/office/drawing/2010/main">
                    <a14:imgLayer r:embed="rId3">
                      <a14:imgEffect>
                        <a14:brightnessContrast bright="40000" contrast="-40000"/>
                      </a14:imgEffect>
                    </a14:imgLayer>
                  </a14:imgProps>
                </a:ext>
                <a:ext uri="{28A0092B-C50C-407E-A947-70E740481C1C}">
                  <a14:useLocalDpi xmlns:a14="http://schemas.microsoft.com/office/drawing/2010/main" val="0"/>
                </a:ext>
              </a:extLst>
            </a:blip>
            <a:srcRect t="22831" b="49565"/>
            <a:stretch>
              <a:fillRect/>
            </a:stretch>
          </p:blipFill>
          <p:spPr>
            <a:xfrm>
              <a:off x="-1461188" y="4551312"/>
              <a:ext cx="10407316" cy="439461"/>
            </a:xfrm>
            <a:prstGeom prst="rect">
              <a:avLst/>
            </a:prstGeom>
          </p:spPr>
        </p:pic>
        <p:pic>
          <p:nvPicPr>
            <p:cNvPr id="13" name="图片 12" descr="夜空下的树&#10;&#10;低可信度描述已自动生成"/>
            <p:cNvPicPr>
              <a:picLocks noChangeAspect="1"/>
            </p:cNvPicPr>
            <p:nvPr/>
          </p:nvPicPr>
          <p:blipFill rotWithShape="1">
            <a:blip r:embed="rId4">
              <a:extLst>
                <a:ext uri="{BEBA8EAE-BF5A-486C-A8C5-ECC9F3942E4B}">
                  <a14:imgProps xmlns:a14="http://schemas.microsoft.com/office/drawing/2010/main">
                    <a14:imgLayer r:embed="rId3">
                      <a14:imgEffect>
                        <a14:brightnessContrast bright="20000" contrast="20000"/>
                      </a14:imgEffect>
                    </a14:imgLayer>
                  </a14:imgProps>
                </a:ext>
                <a:ext uri="{28A0092B-C50C-407E-A947-70E740481C1C}">
                  <a14:useLocalDpi xmlns:a14="http://schemas.microsoft.com/office/drawing/2010/main" val="0"/>
                </a:ext>
              </a:extLst>
            </a:blip>
            <a:srcRect t="49565" b="22831"/>
            <a:stretch>
              <a:fillRect/>
            </a:stretch>
          </p:blipFill>
          <p:spPr>
            <a:xfrm>
              <a:off x="-1461188" y="5416380"/>
              <a:ext cx="10407316" cy="537304"/>
            </a:xfrm>
            <a:prstGeom prst="rect">
              <a:avLst/>
            </a:prstGeom>
          </p:spPr>
        </p:pic>
      </p:grpSp>
      <p:sp>
        <p:nvSpPr>
          <p:cNvPr id="4" name="文本框 3"/>
          <p:cNvSpPr txBox="1"/>
          <p:nvPr/>
        </p:nvSpPr>
        <p:spPr>
          <a:xfrm>
            <a:off x="1872615" y="3188335"/>
            <a:ext cx="8554720" cy="4603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gradFill flip="none" rotWithShape="1">
                  <a:gsLst>
                    <a:gs pos="0">
                      <a:srgbClr val="71D0FB"/>
                    </a:gs>
                    <a:gs pos="66000">
                      <a:srgbClr val="71D0FB"/>
                    </a:gs>
                  </a:gsLst>
                  <a:lin ang="5400000" scaled="1"/>
                  <a:tileRect/>
                </a:gradFill>
                <a:effectLst/>
                <a:uLnTx/>
                <a:uFillTx/>
                <a:latin typeface="字体传奇特战体-免费商用" panose="02000500000000000000" pitchFamily="2" charset="-122"/>
                <a:ea typeface="字体传奇特战体-免费商用" panose="02000500000000000000" pitchFamily="2" charset="-122"/>
                <a:cs typeface="+mn-cs"/>
              </a:rPr>
              <a:t>让国产卫星为每一寸国土提供自适应、高鲁棒的智能解译守护！</a:t>
            </a:r>
            <a:endParaRPr kumimoji="0" lang="zh-CN" altLang="en-US" sz="2400" b="0" i="0" u="none" strike="noStrike" kern="1200" cap="none" spc="0" normalizeH="0" baseline="0" noProof="0" dirty="0">
              <a:ln>
                <a:noFill/>
              </a:ln>
              <a:gradFill flip="none" rotWithShape="1">
                <a:gsLst>
                  <a:gs pos="0">
                    <a:srgbClr val="71D0FB"/>
                  </a:gs>
                  <a:gs pos="66000">
                    <a:srgbClr val="71D0FB"/>
                  </a:gs>
                </a:gsLst>
                <a:lin ang="5400000" scaled="1"/>
                <a:tileRect/>
              </a:gradFill>
              <a:effectLst/>
              <a:uLnTx/>
              <a:uFillTx/>
              <a:latin typeface="字体传奇特战体-免费商用" panose="02000500000000000000" pitchFamily="2" charset="-122"/>
              <a:ea typeface="字体传奇特战体-免费商用" panose="02000500000000000000" pitchFamily="2" charset="-122"/>
              <a:cs typeface="+mn-cs"/>
            </a:endParaRPr>
          </a:p>
        </p:txBody>
      </p:sp>
      <p:grpSp>
        <p:nvGrpSpPr>
          <p:cNvPr id="6" name="组合 5"/>
          <p:cNvGrpSpPr/>
          <p:nvPr/>
        </p:nvGrpSpPr>
        <p:grpSpPr>
          <a:xfrm>
            <a:off x="-3123948" y="4179008"/>
            <a:ext cx="19076644" cy="4731383"/>
            <a:chOff x="-3170094" y="4190379"/>
            <a:chExt cx="19184364" cy="4059636"/>
          </a:xfrm>
        </p:grpSpPr>
        <p:pic>
          <p:nvPicPr>
            <p:cNvPr id="7" name="图片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51632" y="5165065"/>
              <a:ext cx="6655399" cy="3084950"/>
            </a:xfrm>
            <a:prstGeom prst="rect">
              <a:avLst/>
            </a:prstGeom>
          </p:spPr>
        </p:pic>
        <p:pic>
          <p:nvPicPr>
            <p:cNvPr id="8" name="图片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65127" y="4562363"/>
              <a:ext cx="6655399" cy="3084950"/>
            </a:xfrm>
            <a:prstGeom prst="rect">
              <a:avLst/>
            </a:prstGeom>
          </p:spPr>
        </p:pic>
        <p:pic>
          <p:nvPicPr>
            <p:cNvPr id="9" name="图片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356556" y="5147634"/>
              <a:ext cx="2005588" cy="929642"/>
            </a:xfrm>
            <a:prstGeom prst="rect">
              <a:avLst/>
            </a:prstGeom>
          </p:spPr>
        </p:pic>
        <p:pic>
          <p:nvPicPr>
            <p:cNvPr id="10" name="图片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0800000">
              <a:off x="-1544301" y="4618810"/>
              <a:ext cx="6655399" cy="3084950"/>
            </a:xfrm>
            <a:prstGeom prst="rect">
              <a:avLst/>
            </a:prstGeom>
          </p:spPr>
        </p:pic>
        <p:pic>
          <p:nvPicPr>
            <p:cNvPr id="16" name="图片 1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2126660" y="4924595"/>
              <a:ext cx="4749497" cy="2201515"/>
            </a:xfrm>
            <a:prstGeom prst="rect">
              <a:avLst/>
            </a:prstGeom>
          </p:spPr>
        </p:pic>
        <p:pic>
          <p:nvPicPr>
            <p:cNvPr id="18" name="图片 1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358871" y="5109719"/>
              <a:ext cx="6655399" cy="3084950"/>
            </a:xfrm>
            <a:prstGeom prst="rect">
              <a:avLst/>
            </a:prstGeom>
          </p:spPr>
        </p:pic>
        <p:pic>
          <p:nvPicPr>
            <p:cNvPr id="20" name="图片 1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24094" y="5089717"/>
              <a:ext cx="6655399" cy="3084950"/>
            </a:xfrm>
            <a:prstGeom prst="rect">
              <a:avLst/>
            </a:prstGeom>
          </p:spPr>
        </p:pic>
        <p:pic>
          <p:nvPicPr>
            <p:cNvPr id="22" name="图片 2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372035" y="4907757"/>
              <a:ext cx="3836696" cy="1778408"/>
            </a:xfrm>
            <a:prstGeom prst="rect">
              <a:avLst/>
            </a:prstGeom>
          </p:spPr>
        </p:pic>
        <p:pic>
          <p:nvPicPr>
            <p:cNvPr id="23" name="图片 2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073664" y="4283557"/>
              <a:ext cx="3683889" cy="1707578"/>
            </a:xfrm>
            <a:prstGeom prst="rect">
              <a:avLst/>
            </a:prstGeom>
          </p:spPr>
        </p:pic>
        <p:pic>
          <p:nvPicPr>
            <p:cNvPr id="24" name="图片 2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flipH="1">
              <a:off x="-3170094" y="4190379"/>
              <a:ext cx="3683889" cy="1707578"/>
            </a:xfrm>
            <a:prstGeom prst="rect">
              <a:avLst/>
            </a:prstGeom>
          </p:spPr>
        </p:pic>
        <p:pic>
          <p:nvPicPr>
            <p:cNvPr id="25" name="图片 2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927188" y="4316878"/>
              <a:ext cx="2005588" cy="929642"/>
            </a:xfrm>
            <a:prstGeom prst="rect">
              <a:avLst/>
            </a:prstGeom>
          </p:spPr>
        </p:pic>
      </p:grpSp>
      <p:sp>
        <p:nvSpPr>
          <p:cNvPr id="27" name="矩形 26"/>
          <p:cNvSpPr/>
          <p:nvPr/>
        </p:nvSpPr>
        <p:spPr>
          <a:xfrm>
            <a:off x="-1139597" y="5540312"/>
            <a:ext cx="3468549" cy="1990130"/>
          </a:xfrm>
          <a:prstGeom prst="rect">
            <a:avLst/>
          </a:prstGeom>
          <a:blipFill dpi="0" rotWithShape="1">
            <a:blip r:embed="rId9">
              <a:alphaModFix amt="80000"/>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sp>
        <p:nvSpPr>
          <p:cNvPr id="28" name="矩形 27"/>
          <p:cNvSpPr/>
          <p:nvPr/>
        </p:nvSpPr>
        <p:spPr>
          <a:xfrm>
            <a:off x="657298" y="6053991"/>
            <a:ext cx="3468549" cy="1990130"/>
          </a:xfrm>
          <a:prstGeom prst="rect">
            <a:avLst/>
          </a:prstGeom>
          <a:blipFill dpi="0" rotWithShape="1">
            <a:blip r:embed="rId9">
              <a:alphaModFix amt="40000"/>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20204"/>
              <a:ea typeface="微软雅黑" panose="020B0503020204020204" pitchFamily="34" charset="-122"/>
              <a:cs typeface="+mn-cs"/>
            </a:endParaRPr>
          </a:p>
        </p:txBody>
      </p:sp>
      <p:grpSp>
        <p:nvGrpSpPr>
          <p:cNvPr id="67" name="组合 66"/>
          <p:cNvGrpSpPr/>
          <p:nvPr/>
        </p:nvGrpSpPr>
        <p:grpSpPr>
          <a:xfrm>
            <a:off x="900053" y="1370916"/>
            <a:ext cx="10391893" cy="1244633"/>
            <a:chOff x="987594" y="1370916"/>
            <a:chExt cx="10391893" cy="1244633"/>
          </a:xfrm>
        </p:grpSpPr>
        <p:grpSp>
          <p:nvGrpSpPr>
            <p:cNvPr id="62" name="组合 61"/>
            <p:cNvGrpSpPr/>
            <p:nvPr/>
          </p:nvGrpSpPr>
          <p:grpSpPr>
            <a:xfrm>
              <a:off x="987594" y="1370916"/>
              <a:ext cx="1824829" cy="1244633"/>
              <a:chOff x="743537" y="1437227"/>
              <a:chExt cx="1824829" cy="1244633"/>
            </a:xfrm>
          </p:grpSpPr>
          <p:sp>
            <p:nvSpPr>
              <p:cNvPr id="59" name="矩形 58"/>
              <p:cNvSpPr/>
              <p:nvPr/>
            </p:nvSpPr>
            <p:spPr>
              <a:xfrm>
                <a:off x="743537" y="1804800"/>
                <a:ext cx="1623000" cy="630522"/>
              </a:xfrm>
              <a:custGeom>
                <a:avLst/>
                <a:gdLst>
                  <a:gd name="connsiteX0" fmla="*/ 0 w 2399626"/>
                  <a:gd name="connsiteY0" fmla="*/ 0 h 1768302"/>
                  <a:gd name="connsiteX1" fmla="*/ 2399626 w 2399626"/>
                  <a:gd name="connsiteY1" fmla="*/ 0 h 1768302"/>
                  <a:gd name="connsiteX2" fmla="*/ 2399626 w 2399626"/>
                  <a:gd name="connsiteY2" fmla="*/ 1768302 h 1768302"/>
                  <a:gd name="connsiteX3" fmla="*/ 0 w 2399626"/>
                  <a:gd name="connsiteY3" fmla="*/ 1768302 h 1768302"/>
                  <a:gd name="connsiteX4" fmla="*/ 0 w 2399626"/>
                  <a:gd name="connsiteY4" fmla="*/ 0 h 1768302"/>
                  <a:gd name="connsiteX0-1" fmla="*/ 0 w 2399626"/>
                  <a:gd name="connsiteY0-2" fmla="*/ 0 h 1768302"/>
                  <a:gd name="connsiteX1-3" fmla="*/ 2315806 w 2399626"/>
                  <a:gd name="connsiteY1-4" fmla="*/ 342900 h 1768302"/>
                  <a:gd name="connsiteX2-5" fmla="*/ 2399626 w 2399626"/>
                  <a:gd name="connsiteY2-6" fmla="*/ 1768302 h 1768302"/>
                  <a:gd name="connsiteX3-7" fmla="*/ 0 w 2399626"/>
                  <a:gd name="connsiteY3-8" fmla="*/ 1768302 h 1768302"/>
                  <a:gd name="connsiteX4-9" fmla="*/ 0 w 2399626"/>
                  <a:gd name="connsiteY4-10" fmla="*/ 0 h 1768302"/>
                  <a:gd name="connsiteX0-11" fmla="*/ 0 w 2315806"/>
                  <a:gd name="connsiteY0-12" fmla="*/ 0 h 1768302"/>
                  <a:gd name="connsiteX1-13" fmla="*/ 2315806 w 2315806"/>
                  <a:gd name="connsiteY1-14" fmla="*/ 342900 h 1768302"/>
                  <a:gd name="connsiteX2-15" fmla="*/ 2300566 w 2315806"/>
                  <a:gd name="connsiteY2-16" fmla="*/ 1410162 h 1768302"/>
                  <a:gd name="connsiteX3-17" fmla="*/ 0 w 2315806"/>
                  <a:gd name="connsiteY3-18" fmla="*/ 1768302 h 1768302"/>
                  <a:gd name="connsiteX4-19" fmla="*/ 0 w 2315806"/>
                  <a:gd name="connsiteY4-20" fmla="*/ 0 h 176830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315806" h="1768302">
                    <a:moveTo>
                      <a:pt x="0" y="0"/>
                    </a:moveTo>
                    <a:lnTo>
                      <a:pt x="2315806" y="342900"/>
                    </a:lnTo>
                    <a:lnTo>
                      <a:pt x="2300566" y="1410162"/>
                    </a:lnTo>
                    <a:lnTo>
                      <a:pt x="0" y="1768302"/>
                    </a:lnTo>
                    <a:lnTo>
                      <a:pt x="0" y="0"/>
                    </a:lnTo>
                    <a:close/>
                  </a:path>
                </a:pathLst>
              </a:custGeom>
              <a:gradFill flip="none" rotWithShape="1">
                <a:gsLst>
                  <a:gs pos="0">
                    <a:srgbClr val="FFFFCC">
                      <a:alpha val="0"/>
                    </a:srgbClr>
                  </a:gs>
                  <a:gs pos="81000">
                    <a:srgbClr val="FFFFCC"/>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8"/>
              <p:cNvSpPr/>
              <p:nvPr/>
            </p:nvSpPr>
            <p:spPr>
              <a:xfrm rot="20654548">
                <a:off x="945366" y="2051338"/>
                <a:ext cx="1623000" cy="630522"/>
              </a:xfrm>
              <a:custGeom>
                <a:avLst/>
                <a:gdLst>
                  <a:gd name="connsiteX0" fmla="*/ 0 w 2399626"/>
                  <a:gd name="connsiteY0" fmla="*/ 0 h 1768302"/>
                  <a:gd name="connsiteX1" fmla="*/ 2399626 w 2399626"/>
                  <a:gd name="connsiteY1" fmla="*/ 0 h 1768302"/>
                  <a:gd name="connsiteX2" fmla="*/ 2399626 w 2399626"/>
                  <a:gd name="connsiteY2" fmla="*/ 1768302 h 1768302"/>
                  <a:gd name="connsiteX3" fmla="*/ 0 w 2399626"/>
                  <a:gd name="connsiteY3" fmla="*/ 1768302 h 1768302"/>
                  <a:gd name="connsiteX4" fmla="*/ 0 w 2399626"/>
                  <a:gd name="connsiteY4" fmla="*/ 0 h 1768302"/>
                  <a:gd name="connsiteX0-1" fmla="*/ 0 w 2399626"/>
                  <a:gd name="connsiteY0-2" fmla="*/ 0 h 1768302"/>
                  <a:gd name="connsiteX1-3" fmla="*/ 2315806 w 2399626"/>
                  <a:gd name="connsiteY1-4" fmla="*/ 342900 h 1768302"/>
                  <a:gd name="connsiteX2-5" fmla="*/ 2399626 w 2399626"/>
                  <a:gd name="connsiteY2-6" fmla="*/ 1768302 h 1768302"/>
                  <a:gd name="connsiteX3-7" fmla="*/ 0 w 2399626"/>
                  <a:gd name="connsiteY3-8" fmla="*/ 1768302 h 1768302"/>
                  <a:gd name="connsiteX4-9" fmla="*/ 0 w 2399626"/>
                  <a:gd name="connsiteY4-10" fmla="*/ 0 h 1768302"/>
                  <a:gd name="connsiteX0-11" fmla="*/ 0 w 2315806"/>
                  <a:gd name="connsiteY0-12" fmla="*/ 0 h 1768302"/>
                  <a:gd name="connsiteX1-13" fmla="*/ 2315806 w 2315806"/>
                  <a:gd name="connsiteY1-14" fmla="*/ 342900 h 1768302"/>
                  <a:gd name="connsiteX2-15" fmla="*/ 2300566 w 2315806"/>
                  <a:gd name="connsiteY2-16" fmla="*/ 1410162 h 1768302"/>
                  <a:gd name="connsiteX3-17" fmla="*/ 0 w 2315806"/>
                  <a:gd name="connsiteY3-18" fmla="*/ 1768302 h 1768302"/>
                  <a:gd name="connsiteX4-19" fmla="*/ 0 w 2315806"/>
                  <a:gd name="connsiteY4-20" fmla="*/ 0 h 176830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315806" h="1768302">
                    <a:moveTo>
                      <a:pt x="0" y="0"/>
                    </a:moveTo>
                    <a:lnTo>
                      <a:pt x="2315806" y="342900"/>
                    </a:lnTo>
                    <a:lnTo>
                      <a:pt x="2300566" y="1410162"/>
                    </a:lnTo>
                    <a:lnTo>
                      <a:pt x="0" y="1768302"/>
                    </a:lnTo>
                    <a:lnTo>
                      <a:pt x="0" y="0"/>
                    </a:lnTo>
                    <a:close/>
                  </a:path>
                </a:pathLst>
              </a:custGeom>
              <a:gradFill flip="none" rotWithShape="1">
                <a:gsLst>
                  <a:gs pos="0">
                    <a:srgbClr val="FFFFCC">
                      <a:alpha val="0"/>
                    </a:srgbClr>
                  </a:gs>
                  <a:gs pos="81000">
                    <a:srgbClr val="FFFF99"/>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矩形 58"/>
              <p:cNvSpPr/>
              <p:nvPr/>
            </p:nvSpPr>
            <p:spPr>
              <a:xfrm rot="439055">
                <a:off x="850818" y="1437227"/>
                <a:ext cx="1623000" cy="630522"/>
              </a:xfrm>
              <a:custGeom>
                <a:avLst/>
                <a:gdLst>
                  <a:gd name="connsiteX0" fmla="*/ 0 w 2399626"/>
                  <a:gd name="connsiteY0" fmla="*/ 0 h 1768302"/>
                  <a:gd name="connsiteX1" fmla="*/ 2399626 w 2399626"/>
                  <a:gd name="connsiteY1" fmla="*/ 0 h 1768302"/>
                  <a:gd name="connsiteX2" fmla="*/ 2399626 w 2399626"/>
                  <a:gd name="connsiteY2" fmla="*/ 1768302 h 1768302"/>
                  <a:gd name="connsiteX3" fmla="*/ 0 w 2399626"/>
                  <a:gd name="connsiteY3" fmla="*/ 1768302 h 1768302"/>
                  <a:gd name="connsiteX4" fmla="*/ 0 w 2399626"/>
                  <a:gd name="connsiteY4" fmla="*/ 0 h 1768302"/>
                  <a:gd name="connsiteX0-1" fmla="*/ 0 w 2399626"/>
                  <a:gd name="connsiteY0-2" fmla="*/ 0 h 1768302"/>
                  <a:gd name="connsiteX1-3" fmla="*/ 2315806 w 2399626"/>
                  <a:gd name="connsiteY1-4" fmla="*/ 342900 h 1768302"/>
                  <a:gd name="connsiteX2-5" fmla="*/ 2399626 w 2399626"/>
                  <a:gd name="connsiteY2-6" fmla="*/ 1768302 h 1768302"/>
                  <a:gd name="connsiteX3-7" fmla="*/ 0 w 2399626"/>
                  <a:gd name="connsiteY3-8" fmla="*/ 1768302 h 1768302"/>
                  <a:gd name="connsiteX4-9" fmla="*/ 0 w 2399626"/>
                  <a:gd name="connsiteY4-10" fmla="*/ 0 h 1768302"/>
                  <a:gd name="connsiteX0-11" fmla="*/ 0 w 2315806"/>
                  <a:gd name="connsiteY0-12" fmla="*/ 0 h 1768302"/>
                  <a:gd name="connsiteX1-13" fmla="*/ 2315806 w 2315806"/>
                  <a:gd name="connsiteY1-14" fmla="*/ 342900 h 1768302"/>
                  <a:gd name="connsiteX2-15" fmla="*/ 2300566 w 2315806"/>
                  <a:gd name="connsiteY2-16" fmla="*/ 1410162 h 1768302"/>
                  <a:gd name="connsiteX3-17" fmla="*/ 0 w 2315806"/>
                  <a:gd name="connsiteY3-18" fmla="*/ 1768302 h 1768302"/>
                  <a:gd name="connsiteX4-19" fmla="*/ 0 w 2315806"/>
                  <a:gd name="connsiteY4-20" fmla="*/ 0 h 176830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315806" h="1768302">
                    <a:moveTo>
                      <a:pt x="0" y="0"/>
                    </a:moveTo>
                    <a:lnTo>
                      <a:pt x="2315806" y="342900"/>
                    </a:lnTo>
                    <a:lnTo>
                      <a:pt x="2300566" y="1410162"/>
                    </a:lnTo>
                    <a:lnTo>
                      <a:pt x="0" y="1768302"/>
                    </a:lnTo>
                    <a:lnTo>
                      <a:pt x="0" y="0"/>
                    </a:lnTo>
                    <a:close/>
                  </a:path>
                </a:pathLst>
              </a:custGeom>
              <a:gradFill flip="none" rotWithShape="1">
                <a:gsLst>
                  <a:gs pos="0">
                    <a:srgbClr val="FFFFCC">
                      <a:alpha val="0"/>
                    </a:srgbClr>
                  </a:gs>
                  <a:gs pos="81000">
                    <a:srgbClr val="FFFF99"/>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3" name="组合 62"/>
            <p:cNvGrpSpPr/>
            <p:nvPr/>
          </p:nvGrpSpPr>
          <p:grpSpPr>
            <a:xfrm flipH="1">
              <a:off x="9554658" y="1370916"/>
              <a:ext cx="1824829" cy="1244633"/>
              <a:chOff x="743537" y="1437227"/>
              <a:chExt cx="1824829" cy="1244633"/>
            </a:xfrm>
          </p:grpSpPr>
          <p:sp>
            <p:nvSpPr>
              <p:cNvPr id="64" name="矩形 58"/>
              <p:cNvSpPr/>
              <p:nvPr/>
            </p:nvSpPr>
            <p:spPr>
              <a:xfrm>
                <a:off x="743537" y="1804800"/>
                <a:ext cx="1623000" cy="630522"/>
              </a:xfrm>
              <a:custGeom>
                <a:avLst/>
                <a:gdLst>
                  <a:gd name="connsiteX0" fmla="*/ 0 w 2399626"/>
                  <a:gd name="connsiteY0" fmla="*/ 0 h 1768302"/>
                  <a:gd name="connsiteX1" fmla="*/ 2399626 w 2399626"/>
                  <a:gd name="connsiteY1" fmla="*/ 0 h 1768302"/>
                  <a:gd name="connsiteX2" fmla="*/ 2399626 w 2399626"/>
                  <a:gd name="connsiteY2" fmla="*/ 1768302 h 1768302"/>
                  <a:gd name="connsiteX3" fmla="*/ 0 w 2399626"/>
                  <a:gd name="connsiteY3" fmla="*/ 1768302 h 1768302"/>
                  <a:gd name="connsiteX4" fmla="*/ 0 w 2399626"/>
                  <a:gd name="connsiteY4" fmla="*/ 0 h 1768302"/>
                  <a:gd name="connsiteX0-1" fmla="*/ 0 w 2399626"/>
                  <a:gd name="connsiteY0-2" fmla="*/ 0 h 1768302"/>
                  <a:gd name="connsiteX1-3" fmla="*/ 2315806 w 2399626"/>
                  <a:gd name="connsiteY1-4" fmla="*/ 342900 h 1768302"/>
                  <a:gd name="connsiteX2-5" fmla="*/ 2399626 w 2399626"/>
                  <a:gd name="connsiteY2-6" fmla="*/ 1768302 h 1768302"/>
                  <a:gd name="connsiteX3-7" fmla="*/ 0 w 2399626"/>
                  <a:gd name="connsiteY3-8" fmla="*/ 1768302 h 1768302"/>
                  <a:gd name="connsiteX4-9" fmla="*/ 0 w 2399626"/>
                  <a:gd name="connsiteY4-10" fmla="*/ 0 h 1768302"/>
                  <a:gd name="connsiteX0-11" fmla="*/ 0 w 2315806"/>
                  <a:gd name="connsiteY0-12" fmla="*/ 0 h 1768302"/>
                  <a:gd name="connsiteX1-13" fmla="*/ 2315806 w 2315806"/>
                  <a:gd name="connsiteY1-14" fmla="*/ 342900 h 1768302"/>
                  <a:gd name="connsiteX2-15" fmla="*/ 2300566 w 2315806"/>
                  <a:gd name="connsiteY2-16" fmla="*/ 1410162 h 1768302"/>
                  <a:gd name="connsiteX3-17" fmla="*/ 0 w 2315806"/>
                  <a:gd name="connsiteY3-18" fmla="*/ 1768302 h 1768302"/>
                  <a:gd name="connsiteX4-19" fmla="*/ 0 w 2315806"/>
                  <a:gd name="connsiteY4-20" fmla="*/ 0 h 176830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315806" h="1768302">
                    <a:moveTo>
                      <a:pt x="0" y="0"/>
                    </a:moveTo>
                    <a:lnTo>
                      <a:pt x="2315806" y="342900"/>
                    </a:lnTo>
                    <a:lnTo>
                      <a:pt x="2300566" y="1410162"/>
                    </a:lnTo>
                    <a:lnTo>
                      <a:pt x="0" y="1768302"/>
                    </a:lnTo>
                    <a:lnTo>
                      <a:pt x="0" y="0"/>
                    </a:lnTo>
                    <a:close/>
                  </a:path>
                </a:pathLst>
              </a:custGeom>
              <a:gradFill flip="none" rotWithShape="1">
                <a:gsLst>
                  <a:gs pos="0">
                    <a:srgbClr val="FFFFCC">
                      <a:alpha val="0"/>
                    </a:srgbClr>
                  </a:gs>
                  <a:gs pos="81000">
                    <a:srgbClr val="FFFFCC"/>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矩形 58"/>
              <p:cNvSpPr/>
              <p:nvPr/>
            </p:nvSpPr>
            <p:spPr>
              <a:xfrm rot="20654548">
                <a:off x="945366" y="2051338"/>
                <a:ext cx="1623000" cy="630522"/>
              </a:xfrm>
              <a:custGeom>
                <a:avLst/>
                <a:gdLst>
                  <a:gd name="connsiteX0" fmla="*/ 0 w 2399626"/>
                  <a:gd name="connsiteY0" fmla="*/ 0 h 1768302"/>
                  <a:gd name="connsiteX1" fmla="*/ 2399626 w 2399626"/>
                  <a:gd name="connsiteY1" fmla="*/ 0 h 1768302"/>
                  <a:gd name="connsiteX2" fmla="*/ 2399626 w 2399626"/>
                  <a:gd name="connsiteY2" fmla="*/ 1768302 h 1768302"/>
                  <a:gd name="connsiteX3" fmla="*/ 0 w 2399626"/>
                  <a:gd name="connsiteY3" fmla="*/ 1768302 h 1768302"/>
                  <a:gd name="connsiteX4" fmla="*/ 0 w 2399626"/>
                  <a:gd name="connsiteY4" fmla="*/ 0 h 1768302"/>
                  <a:gd name="connsiteX0-1" fmla="*/ 0 w 2399626"/>
                  <a:gd name="connsiteY0-2" fmla="*/ 0 h 1768302"/>
                  <a:gd name="connsiteX1-3" fmla="*/ 2315806 w 2399626"/>
                  <a:gd name="connsiteY1-4" fmla="*/ 342900 h 1768302"/>
                  <a:gd name="connsiteX2-5" fmla="*/ 2399626 w 2399626"/>
                  <a:gd name="connsiteY2-6" fmla="*/ 1768302 h 1768302"/>
                  <a:gd name="connsiteX3-7" fmla="*/ 0 w 2399626"/>
                  <a:gd name="connsiteY3-8" fmla="*/ 1768302 h 1768302"/>
                  <a:gd name="connsiteX4-9" fmla="*/ 0 w 2399626"/>
                  <a:gd name="connsiteY4-10" fmla="*/ 0 h 1768302"/>
                  <a:gd name="connsiteX0-11" fmla="*/ 0 w 2315806"/>
                  <a:gd name="connsiteY0-12" fmla="*/ 0 h 1768302"/>
                  <a:gd name="connsiteX1-13" fmla="*/ 2315806 w 2315806"/>
                  <a:gd name="connsiteY1-14" fmla="*/ 342900 h 1768302"/>
                  <a:gd name="connsiteX2-15" fmla="*/ 2300566 w 2315806"/>
                  <a:gd name="connsiteY2-16" fmla="*/ 1410162 h 1768302"/>
                  <a:gd name="connsiteX3-17" fmla="*/ 0 w 2315806"/>
                  <a:gd name="connsiteY3-18" fmla="*/ 1768302 h 1768302"/>
                  <a:gd name="connsiteX4-19" fmla="*/ 0 w 2315806"/>
                  <a:gd name="connsiteY4-20" fmla="*/ 0 h 176830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315806" h="1768302">
                    <a:moveTo>
                      <a:pt x="0" y="0"/>
                    </a:moveTo>
                    <a:lnTo>
                      <a:pt x="2315806" y="342900"/>
                    </a:lnTo>
                    <a:lnTo>
                      <a:pt x="2300566" y="1410162"/>
                    </a:lnTo>
                    <a:lnTo>
                      <a:pt x="0" y="1768302"/>
                    </a:lnTo>
                    <a:lnTo>
                      <a:pt x="0" y="0"/>
                    </a:lnTo>
                    <a:close/>
                  </a:path>
                </a:pathLst>
              </a:custGeom>
              <a:gradFill flip="none" rotWithShape="1">
                <a:gsLst>
                  <a:gs pos="0">
                    <a:srgbClr val="FFFFCC">
                      <a:alpha val="0"/>
                    </a:srgbClr>
                  </a:gs>
                  <a:gs pos="81000">
                    <a:srgbClr val="FFFF99"/>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58"/>
              <p:cNvSpPr/>
              <p:nvPr/>
            </p:nvSpPr>
            <p:spPr>
              <a:xfrm rot="439055">
                <a:off x="850818" y="1437227"/>
                <a:ext cx="1623000" cy="630522"/>
              </a:xfrm>
              <a:custGeom>
                <a:avLst/>
                <a:gdLst>
                  <a:gd name="connsiteX0" fmla="*/ 0 w 2399626"/>
                  <a:gd name="connsiteY0" fmla="*/ 0 h 1768302"/>
                  <a:gd name="connsiteX1" fmla="*/ 2399626 w 2399626"/>
                  <a:gd name="connsiteY1" fmla="*/ 0 h 1768302"/>
                  <a:gd name="connsiteX2" fmla="*/ 2399626 w 2399626"/>
                  <a:gd name="connsiteY2" fmla="*/ 1768302 h 1768302"/>
                  <a:gd name="connsiteX3" fmla="*/ 0 w 2399626"/>
                  <a:gd name="connsiteY3" fmla="*/ 1768302 h 1768302"/>
                  <a:gd name="connsiteX4" fmla="*/ 0 w 2399626"/>
                  <a:gd name="connsiteY4" fmla="*/ 0 h 1768302"/>
                  <a:gd name="connsiteX0-1" fmla="*/ 0 w 2399626"/>
                  <a:gd name="connsiteY0-2" fmla="*/ 0 h 1768302"/>
                  <a:gd name="connsiteX1-3" fmla="*/ 2315806 w 2399626"/>
                  <a:gd name="connsiteY1-4" fmla="*/ 342900 h 1768302"/>
                  <a:gd name="connsiteX2-5" fmla="*/ 2399626 w 2399626"/>
                  <a:gd name="connsiteY2-6" fmla="*/ 1768302 h 1768302"/>
                  <a:gd name="connsiteX3-7" fmla="*/ 0 w 2399626"/>
                  <a:gd name="connsiteY3-8" fmla="*/ 1768302 h 1768302"/>
                  <a:gd name="connsiteX4-9" fmla="*/ 0 w 2399626"/>
                  <a:gd name="connsiteY4-10" fmla="*/ 0 h 1768302"/>
                  <a:gd name="connsiteX0-11" fmla="*/ 0 w 2315806"/>
                  <a:gd name="connsiteY0-12" fmla="*/ 0 h 1768302"/>
                  <a:gd name="connsiteX1-13" fmla="*/ 2315806 w 2315806"/>
                  <a:gd name="connsiteY1-14" fmla="*/ 342900 h 1768302"/>
                  <a:gd name="connsiteX2-15" fmla="*/ 2300566 w 2315806"/>
                  <a:gd name="connsiteY2-16" fmla="*/ 1410162 h 1768302"/>
                  <a:gd name="connsiteX3-17" fmla="*/ 0 w 2315806"/>
                  <a:gd name="connsiteY3-18" fmla="*/ 1768302 h 1768302"/>
                  <a:gd name="connsiteX4-19" fmla="*/ 0 w 2315806"/>
                  <a:gd name="connsiteY4-20" fmla="*/ 0 h 1768302"/>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315806" h="1768302">
                    <a:moveTo>
                      <a:pt x="0" y="0"/>
                    </a:moveTo>
                    <a:lnTo>
                      <a:pt x="2315806" y="342900"/>
                    </a:lnTo>
                    <a:lnTo>
                      <a:pt x="2300566" y="1410162"/>
                    </a:lnTo>
                    <a:lnTo>
                      <a:pt x="0" y="1768302"/>
                    </a:lnTo>
                    <a:lnTo>
                      <a:pt x="0" y="0"/>
                    </a:lnTo>
                    <a:close/>
                  </a:path>
                </a:pathLst>
              </a:custGeom>
              <a:gradFill flip="none" rotWithShape="1">
                <a:gsLst>
                  <a:gs pos="0">
                    <a:srgbClr val="FFFFCC">
                      <a:alpha val="0"/>
                    </a:srgbClr>
                  </a:gs>
                  <a:gs pos="81000">
                    <a:srgbClr val="FFFF99"/>
                  </a:gs>
                </a:gsLst>
                <a:lin ang="108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7" name="文本框 16"/>
          <p:cNvSpPr txBox="1"/>
          <p:nvPr/>
        </p:nvSpPr>
        <p:spPr>
          <a:xfrm>
            <a:off x="721360" y="256540"/>
            <a:ext cx="10857865" cy="398145"/>
          </a:xfrm>
          <a:prstGeom prst="rect">
            <a:avLst/>
          </a:prstGeom>
          <a:noFill/>
        </p:spPr>
        <p:txBody>
          <a:bodyPr wrap="square" rtlCol="0">
            <a:noAutofit/>
          </a:bodyPr>
          <a:lstStyle/>
          <a:p>
            <a:r>
              <a:rPr lang="zh-CN" altLang="en-US" sz="2800" b="1" dirty="0">
                <a:solidFill>
                  <a:schemeClr val="tx1"/>
                </a:solidFill>
                <a:latin typeface="汉仪君黑-75简" panose="00020600040101010101" charset="-122"/>
                <a:ea typeface="汉仪君黑-75简" panose="00020600040101010101" charset="-122"/>
                <a:sym typeface="+mn-ea"/>
              </a:rPr>
              <a:t>“青创北京”</a:t>
            </a:r>
            <a:r>
              <a:rPr lang="en-US" altLang="zh-CN" sz="2800" b="1" dirty="0">
                <a:solidFill>
                  <a:schemeClr val="tx1"/>
                </a:solidFill>
                <a:latin typeface="汉仪君黑-75简" panose="00020600040101010101" charset="-122"/>
                <a:ea typeface="汉仪君黑-75简" panose="00020600040101010101" charset="-122"/>
                <a:sym typeface="+mn-ea"/>
              </a:rPr>
              <a:t>2026</a:t>
            </a:r>
            <a:r>
              <a:rPr lang="zh-CN" altLang="en-US" sz="2800" b="1" dirty="0">
                <a:solidFill>
                  <a:schemeClr val="tx1"/>
                </a:solidFill>
                <a:latin typeface="汉仪君黑-75简" panose="00020600040101010101" charset="-122"/>
                <a:ea typeface="汉仪君黑-75简" panose="00020600040101010101" charset="-122"/>
                <a:sym typeface="+mn-ea"/>
              </a:rPr>
              <a:t>年“挑战杯”首都大学生课外学术科技作品竞赛</a:t>
            </a:r>
            <a:endParaRPr lang="en-US" altLang="zh-CN" sz="2800" b="1" dirty="0">
              <a:solidFill>
                <a:schemeClr val="tx1"/>
              </a:solidFill>
              <a:latin typeface="汉仪君黑-75简" panose="00020600040101010101" charset="-122"/>
              <a:ea typeface="汉仪君黑-75简" panose="00020600040101010101" charset="-122"/>
            </a:endParaRPr>
          </a:p>
          <a:p>
            <a:endParaRPr lang="en-US" altLang="zh-CN" sz="2800" b="1" dirty="0">
              <a:solidFill>
                <a:schemeClr val="tx1"/>
              </a:solidFill>
              <a:latin typeface="汉仪君黑-75简" panose="00020600040101010101" charset="-122"/>
              <a:ea typeface="汉仪君黑-75简" panose="00020600040101010101" charset="-122"/>
            </a:endParaRPr>
          </a:p>
        </p:txBody>
      </p:sp>
      <p:grpSp>
        <p:nvGrpSpPr>
          <p:cNvPr id="15" name="组合 14"/>
          <p:cNvGrpSpPr/>
          <p:nvPr/>
        </p:nvGrpSpPr>
        <p:grpSpPr>
          <a:xfrm>
            <a:off x="2664045" y="636850"/>
            <a:ext cx="7214870" cy="3000375"/>
            <a:chOff x="243" y="1120"/>
            <a:chExt cx="11362" cy="4725"/>
          </a:xfrm>
        </p:grpSpPr>
        <p:sp>
          <p:nvSpPr>
            <p:cNvPr id="19" name="文本框 18"/>
            <p:cNvSpPr txBox="1"/>
            <p:nvPr/>
          </p:nvSpPr>
          <p:spPr>
            <a:xfrm>
              <a:off x="4964" y="1120"/>
              <a:ext cx="3206" cy="416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600" b="0" i="0" u="none" strike="noStrike" kern="1200" cap="none" spc="0" normalizeH="0" baseline="0" dirty="0">
                  <a:solidFill>
                    <a:schemeClr val="bg1"/>
                  </a:solidFill>
                  <a:latin typeface="华文行楷" panose="02010800040101010101" pitchFamily="2" charset="-122"/>
                  <a:ea typeface="华文行楷" panose="02010800040101010101" pitchFamily="2" charset="-122"/>
                </a:rPr>
                <a:t>边</a:t>
              </a:r>
              <a:endParaRPr kumimoji="0" lang="zh-CN" altLang="en-US" sz="16600" b="0" i="0" u="none" strike="noStrike" kern="1200" cap="none" spc="0" normalizeH="0" baseline="0" dirty="0">
                <a:solidFill>
                  <a:schemeClr val="bg1"/>
                </a:solidFill>
                <a:latin typeface="华文行楷" panose="02010800040101010101" pitchFamily="2" charset="-122"/>
                <a:ea typeface="华文行楷" panose="02010800040101010101" pitchFamily="2" charset="-122"/>
              </a:endParaRPr>
            </a:p>
          </p:txBody>
        </p:sp>
        <p:sp>
          <p:nvSpPr>
            <p:cNvPr id="21" name="文本框 20"/>
            <p:cNvSpPr txBox="1"/>
            <p:nvPr/>
          </p:nvSpPr>
          <p:spPr>
            <a:xfrm>
              <a:off x="243" y="1266"/>
              <a:ext cx="2947" cy="4167"/>
            </a:xfrm>
            <a:prstGeom prst="rect">
              <a:avLst/>
            </a:prstGeom>
            <a:noFill/>
          </p:spPr>
          <p:txBody>
            <a:bodyPr wrap="square" rtlCol="0">
              <a:spAutoFit/>
            </a:bodyPr>
            <a:lstStyle/>
            <a:p>
              <a:r>
                <a:rPr lang="zh-CN" altLang="en-US" sz="16600" dirty="0">
                  <a:solidFill>
                    <a:schemeClr val="bg1"/>
                  </a:solidFill>
                  <a:latin typeface="华文行楷" panose="02010800040101010101" pitchFamily="2" charset="-122"/>
                  <a:ea typeface="华文行楷" panose="02010800040101010101" pitchFamily="2" charset="-122"/>
                </a:rPr>
                <a:t>遥</a:t>
              </a:r>
              <a:endParaRPr lang="zh-CN" altLang="en-US" sz="16600" dirty="0">
                <a:solidFill>
                  <a:schemeClr val="bg1"/>
                </a:solidFill>
                <a:latin typeface="华文行楷" panose="02010800040101010101" pitchFamily="2" charset="-122"/>
                <a:ea typeface="华文行楷" panose="02010800040101010101" pitchFamily="2" charset="-122"/>
              </a:endParaRPr>
            </a:p>
          </p:txBody>
        </p:sp>
        <p:sp>
          <p:nvSpPr>
            <p:cNvPr id="29" name="文本框 28"/>
            <p:cNvSpPr txBox="1"/>
            <p:nvPr/>
          </p:nvSpPr>
          <p:spPr>
            <a:xfrm>
              <a:off x="2356" y="1678"/>
              <a:ext cx="2730" cy="4167"/>
            </a:xfrm>
            <a:prstGeom prst="rect">
              <a:avLst/>
            </a:prstGeom>
            <a:noFill/>
          </p:spPr>
          <p:txBody>
            <a:bodyPr wrap="square" rtlCol="0">
              <a:spAutoFit/>
            </a:bodyPr>
            <a:lstStyle/>
            <a:p>
              <a:r>
                <a:rPr lang="zh-CN" altLang="en-US" sz="16600" dirty="0">
                  <a:solidFill>
                    <a:schemeClr val="bg1"/>
                  </a:solidFill>
                  <a:latin typeface="华文行楷" panose="02010800040101010101" pitchFamily="2" charset="-122"/>
                  <a:ea typeface="华文行楷" panose="02010800040101010101" pitchFamily="2" charset="-122"/>
                </a:rPr>
                <a:t>智</a:t>
              </a:r>
              <a:endParaRPr lang="zh-CN" altLang="en-US" sz="16600" dirty="0">
                <a:solidFill>
                  <a:schemeClr val="bg1"/>
                </a:solidFill>
                <a:latin typeface="华文行楷" panose="02010800040101010101" pitchFamily="2" charset="-122"/>
                <a:ea typeface="华文行楷" panose="02010800040101010101" pitchFamily="2" charset="-122"/>
              </a:endParaRPr>
            </a:p>
          </p:txBody>
        </p:sp>
        <p:sp>
          <p:nvSpPr>
            <p:cNvPr id="30" name="文本框 29"/>
            <p:cNvSpPr txBox="1"/>
            <p:nvPr/>
          </p:nvSpPr>
          <p:spPr>
            <a:xfrm>
              <a:off x="7744" y="1412"/>
              <a:ext cx="3861" cy="416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600" b="0" i="0" u="none" strike="noStrike" kern="1200" cap="none" spc="0" normalizeH="0" baseline="0" noProof="0" dirty="0">
                  <a:ln>
                    <a:noFill/>
                  </a:ln>
                  <a:solidFill>
                    <a:schemeClr val="bg1"/>
                  </a:solidFill>
                  <a:effectLst/>
                  <a:uLnTx/>
                  <a:uFillTx/>
                  <a:latin typeface="华文行楷" panose="02010800040101010101" pitchFamily="2" charset="-122"/>
                  <a:ea typeface="华文行楷" panose="02010800040101010101" pitchFamily="2" charset="-122"/>
                  <a:cs typeface="演示流云楷" panose="02000600000000000000" pitchFamily="2" charset="-122"/>
                </a:rPr>
                <a:t>疆</a:t>
              </a:r>
              <a:endParaRPr kumimoji="0" lang="zh-CN" altLang="en-US" sz="16600" b="0" i="0" u="none" strike="noStrike" kern="1200" cap="none" spc="0" normalizeH="0" baseline="0" noProof="0" dirty="0">
                <a:ln>
                  <a:noFill/>
                </a:ln>
                <a:solidFill>
                  <a:schemeClr val="bg1"/>
                </a:solidFill>
                <a:effectLst/>
                <a:uLnTx/>
                <a:uFillTx/>
                <a:latin typeface="华文行楷" panose="02010800040101010101" pitchFamily="2" charset="-122"/>
                <a:ea typeface="华文行楷" panose="02010800040101010101" pitchFamily="2" charset="-122"/>
                <a:cs typeface="演示流云楷" panose="02000600000000000000" pitchFamily="2" charset="-122"/>
              </a:endParaRPr>
            </a:p>
          </p:txBody>
        </p:sp>
      </p:grpSp>
    </p:spTree>
  </p:cSld>
  <p:clrMapOvr>
    <a:masterClrMapping/>
  </p:clrMapOvr>
</p:sld>
</file>

<file path=ppt/tags/tag1.xml><?xml version="1.0" encoding="utf-8"?>
<p:tagLst xmlns:p="http://schemas.openxmlformats.org/presentationml/2006/main">
  <p:tag name="KSO_WM_DIAGRAM_VIRTUALLY_FRAME" val="{&quot;height&quot;:121.50866141732286,&quot;left&quot;:-50.54551181102363,&quot;top&quot;:353.01748031496055,&quot;width&quot;:470.1968503937008}"/>
</p:tagLst>
</file>

<file path=ppt/tags/tag2.xml><?xml version="1.0" encoding="utf-8"?>
<p:tagLst xmlns:p="http://schemas.openxmlformats.org/presentationml/2006/main">
  <p:tag name="KSO_WM_DIAGRAM_VIRTUALLY_FRAME" val="{&quot;height&quot;:121.50866141732286,&quot;left&quot;:-50.54551181102363,&quot;top&quot;:353.01748031496055,&quot;width&quot;:470.1968503937008}"/>
</p:tagLst>
</file>

<file path=ppt/tags/tag3.xml><?xml version="1.0" encoding="utf-8"?>
<p:tagLst xmlns:p="http://schemas.openxmlformats.org/presentationml/2006/main">
  <p:tag name="KSO_WM_DIAGRAM_VIRTUALLY_FRAME" val="{&quot;height&quot;:121.50866141732286,&quot;left&quot;:-50.54551181102363,&quot;top&quot;:353.01748031496055,&quot;width&quot;:470.1968503937008}"/>
</p:tagLst>
</file>

<file path=ppt/tags/tag4.xml><?xml version="1.0" encoding="utf-8"?>
<p:tagLst xmlns:p="http://schemas.openxmlformats.org/presentationml/2006/main">
  <p:tag name="KSO_WM_DIAGRAM_VIRTUALLY_FRAME" val="{&quot;height&quot;:121.50866141732286,&quot;left&quot;:-50.54551181102363,&quot;top&quot;:353.01748031496055,&quot;width&quot;:470.1968503937008}"/>
</p:tagLst>
</file>

<file path=ppt/tags/tag5.xml><?xml version="1.0" encoding="utf-8"?>
<p:tagLst xmlns:p="http://schemas.openxmlformats.org/presentationml/2006/main">
  <p:tag name="KSO_WM_DIAGRAM_VIRTUALLY_FRAME" val="{&quot;height&quot;:121.50866141732286,&quot;left&quot;:-50.54551181102363,&quot;top&quot;:353.01748031496055,&quot;width&quot;:470.1968503937008}"/>
</p:tagLst>
</file>

<file path=ppt/tags/tag6.xml><?xml version="1.0" encoding="utf-8"?>
<p:tagLst xmlns:p="http://schemas.openxmlformats.org/presentationml/2006/main">
  <p:tag name="KSO_WM_DIAGRAM_VIRTUALLY_FRAME" val="{&quot;height&quot;:121.50866141732286,&quot;left&quot;:-50.54551181102363,&quot;top&quot;:353.01748031496055,&quot;width&quot;:470.1968503937008}"/>
</p:tagLst>
</file>

<file path=ppt/tags/tag7.xml><?xml version="1.0" encoding="utf-8"?>
<p:tagLst xmlns:p="http://schemas.openxmlformats.org/presentationml/2006/main">
  <p:tag name="KSO_WM_DIAGRAM_VIRTUALLY_FRAME" val="{&quot;height&quot;:121.50866141732286,&quot;left&quot;:-50.54551181102363,&quot;top&quot;:353.01748031496055,&quot;width&quot;:470.1968503937008}"/>
</p:tagLst>
</file>

<file path=ppt/tags/tag8.xml><?xml version="1.0" encoding="utf-8"?>
<p:tagLst xmlns:p="http://schemas.openxmlformats.org/presentationml/2006/main">
  <p:tag name="KSO_WM_DIAGRAM_VIRTUALLY_FRAME" val="{&quot;height&quot;:121.50866141732286,&quot;left&quot;:-50.54551181102363,&quot;top&quot;:353.01748031496055,&quot;width&quot;:470.1968503937008}"/>
</p:tagLst>
</file>

<file path=ppt/tags/tag9.xml><?xml version="1.0" encoding="utf-8"?>
<p:tagLst xmlns:p="http://schemas.openxmlformats.org/presentationml/2006/main">
  <p:tag name="KSO_WM_DIAGRAM_VIRTUALLY_FRAME" val="{&quot;height&quot;:121.50866141732286,&quot;left&quot;:-50.54551181102363,&quot;top&quot;:353.01748031496055,&quot;width&quot;:470.1968503937008}"/>
</p:tagLst>
</file>

<file path=ppt/tags/tag10.xml><?xml version="1.0" encoding="utf-8"?>
<p:tagLst xmlns:p="http://schemas.openxmlformats.org/presentationml/2006/main">
  <p:tag name="KSO_WM_DIAGRAM_VIRTUALLY_FRAME" val="{&quot;height&quot;:121.50866141732286,&quot;left&quot;:-50.54551181102363,&quot;top&quot;:353.01748031496055,&quot;width&quot;:470.1968503937008}"/>
</p:tagLst>
</file>

<file path=ppt/tags/tag11.xml><?xml version="1.0" encoding="utf-8"?>
<p:tagLst xmlns:p="http://schemas.openxmlformats.org/presentationml/2006/main">
  <p:tag name="KSO_WM_DIAGRAM_VIRTUALLY_FRAME" val="{&quot;height&quot;:121.50866141732286,&quot;left&quot;:-50.54551181102363,&quot;top&quot;:353.01748031496055,&quot;width&quot;:470.1968503937008}"/>
</p:tagLst>
</file>

<file path=ppt/tags/tag12.xml><?xml version="1.0" encoding="utf-8"?>
<p:tagLst xmlns:p="http://schemas.openxmlformats.org/presentationml/2006/main">
  <p:tag name="KSO_WM_DIAGRAM_VIRTUALLY_FRAME" val="{&quot;height&quot;:121.50866141732286,&quot;left&quot;:-50.54551181102363,&quot;top&quot;:353.01748031496055,&quot;width&quot;:470.1968503937008}"/>
</p:tagLst>
</file>

<file path=ppt/tags/tag13.xml><?xml version="1.0" encoding="utf-8"?>
<p:tagLst xmlns:p="http://schemas.openxmlformats.org/presentationml/2006/main">
  <p:tag name="KSO_WM_DIAGRAM_VIRTUALLY_FRAME" val="{&quot;height&quot;:121.50866141732286,&quot;left&quot;:-50.54551181102363,&quot;top&quot;:353.01748031496055,&quot;width&quot;:470.1968503937008}"/>
</p:tagLst>
</file>

<file path=ppt/tags/tag14.xml><?xml version="1.0" encoding="utf-8"?>
<p:tagLst xmlns:p="http://schemas.openxmlformats.org/presentationml/2006/main">
  <p:tag name="KSO_WM_DIAGRAM_VIRTUALLY_FRAME" val="{&quot;height&quot;:121.50866141732286,&quot;left&quot;:-50.54551181102363,&quot;top&quot;:353.01748031496055,&quot;width&quot;:470.1968503937008}"/>
</p:tagLst>
</file>

<file path=ppt/tags/tag15.xml><?xml version="1.0" encoding="utf-8"?>
<p:tagLst xmlns:p="http://schemas.openxmlformats.org/presentationml/2006/main">
  <p:tag name="KSO_WM_DIAGRAM_VIRTUALLY_FRAME" val="{&quot;height&quot;:121.50866141732286,&quot;left&quot;:-50.54551181102363,&quot;top&quot;:353.01748031496055,&quot;width&quot;:470.1968503937008}"/>
</p:tagLst>
</file>

<file path=ppt/tags/tag16.xml><?xml version="1.0" encoding="utf-8"?>
<p:tagLst xmlns:p="http://schemas.openxmlformats.org/presentationml/2006/main">
  <p:tag name="KSO_WM_DIAGRAM_VIRTUALLY_FRAME" val="{&quot;height&quot;:121.50866141732286,&quot;left&quot;:-50.54551181102363,&quot;top&quot;:353.01748031496055,&quot;width&quot;:470.1968503937008}"/>
</p:tagLst>
</file>

<file path=ppt/tags/tag17.xml><?xml version="1.0" encoding="utf-8"?>
<p:tagLst xmlns:p="http://schemas.openxmlformats.org/presentationml/2006/main">
  <p:tag name="KSO_WM_DIAGRAM_VIRTUALLY_FRAME" val="{&quot;height&quot;:121.50866141732286,&quot;left&quot;:-50.54551181102363,&quot;top&quot;:353.01748031496055,&quot;width&quot;:470.1968503937008}"/>
</p:tagLst>
</file>

<file path=ppt/tags/tag18.xml><?xml version="1.0" encoding="utf-8"?>
<p:tagLst xmlns:p="http://schemas.openxmlformats.org/presentationml/2006/main">
  <p:tag name="KSO_WM_DIAGRAM_VIRTUALLY_FRAME" val="{&quot;height&quot;:121.50866141732286,&quot;left&quot;:-50.54551181102363,&quot;top&quot;:353.01748031496055,&quot;width&quot;:470.1968503937008}"/>
</p:tagLst>
</file>

<file path=ppt/tags/tag19.xml><?xml version="1.0" encoding="utf-8"?>
<p:tagLst xmlns:p="http://schemas.openxmlformats.org/presentationml/2006/main">
  <p:tag name="KSO_WM_DIAGRAM_VIRTUALLY_FRAME" val="{&quot;height&quot;:121.50866141732286,&quot;left&quot;:-50.54551181102363,&quot;top&quot;:353.01748031496055,&quot;width&quot;:470.1968503937008}"/>
</p:tagLst>
</file>

<file path=ppt/tags/tag2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2"/>
  <p:tag name="KSO_WM_UNIT_ID" val="diagram20231571_1*n_h_h_i*1_2_1_2"/>
  <p:tag name="KSO_WM_TEMPLATE_CATEGORY" val="diagram"/>
  <p:tag name="KSO_WM_TEMPLATE_INDEX" val="20231571"/>
  <p:tag name="KSO_WM_UNIT_LAYERLEVEL" val="1_1_1_1"/>
  <p:tag name="KSO_WM_TAG_VERSION" val="3.0"/>
  <p:tag name="KSO_WM_DIAGRAM_MAX_ITEMCNT" val="6"/>
  <p:tag name="KSO_WM_DIAGRAM_MIN_ITEMCNT" val="2"/>
  <p:tag name="KSO_WM_DIAGRAM_VIRTUALLY_FRAME" val="{&quot;height&quot;:392.65,&quot;left&quot;:-0.8,&quot;top&quot;:135.95,&quot;width&quot;:963}"/>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DIAGRAM_USE_COLOR_VALUE" val="{&quot;color_scheme&quot;:1,&quot;color_type&quot;:1,&quot;theme_color_indexes&quot;:[]}"/>
</p:tagLst>
</file>

<file path=ppt/tags/tag2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1"/>
  <p:tag name="KSO_WM_UNIT_ID" val="diagram20231571_1*n_h_h_i*1_2_1_1"/>
  <p:tag name="KSO_WM_TEMPLATE_CATEGORY" val="diagram"/>
  <p:tag name="KSO_WM_TEMPLATE_INDEX" val="20231571"/>
  <p:tag name="KSO_WM_UNIT_LAYERLEVEL" val="1_1_1_1"/>
  <p:tag name="KSO_WM_TAG_VERSION" val="3.0"/>
  <p:tag name="KSO_WM_DIAGRAM_MAX_ITEMCNT" val="6"/>
  <p:tag name="KSO_WM_DIAGRAM_MIN_ITEMCNT" val="2"/>
  <p:tag name="KSO_WM_DIAGRAM_VIRTUALLY_FRAME" val="{&quot;height&quot;:392.65,&quot;left&quot;:-0.8,&quot;top&quot;:135.95,&quot;width&quot;:96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2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i"/>
  <p:tag name="KSO_WM_UNIT_INDEX" val="1_1_2"/>
  <p:tag name="KSO_WM_UNIT_ID" val="diagram20231571_1*n_h_i*1_1_2"/>
  <p:tag name="KSO_WM_TEMPLATE_CATEGORY" val="diagram"/>
  <p:tag name="KSO_WM_TEMPLATE_INDEX" val="20231571"/>
  <p:tag name="KSO_WM_UNIT_LAYERLEVEL" val="1_1_1"/>
  <p:tag name="KSO_WM_TAG_VERSION" val="3.0"/>
  <p:tag name="KSO_WM_DIAGRAM_MAX_ITEMCNT" val="6"/>
  <p:tag name="KSO_WM_DIAGRAM_MIN_ITEMCNT" val="2"/>
  <p:tag name="KSO_WM_DIAGRAM_VIRTUALLY_FRAME" val="{&quot;height&quot;:392.65,&quot;left&quot;:-0.8,&quot;top&quot;:135.95,&quot;width&quot;:963}"/>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
</p:tagLst>
</file>

<file path=ppt/tags/tag2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i"/>
  <p:tag name="KSO_WM_UNIT_INDEX" val="1_1_3"/>
  <p:tag name="KSO_WM_UNIT_ID" val="diagram20231571_1*n_h_i*1_1_3"/>
  <p:tag name="KSO_WM_TEMPLATE_CATEGORY" val="diagram"/>
  <p:tag name="KSO_WM_TEMPLATE_INDEX" val="20231571"/>
  <p:tag name="KSO_WM_UNIT_LAYERLEVEL" val="1_1_1"/>
  <p:tag name="KSO_WM_TAG_VERSION" val="3.0"/>
  <p:tag name="KSO_WM_DIAGRAM_MAX_ITEMCNT" val="6"/>
  <p:tag name="KSO_WM_DIAGRAM_MIN_ITEMCNT" val="2"/>
  <p:tag name="KSO_WM_DIAGRAM_VIRTUALLY_FRAME" val="{&quot;height&quot;:392.65,&quot;left&quot;:-0.8,&quot;top&quot;:135.95,&quot;width&quot;:963}"/>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
</p:tagLst>
</file>

<file path=ppt/tags/tag2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i"/>
  <p:tag name="KSO_WM_UNIT_INDEX" val="1_1_4"/>
  <p:tag name="KSO_WM_UNIT_ID" val="diagram20231571_1*n_h_i*1_1_4"/>
  <p:tag name="KSO_WM_TEMPLATE_CATEGORY" val="diagram"/>
  <p:tag name="KSO_WM_TEMPLATE_INDEX" val="20231571"/>
  <p:tag name="KSO_WM_UNIT_LAYERLEVEL" val="1_1_1"/>
  <p:tag name="KSO_WM_TAG_VERSION" val="3.0"/>
  <p:tag name="KSO_WM_DIAGRAM_MAX_ITEMCNT" val="6"/>
  <p:tag name="KSO_WM_DIAGRAM_MIN_ITEMCNT" val="2"/>
  <p:tag name="KSO_WM_DIAGRAM_VIRTUALLY_FRAME" val="{&quot;height&quot;:392.65,&quot;left&quot;:-0.8,&quot;top&quot;:135.95,&quot;width&quot;:963}"/>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
</p:tagLst>
</file>

<file path=ppt/tags/tag25.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i"/>
  <p:tag name="KSO_WM_UNIT_INDEX" val="1_1_5"/>
  <p:tag name="KSO_WM_UNIT_ID" val="diagram20231571_1*n_h_i*1_1_5"/>
  <p:tag name="KSO_WM_TEMPLATE_CATEGORY" val="diagram"/>
  <p:tag name="KSO_WM_TEMPLATE_INDEX" val="20231571"/>
  <p:tag name="KSO_WM_UNIT_LAYERLEVEL" val="1_1_1"/>
  <p:tag name="KSO_WM_TAG_VERSION" val="3.0"/>
  <p:tag name="KSO_WM_DIAGRAM_MAX_ITEMCNT" val="6"/>
  <p:tag name="KSO_WM_DIAGRAM_MIN_ITEMCNT" val="2"/>
  <p:tag name="KSO_WM_DIAGRAM_VIRTUALLY_FRAME" val="{&quot;height&quot;:392.65,&quot;left&quot;:-0.8,&quot;top&quot;:135.95,&quot;width&quot;:963}"/>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
</p:tagLst>
</file>

<file path=ppt/tags/tag26.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i"/>
  <p:tag name="KSO_WM_UNIT_INDEX" val="1_1_6"/>
  <p:tag name="KSO_WM_UNIT_ID" val="diagram20231571_1*n_h_i*1_1_6"/>
  <p:tag name="KSO_WM_TEMPLATE_CATEGORY" val="diagram"/>
  <p:tag name="KSO_WM_TEMPLATE_INDEX" val="20231571"/>
  <p:tag name="KSO_WM_UNIT_LAYERLEVEL" val="1_1_1"/>
  <p:tag name="KSO_WM_TAG_VERSION" val="3.0"/>
  <p:tag name="KSO_WM_DIAGRAM_MAX_ITEMCNT" val="6"/>
  <p:tag name="KSO_WM_DIAGRAM_MIN_ITEMCNT" val="2"/>
  <p:tag name="KSO_WM_DIAGRAM_VIRTUALLY_FRAME" val="{&quot;height&quot;:392.65,&quot;left&quot;:-0.8,&quot;top&quot;:135.95,&quot;width&quot;:963}"/>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
</p:tagLst>
</file>

<file path=ppt/tags/tag27.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i"/>
  <p:tag name="KSO_WM_UNIT_INDEX" val="1_1_7"/>
  <p:tag name="KSO_WM_UNIT_ID" val="diagram20231571_1*n_h_i*1_1_7"/>
  <p:tag name="KSO_WM_TEMPLATE_CATEGORY" val="diagram"/>
  <p:tag name="KSO_WM_TEMPLATE_INDEX" val="20231571"/>
  <p:tag name="KSO_WM_UNIT_LAYERLEVEL" val="1_1_1"/>
  <p:tag name="KSO_WM_TAG_VERSION" val="3.0"/>
  <p:tag name="KSO_WM_DIAGRAM_MAX_ITEMCNT" val="6"/>
  <p:tag name="KSO_WM_DIAGRAM_MIN_ITEMCNT" val="2"/>
  <p:tag name="KSO_WM_DIAGRAM_VIRTUALLY_FRAME" val="{&quot;height&quot;:392.65,&quot;left&quot;:-0.8,&quot;top&quot;:135.95,&quot;width&quot;:963}"/>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
</p:tagLst>
</file>

<file path=ppt/tags/tag28.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i"/>
  <p:tag name="KSO_WM_UNIT_INDEX" val="1_1_8"/>
  <p:tag name="KSO_WM_UNIT_ID" val="diagram20231571_1*n_h_i*1_1_8"/>
  <p:tag name="KSO_WM_TEMPLATE_CATEGORY" val="diagram"/>
  <p:tag name="KSO_WM_TEMPLATE_INDEX" val="20231571"/>
  <p:tag name="KSO_WM_UNIT_LAYERLEVEL" val="1_1_1"/>
  <p:tag name="KSO_WM_TAG_VERSION" val="3.0"/>
  <p:tag name="KSO_WM_DIAGRAM_MAX_ITEMCNT" val="6"/>
  <p:tag name="KSO_WM_DIAGRAM_MIN_ITEMCNT" val="2"/>
  <p:tag name="KSO_WM_DIAGRAM_VIRTUALLY_FRAME" val="{&quot;height&quot;:392.65,&quot;left&quot;:-0.8,&quot;top&quot;:135.95,&quot;width&quot;:963}"/>
  <p:tag name="KSO_WM_DIAGRAM_COLOR_MATCH_VALUE" val="{&quot;shape&quot;:{&quot;fill&quot;:{&quot;gradient&quot;:[{&quot;brightness&quot;:-0.25,&quot;colorType&quot;:1,&quot;foreColorIndex&quot;:5,&quot;pos&quot;:0.8500000238418579,&quot;transparency&quot;:0},{&quot;brightness&quot;:0,&quot;colorType&quot;:1,&quot;foreColorIndex&quot;:5,&quot;pos&quot;:0.4300000071525574,&quot;transparency&quot;:0},{&quot;brightness&quot;:0.4000000059604645,&quot;colorType&quot;:1,&quot;foreColorIndex&quot;:5,&quot;pos&quot;:0.019999999552965164,&quot;transparency&quot;:0}],&quot;type&quot;:3},&quot;glow&quot;:{&quot;colorType&quot;:0},&quot;line&quot;:{&quot;type&quot;:0},&quot;shadow&quot;:{&quot;brightness&quot;:0,&quot;colorType&quot;:1,&quot;foreColorIndex&quot;:5,&quot;transparency&quot;:0.699999988079071},&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3"/>
  <p:tag name="KSO_WM_DIAGRAM_USE_COLOR_VALUE" val="{&quot;color_scheme&quot;:1,&quot;color_type&quot;:1,&quot;theme_color_indexes&quot;:[]}"/>
</p:tagLst>
</file>

<file path=ppt/tags/tag29.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i"/>
  <p:tag name="KSO_WM_UNIT_INDEX" val="1_1_1"/>
  <p:tag name="KSO_WM_UNIT_ID" val="diagram20231571_1*n_h_i*1_1_1"/>
  <p:tag name="KSO_WM_TEMPLATE_CATEGORY" val="diagram"/>
  <p:tag name="KSO_WM_TEMPLATE_INDEX" val="20231571"/>
  <p:tag name="KSO_WM_UNIT_LAYERLEVEL" val="1_1_1"/>
  <p:tag name="KSO_WM_TAG_VERSION" val="3.0"/>
  <p:tag name="KSO_WM_DIAGRAM_MAX_ITEMCNT" val="6"/>
  <p:tag name="KSO_WM_DIAGRAM_MIN_ITEMCNT" val="2"/>
  <p:tag name="KSO_WM_DIAGRAM_VIRTUALLY_FRAME" val="{&quot;height&quot;:392.65,&quot;left&quot;:-0.8,&quot;top&quot;:135.95,&quot;width&quot;:963}"/>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
</p:tagLst>
</file>

<file path=ppt/tags/tag30.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i"/>
  <p:tag name="KSO_WM_UNIT_INDEX" val="1_1_9"/>
  <p:tag name="KSO_WM_UNIT_ID" val="diagram20231571_1*n_h_i*1_1_9"/>
  <p:tag name="KSO_WM_TEMPLATE_CATEGORY" val="diagram"/>
  <p:tag name="KSO_WM_TEMPLATE_INDEX" val="20231571"/>
  <p:tag name="KSO_WM_UNIT_LAYERLEVEL" val="1_1_1"/>
  <p:tag name="KSO_WM_TAG_VERSION" val="3.0"/>
  <p:tag name="KSO_WM_DIAGRAM_MAX_ITEMCNT" val="6"/>
  <p:tag name="KSO_WM_DIAGRAM_MIN_ITEMCNT" val="2"/>
  <p:tag name="KSO_WM_DIAGRAM_VIRTUALLY_FRAME" val="{&quot;height&quot;:392.65,&quot;left&quot;:-0.8,&quot;top&quot;:135.95,&quot;width&quot;:963}"/>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LINE_FORE_SCHEMECOLOR_INDEX" val="5"/>
  <p:tag name="KSO_WM_DIAGRAM_USE_COLOR_VALUE" val="{&quot;color_scheme&quot;:1,&quot;color_type&quot;:1,&quot;theme_color_indexes&quot;:[]}"/>
</p:tagLst>
</file>

<file path=ppt/tags/tag31.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2"/>
  <p:tag name="KSO_WM_UNIT_ID" val="diagram20231571_1*n_h_h_i*1_2_1_2"/>
  <p:tag name="KSO_WM_TEMPLATE_CATEGORY" val="diagram"/>
  <p:tag name="KSO_WM_TEMPLATE_INDEX" val="20231571"/>
  <p:tag name="KSO_WM_UNIT_LAYERLEVEL" val="1_1_1_1"/>
  <p:tag name="KSO_WM_TAG_VERSION" val="3.0"/>
  <p:tag name="KSO_WM_DIAGRAM_MAX_ITEMCNT" val="6"/>
  <p:tag name="KSO_WM_DIAGRAM_MIN_ITEMCNT" val="2"/>
  <p:tag name="KSO_WM_DIAGRAM_VIRTUALLY_FRAME" val="{&quot;height&quot;:392.65,&quot;left&quot;:-0.8,&quot;top&quot;:135.95,&quot;width&quot;:963}"/>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DIAGRAM_USE_COLOR_VALUE" val="{&quot;color_scheme&quot;:1,&quot;color_type&quot;:1,&quot;theme_color_indexes&quot;:[]}"/>
</p:tagLst>
</file>

<file path=ppt/tags/tag32.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1"/>
  <p:tag name="KSO_WM_UNIT_ID" val="diagram20231571_1*n_h_h_i*1_2_1_1"/>
  <p:tag name="KSO_WM_TEMPLATE_CATEGORY" val="diagram"/>
  <p:tag name="KSO_WM_TEMPLATE_INDEX" val="20231571"/>
  <p:tag name="KSO_WM_UNIT_LAYERLEVEL" val="1_1_1_1"/>
  <p:tag name="KSO_WM_TAG_VERSION" val="3.0"/>
  <p:tag name="KSO_WM_DIAGRAM_MAX_ITEMCNT" val="6"/>
  <p:tag name="KSO_WM_DIAGRAM_MIN_ITEMCNT" val="2"/>
  <p:tag name="KSO_WM_DIAGRAM_VIRTUALLY_FRAME" val="{&quot;height&quot;:392.65,&quot;left&quot;:-0.8,&quot;top&quot;:135.95,&quot;width&quot;:96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33.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2"/>
  <p:tag name="KSO_WM_UNIT_ID" val="diagram20231571_1*n_h_h_i*1_2_1_2"/>
  <p:tag name="KSO_WM_TEMPLATE_CATEGORY" val="diagram"/>
  <p:tag name="KSO_WM_TEMPLATE_INDEX" val="20231571"/>
  <p:tag name="KSO_WM_UNIT_LAYERLEVEL" val="1_1_1_1"/>
  <p:tag name="KSO_WM_TAG_VERSION" val="3.0"/>
  <p:tag name="KSO_WM_DIAGRAM_MAX_ITEMCNT" val="6"/>
  <p:tag name="KSO_WM_DIAGRAM_MIN_ITEMCNT" val="2"/>
  <p:tag name="KSO_WM_DIAGRAM_VIRTUALLY_FRAME" val="{&quot;height&quot;:392.65,&quot;left&quot;:-0.8,&quot;top&quot;:135.95,&quot;width&quot;:963}"/>
  <p:tag name="KSO_WM_DIAGRAM_COLOR_MATCH_VALUE" val="{&quot;shape&quot;:{&quot;fill&quot;:{&quot;type&quot;:0},&quot;glow&quot;:{&quot;colorType&quot;:0},&quot;line&quot;:{&quot;solidLine&quot;:{&quot;brightness&quot;:0,&quot;colorType&quot;:1,&quot;foreColorIndex&quot;:5,&quot;transparency&quot;:0},&quot;type&quot;:1},&quot;shadow&quot;:{&quot;colorType&quot;:0},&quot;threeD&quot;:{&quot;curvedSurface&quot;:{&quot;brightness&quot;:0,&quot;colorType&quot;:2,&quot;rgb&quot;:&quot;#000000&quot;},&quot;depth&quot;:{&quot;colorType&quot;:0}}},&quot;text&quot;:{&quot;fill&quot;:{},&quot;glow&quot;:{},&quot;line&quot;:{},&quot;shadow&quot;:{},&quot;threeD&quot;:{}}}"/>
  <p:tag name="KSO_WM_UNIT_LINE_FORE_SCHEMECOLOR_INDEX" val="5"/>
  <p:tag name="KSO_WM_DIAGRAM_USE_COLOR_VALUE" val="{&quot;color_scheme&quot;:1,&quot;color_type&quot;:1,&quot;theme_color_indexes&quot;:[]}"/>
</p:tagLst>
</file>

<file path=ppt/tags/tag34.xml><?xml version="1.0" encoding="utf-8"?>
<p:tagLst xmlns:p="http://schemas.openxmlformats.org/presentationml/2006/main">
  <p:tag name="KSO_WM_DIAGRAM_VERSION" val="3"/>
  <p:tag name="KSO_WM_DIAGRAM_COLOR_TRICK" val="1"/>
  <p:tag name="KSO_WM_DIAGRAM_COLOR_TEXT_CAN_REMOVE" val="n"/>
  <p:tag name="KSO_WM_UNIT_HIGHLIGHT" val="0"/>
  <p:tag name="KSO_WM_UNIT_COMPATIBLE" val="0"/>
  <p:tag name="KSO_WM_UNIT_DIAGRAM_ISNUMVISUAL" val="0"/>
  <p:tag name="KSO_WM_UNIT_DIAGRAM_ISREFERUNIT" val="0"/>
  <p:tag name="KSO_WM_DIAGRAM_GROUP_CODE" val="n1-1"/>
  <p:tag name="KSO_WM_UNIT_TYPE" val="n_h_h_i"/>
  <p:tag name="KSO_WM_UNIT_INDEX" val="1_2_1_1"/>
  <p:tag name="KSO_WM_UNIT_ID" val="diagram20231571_1*n_h_h_i*1_2_1_1"/>
  <p:tag name="KSO_WM_TEMPLATE_CATEGORY" val="diagram"/>
  <p:tag name="KSO_WM_TEMPLATE_INDEX" val="20231571"/>
  <p:tag name="KSO_WM_UNIT_LAYERLEVEL" val="1_1_1_1"/>
  <p:tag name="KSO_WM_TAG_VERSION" val="3.0"/>
  <p:tag name="KSO_WM_DIAGRAM_MAX_ITEMCNT" val="6"/>
  <p:tag name="KSO_WM_DIAGRAM_MIN_ITEMCNT" val="2"/>
  <p:tag name="KSO_WM_DIAGRAM_VIRTUALLY_FRAME" val="{&quot;height&quot;:392.65,&quot;left&quot;:-0.8,&quot;top&quot;:135.95,&quot;width&quot;:963}"/>
  <p:tag name="KSO_WM_DIAGRAM_COLOR_MATCH_VALUE" val="{&quot;shape&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2,&quot;rgb&quot;:&quot;#ffffff&quot;,&quot;transparency&quot;:0},&quot;type&quot;:1},&quot;glow&quot;:{&quot;colorType&quot;:0},&quot;line&quot;:{&quot;type&quot;:0},&quot;shadow&quot;:{&quot;colorType&quot;:0},&quot;threeD&quot;:{&quot;curvedSurface&quot;:{&quot;brightness&quot;:0,&quot;colorType&quot;:2,&quot;rgb&quot;:&quot;#000000&quot;},&quot;depth&quot;:{&quot;colorType&quot;:0}}}}"/>
  <p:tag name="KSO_WM_UNIT_FILL_TYPE" val="1"/>
  <p:tag name="KSO_WM_UNIT_FILL_FORE_SCHEMECOLOR_INDEX" val="5"/>
  <p:tag name="KSO_WM_UNIT_FILL_FORE_SCHEMECOLOR_INDEX_BRIGHTNESS" val="0"/>
  <p:tag name="KSO_WM_DIAGRAM_USE_COLOR_VALUE" val="{&quot;color_scheme&quot;:1,&quot;color_type&quot;:1,&quot;theme_color_indexes&quot;:[]}"/>
</p:tagLst>
</file>

<file path=ppt/tags/tag35.xml><?xml version="1.0" encoding="utf-8"?>
<p:tagLst xmlns:p="http://schemas.openxmlformats.org/presentationml/2006/main">
  <p:tag name="KSO_WM_DIAGRAM_VIRTUALLY_FRAME" val="{&quot;height&quot;:373.936220472441,&quot;left&quot;:43.163700787401574,&quot;top&quot;:151.52740157480315,&quot;width&quot;:878.067086614173}"/>
</p:tagLst>
</file>

<file path=ppt/tags/tag36.xml><?xml version="1.0" encoding="utf-8"?>
<p:tagLst xmlns:p="http://schemas.openxmlformats.org/presentationml/2006/main">
  <p:tag name="KSO_WM_DIAGRAM_VIRTUALLY_FRAME" val="{&quot;height&quot;:373.936220472441,&quot;left&quot;:43.163700787401574,&quot;top&quot;:151.52740157480315,&quot;width&quot;:878.067086614173}"/>
</p:tagLst>
</file>

<file path=ppt/tags/tag37.xml><?xml version="1.0" encoding="utf-8"?>
<p:tagLst xmlns:p="http://schemas.openxmlformats.org/presentationml/2006/main">
  <p:tag name="KSO_WM_DIAGRAM_VIRTUALLY_FRAME" val="{&quot;height&quot;:373.936220472441,&quot;left&quot;:43.163700787401574,&quot;top&quot;:151.52740157480315,&quot;width&quot;:878.067086614173}"/>
</p:tagLst>
</file>

<file path=ppt/tags/tag38.xml><?xml version="1.0" encoding="utf-8"?>
<p:tagLst xmlns:p="http://schemas.openxmlformats.org/presentationml/2006/main">
  <p:tag name="KSO_WM_DIAGRAM_VIRTUALLY_FRAME" val="{&quot;height&quot;:373.936220472441,&quot;left&quot;:43.163700787401574,&quot;top&quot;:151.52740157480315,&quot;width&quot;:878.067086614173}"/>
</p:tagLst>
</file>

<file path=ppt/tags/tag39.xml><?xml version="1.0" encoding="utf-8"?>
<p:tagLst xmlns:p="http://schemas.openxmlformats.org/presentationml/2006/main">
  <p:tag name="KSO_WM_DIAGRAM_VIRTUALLY_FRAME" val="{&quot;height&quot;:373.936220472441,&quot;left&quot;:43.163700787401574,&quot;top&quot;:151.52740157480315,&quot;width&quot;:878.067086614173}"/>
</p:tagLst>
</file>

<file path=ppt/tags/tag40.xml><?xml version="1.0" encoding="utf-8"?>
<p:tagLst xmlns:p="http://schemas.openxmlformats.org/presentationml/2006/main">
  <p:tag name="KSO_WM_DIAGRAM_VIRTUALLY_FRAME" val="{&quot;height&quot;:373.936220472441,&quot;left&quot;:43.163700787401574,&quot;top&quot;:151.52740157480315,&quot;width&quot;:878.067086614173}"/>
</p:tagLst>
</file>

<file path=ppt/tags/tag41.xml><?xml version="1.0" encoding="utf-8"?>
<p:tagLst xmlns:p="http://schemas.openxmlformats.org/presentationml/2006/main">
  <p:tag name="KSO_WM_DIAGRAM_VIRTUALLY_FRAME" val="{&quot;height&quot;:373.936220472441,&quot;left&quot;:43.163700787401574,&quot;top&quot;:151.52740157480315,&quot;width&quot;:878.067086614173}"/>
</p:tagLst>
</file>

<file path=ppt/tags/tag42.xml><?xml version="1.0" encoding="utf-8"?>
<p:tagLst xmlns:p="http://schemas.openxmlformats.org/presentationml/2006/main">
  <p:tag name="KSO_WM_DIAGRAM_VIRTUALLY_FRAME" val="{&quot;height&quot;:373.936220472441,&quot;left&quot;:43.163700787401574,&quot;top&quot;:151.52740157480315,&quot;width&quot;:878.067086614173}"/>
</p:tagLst>
</file>

<file path=ppt/tags/tag43.xml><?xml version="1.0" encoding="utf-8"?>
<p:tagLst xmlns:p="http://schemas.openxmlformats.org/presentationml/2006/main">
  <p:tag name="SHADOWSIZE" val="97"/>
</p:tagLst>
</file>

<file path=ppt/tags/tag44.xml><?xml version="1.0" encoding="utf-8"?>
<p:tagLst xmlns:p="http://schemas.openxmlformats.org/presentationml/2006/main">
  <p:tag name="SHADOWSIZE" val="97"/>
</p:tagLst>
</file>

<file path=ppt/tags/tag45.xml><?xml version="1.0" encoding="utf-8"?>
<p:tagLst xmlns:p="http://schemas.openxmlformats.org/presentationml/2006/main">
  <p:tag name="SHADOWSIZE" val="97"/>
</p:tagLst>
</file>

<file path=ppt/tags/tag46.xml><?xml version="1.0" encoding="utf-8"?>
<p:tagLst xmlns:p="http://schemas.openxmlformats.org/presentationml/2006/main">
  <p:tag name="SHADOWSIZE" val="97"/>
</p:tagLst>
</file>

<file path=ppt/tags/tag47.xml><?xml version="1.0" encoding="utf-8"?>
<p:tagLst xmlns:p="http://schemas.openxmlformats.org/presentationml/2006/main">
  <p:tag name="SHADOWSIZE" val="97"/>
</p:tagLst>
</file>

<file path=ppt/tags/tag48.xml><?xml version="1.0" encoding="utf-8"?>
<p:tagLst xmlns:p="http://schemas.openxmlformats.org/presentationml/2006/main">
  <p:tag name="SHADOWSIZE" val="97"/>
</p:tagLst>
</file>

<file path=ppt/tags/tag49.xml><?xml version="1.0" encoding="utf-8"?>
<p:tagLst xmlns:p="http://schemas.openxmlformats.org/presentationml/2006/main">
  <p:tag name="TABLE_ENDDRAG_ORIGIN_RECT" val="409*217"/>
  <p:tag name="TABLE_ENDDRAG_RECT" val="486*170*409*217"/>
</p:tagLst>
</file>

<file path=ppt/tags/tag50.xml><?xml version="1.0" encoding="utf-8"?>
<p:tagLst xmlns:p="http://schemas.openxmlformats.org/presentationml/2006/main">
  <p:tag name="TABLE_ENDDRAG_ORIGIN_RECT" val="409*217"/>
  <p:tag name="TABLE_ENDDRAG_RECT" val="486*170*409*217"/>
</p:tagLst>
</file>

<file path=ppt/tags/tag51.xml><?xml version="1.0" encoding="utf-8"?>
<p:tagLst xmlns:p="http://schemas.openxmlformats.org/presentationml/2006/main">
  <p:tag name="TABLE_ENDDRAG_ORIGIN_RECT" val="414*172"/>
  <p:tag name="TABLE_ENDDRAG_RECT" val="398*134*414*172"/>
</p:tagLst>
</file>

<file path=ppt/theme/theme1.xml><?xml version="1.0" encoding="utf-8"?>
<a:theme xmlns:a="http://schemas.openxmlformats.org/drawingml/2006/main" name="1_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2340</Words>
  <Application>WPS 演示</Application>
  <PresentationFormat>宽屏</PresentationFormat>
  <Paragraphs>415</Paragraphs>
  <Slides>8</Slides>
  <Notes>1</Notes>
  <HiddenSlides>0</HiddenSlides>
  <MMClips>0</MMClips>
  <ScaleCrop>false</ScaleCrop>
  <HeadingPairs>
    <vt:vector size="6" baseType="variant">
      <vt:variant>
        <vt:lpstr>已用的字体</vt:lpstr>
      </vt:variant>
      <vt:variant>
        <vt:i4>48</vt:i4>
      </vt:variant>
      <vt:variant>
        <vt:lpstr>主题</vt:lpstr>
      </vt:variant>
      <vt:variant>
        <vt:i4>1</vt:i4>
      </vt:variant>
      <vt:variant>
        <vt:lpstr>幻灯片标题</vt:lpstr>
      </vt:variant>
      <vt:variant>
        <vt:i4>8</vt:i4>
      </vt:variant>
    </vt:vector>
  </HeadingPairs>
  <TitlesOfParts>
    <vt:vector size="57" baseType="lpstr">
      <vt:lpstr>Arial</vt:lpstr>
      <vt:lpstr>宋体</vt:lpstr>
      <vt:lpstr>Wingdings</vt:lpstr>
      <vt:lpstr>等线</vt:lpstr>
      <vt:lpstr>阿里巴巴普惠体 B</vt:lpstr>
      <vt:lpstr>字体传奇特战体-免费商用</vt:lpstr>
      <vt:lpstr>华文行楷</vt:lpstr>
      <vt:lpstr>演示流云楷</vt:lpstr>
      <vt:lpstr>汉仪君黑-75简</vt:lpstr>
      <vt:lpstr>思源黑体</vt:lpstr>
      <vt:lpstr>黑体</vt:lpstr>
      <vt:lpstr>隶书</vt:lpstr>
      <vt:lpstr>Noto Sans SC</vt:lpstr>
      <vt:lpstr>微软雅黑</vt:lpstr>
      <vt:lpstr>quote-cjk-patch</vt:lpstr>
      <vt:lpstr>Wingdings</vt:lpstr>
      <vt:lpstr>Arial</vt:lpstr>
      <vt:lpstr>Assistant Light</vt:lpstr>
      <vt:lpstr>华文隶书</vt:lpstr>
      <vt:lpstr>楷体</vt:lpstr>
      <vt:lpstr>Lantinghei SC Extralight</vt:lpstr>
      <vt:lpstr>Arial Unicode MS</vt:lpstr>
      <vt:lpstr>等线 Light</vt:lpstr>
      <vt:lpstr>Calibri</vt:lpstr>
      <vt:lpstr>楷体_GB2312</vt:lpstr>
      <vt:lpstr>Assistant Light</vt:lpstr>
      <vt:lpstr>Lantinghei SC Extralight</vt:lpstr>
      <vt:lpstr>quote-cjk-patch</vt:lpstr>
      <vt:lpstr>字体传奇特战体-免费商用</vt:lpstr>
      <vt:lpstr>思源黑体</vt:lpstr>
      <vt:lpstr>演示流云楷</vt:lpstr>
      <vt:lpstr>阿里巴巴普惠体 B</vt:lpstr>
      <vt:lpstr>阿里巴巴和七个小矮人</vt:lpstr>
      <vt:lpstr>字魂传奇体</vt:lpstr>
      <vt:lpstr>汉仪颜楷简</vt:lpstr>
      <vt:lpstr>方正悠黑体</vt:lpstr>
      <vt:lpstr>Windsor Std Light</vt:lpstr>
      <vt:lpstr>MiSans ExtraLight</vt:lpstr>
      <vt:lpstr>OPPOSans L</vt:lpstr>
      <vt:lpstr>Helvetica Neue Medium</vt:lpstr>
      <vt:lpstr>DIN</vt:lpstr>
      <vt:lpstr>DIN Next LT Pro</vt:lpstr>
      <vt:lpstr>OPPOSans R</vt:lpstr>
      <vt:lpstr>DIN</vt:lpstr>
      <vt:lpstr>Helvetica Neue Medium</vt:lpstr>
      <vt:lpstr>OPPOSans L</vt:lpstr>
      <vt:lpstr>OPPOSans R</vt:lpstr>
      <vt:lpstr>Lantinghei SC Demibold</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林源 杨</dc:creator>
  <cp:lastModifiedBy>王七七.</cp:lastModifiedBy>
  <cp:revision>23</cp:revision>
  <dcterms:created xsi:type="dcterms:W3CDTF">2024-04-19T17:02:00Z</dcterms:created>
  <dcterms:modified xsi:type="dcterms:W3CDTF">2026-04-19T07:06:32Z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615834368DCF48FFACB43E050219787E_13</vt:lpwstr>
  </property>
  <property fmtid="{D5CDD505-2E9C-101B-9397-08002B2CF9AE}" pid="3" name="KSOProductBuildVer">
    <vt:lpwstr>2052-12.1.0.25225</vt:lpwstr>
  </property>
</Properties>
</file>